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30.xml" ContentType="application/vnd.ms-office.chartcolorstyle+xml"/>
  <Override PartName="/ppt/charts/colors31.xml" ContentType="application/vnd.ms-office.chartcolorstyle+xml"/>
  <Override PartName="/ppt/charts/colors32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30.xml" ContentType="application/vnd.ms-office.chartstyle+xml"/>
  <Override PartName="/ppt/charts/style31.xml" ContentType="application/vnd.ms-office.chartstyle+xml"/>
  <Override PartName="/ppt/charts/style32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36"/>
  </p:notesMasterIdLst>
  <p:sldIdLst>
    <p:sldId id="285" r:id="rId2"/>
    <p:sldId id="371" r:id="rId3"/>
    <p:sldId id="852" r:id="rId4"/>
    <p:sldId id="869" r:id="rId5"/>
    <p:sldId id="378" r:id="rId6"/>
    <p:sldId id="865" r:id="rId7"/>
    <p:sldId id="888" r:id="rId8"/>
    <p:sldId id="854" r:id="rId9"/>
    <p:sldId id="866" r:id="rId10"/>
    <p:sldId id="867" r:id="rId11"/>
    <p:sldId id="851" r:id="rId12"/>
    <p:sldId id="844" r:id="rId13"/>
    <p:sldId id="759" r:id="rId14"/>
    <p:sldId id="848" r:id="rId15"/>
    <p:sldId id="850" r:id="rId16"/>
    <p:sldId id="877" r:id="rId17"/>
    <p:sldId id="878" r:id="rId18"/>
    <p:sldId id="879" r:id="rId19"/>
    <p:sldId id="880" r:id="rId20"/>
    <p:sldId id="855" r:id="rId21"/>
    <p:sldId id="856" r:id="rId22"/>
    <p:sldId id="857" r:id="rId23"/>
    <p:sldId id="858" r:id="rId24"/>
    <p:sldId id="859" r:id="rId25"/>
    <p:sldId id="860" r:id="rId26"/>
    <p:sldId id="849" r:id="rId27"/>
    <p:sldId id="881" r:id="rId28"/>
    <p:sldId id="882" r:id="rId29"/>
    <p:sldId id="883" r:id="rId30"/>
    <p:sldId id="864" r:id="rId31"/>
    <p:sldId id="884" r:id="rId32"/>
    <p:sldId id="885" r:id="rId33"/>
    <p:sldId id="886" r:id="rId34"/>
    <p:sldId id="887" r:id="rId35"/>
  </p:sldIdLst>
  <p:sldSz cx="14400213" cy="8135938"/>
  <p:notesSz cx="6858000" cy="9144000"/>
  <p:defaultTextStyle>
    <a:defPPr>
      <a:defRPr lang="es-MX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54086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108173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62260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21634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704338" algn="l" defTabSz="108173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3245206" algn="l" defTabSz="108173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786073" algn="l" defTabSz="108173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4326941" algn="l" defTabSz="108173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70EB7"/>
    <a:srgbClr val="00B050"/>
    <a:srgbClr val="7F7F7F"/>
    <a:srgbClr val="2B94F0"/>
    <a:srgbClr val="C22EA2"/>
    <a:srgbClr val="AC2E6B"/>
    <a:srgbClr val="00FF00"/>
    <a:srgbClr val="FC4AE7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76" autoAdjust="0"/>
    <p:restoredTop sz="94053" autoAdjust="0"/>
  </p:normalViewPr>
  <p:slideViewPr>
    <p:cSldViewPr snapToGrid="0">
      <p:cViewPr varScale="1">
        <p:scale>
          <a:sx n="94" d="100"/>
          <a:sy n="94" d="100"/>
        </p:scale>
        <p:origin x="184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29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2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31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4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33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6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35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8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37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0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39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2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41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4.xml.rels><?xml version='1.0' encoding='UTF-8' standalone='yes'?>
<Relationships xmlns="http://schemas.openxmlformats.org/package/2006/relationships"><Relationship Id="rId1" Type="http://schemas.microsoft.com/office/2011/relationships/chartStyle" Target="style27.xml"/><Relationship Id="rId2" Type="http://schemas.microsoft.com/office/2011/relationships/chartColorStyle" Target="colors27.xml"/><Relationship Id="rId3" Type="http://schemas.openxmlformats.org/officeDocument/2006/relationships/package" Target="../embeddings/Microsoft_Excel_Worksheet43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6.xml.rels><?xml version='1.0' encoding='UTF-8' standalone='yes'?>
<Relationships xmlns="http://schemas.openxmlformats.org/package/2006/relationships"><Relationship Id="rId1" Type="http://schemas.microsoft.com/office/2011/relationships/chartStyle" Target="style28.xml"/><Relationship Id="rId2" Type="http://schemas.microsoft.com/office/2011/relationships/chartColorStyle" Target="colors28.xml"/><Relationship Id="rId3" Type="http://schemas.openxmlformats.org/officeDocument/2006/relationships/package" Target="../embeddings/Microsoft_Excel_Worksheet45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8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47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50.xml.rels><?xml version='1.0' encoding='UTF-8' standalone='yes'?>
<Relationships xmlns="http://schemas.openxmlformats.org/package/2006/relationships"><Relationship Id="rId1" Type="http://schemas.microsoft.com/office/2011/relationships/chartStyle" Target="style30.xml"/><Relationship Id="rId2" Type="http://schemas.microsoft.com/office/2011/relationships/chartColorStyle" Target="colors30.xml"/><Relationship Id="rId3" Type="http://schemas.openxmlformats.org/officeDocument/2006/relationships/package" Target="../embeddings/Microsoft_Excel_Worksheet49.xlsx"/></Relationships>
</file>

<file path=ppt/charts/_rels/chart5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_rels/chart52.xml.rels><?xml version='1.0' encoding='UTF-8' standalone='yes'?>
<Relationships xmlns="http://schemas.openxmlformats.org/package/2006/relationships"><Relationship Id="rId1" Type="http://schemas.microsoft.com/office/2011/relationships/chartStyle" Target="style31.xml"/><Relationship Id="rId2" Type="http://schemas.microsoft.com/office/2011/relationships/chartColorStyle" Target="colors31.xml"/><Relationship Id="rId3" Type="http://schemas.openxmlformats.org/officeDocument/2006/relationships/package" Target="../embeddings/Microsoft_Excel_Worksheet51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_rels/chart54.xml.rels><?xml version='1.0' encoding='UTF-8' standalone='yes'?>
<Relationships xmlns="http://schemas.openxmlformats.org/package/2006/relationships"><Relationship Id="rId1" Type="http://schemas.microsoft.com/office/2011/relationships/chartStyle" Target="style32.xml"/><Relationship Id="rId2" Type="http://schemas.microsoft.com/office/2011/relationships/chartColorStyle" Target="colors32.xml"/><Relationship Id="rId3" Type="http://schemas.openxmlformats.org/officeDocument/2006/relationships/package" Target="../embeddings/Microsoft_Excel_Worksheet53.xlsx"/></Relationships>
</file>

<file path=ppt/charts/_rels/chart5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0EE-4BB9-8983-1472B4725531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0EE-4BB9-8983-1472B4725531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0EE-4BB9-8983-1472B4725531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76.5</c:v>
                </c:pt>
                <c:pt idx="1">
                  <c:v>17.2</c:v>
                </c:pt>
                <c:pt idx="2">
                  <c:v>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0EE-4BB9-8983-1472B47255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7A06-408F-A432-C5D1CDF63FCF}"/>
              </c:ext>
            </c:extLst>
          </c:dPt>
          <c:dLbls>
            <c:dLbl>
              <c:idx val="0"/>
              <c:layout>
                <c:manualLayout>
                  <c:x val="1.0276172125883108E-2"/>
                  <c:y val="-2.747036428138790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A06-408F-A432-C5D1CDF63FCF}"/>
                </c:ext>
              </c:extLst>
            </c:dLbl>
            <c:dLbl>
              <c:idx val="1"/>
              <c:layout>
                <c:manualLayout>
                  <c:x val="1.2845215157353885E-2"/>
                  <c:y val="1.099030890369475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A06-408F-A432-C5D1CDF63FCF}"/>
                </c:ext>
              </c:extLst>
            </c:dLbl>
            <c:dLbl>
              <c:idx val="2"/>
              <c:layout>
                <c:manualLayout>
                  <c:x val="1.5414258188824569E-2"/>
                  <c:y val="2.748118023708600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A06-408F-A432-C5D1CDF63FCF}"/>
                </c:ext>
              </c:extLst>
            </c:dLbl>
            <c:dLbl>
              <c:idx val="3"/>
              <c:layout>
                <c:manualLayout>
                  <c:x val="1.0276172125883014E-2"/>
                  <c:y val="2.74811802370857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A06-408F-A432-C5D1CDF63FCF}"/>
                </c:ext>
              </c:extLst>
            </c:dLbl>
            <c:dLbl>
              <c:idx val="4"/>
              <c:layout>
                <c:manualLayout>
                  <c:x val="1.203762492276245E-2"/>
                  <c:y val="-3.28897331173325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A06-408F-A432-C5D1CDF63FCF}"/>
                </c:ext>
              </c:extLst>
            </c:dLbl>
            <c:dLbl>
              <c:idx val="5"/>
              <c:layout>
                <c:manualLayout>
                  <c:x val="1.9598396649512219E-2"/>
                  <c:y val="1.09894680600239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A06-408F-A432-C5D1CDF63FCF}"/>
                </c:ext>
              </c:extLst>
            </c:dLbl>
            <c:dLbl>
              <c:idx val="6"/>
              <c:layout>
                <c:manualLayout>
                  <c:x val="-2.393433452340311E-3"/>
                  <c:y val="3.187960617883952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A06-408F-A432-C5D1CDF63FCF}"/>
                </c:ext>
              </c:extLst>
            </c:dLbl>
            <c:dLbl>
              <c:idx val="7"/>
              <c:layout>
                <c:manualLayout>
                  <c:x val="2.3053746699125049E-2"/>
                  <c:y val="1.1883846335211931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A06-408F-A432-C5D1CDF63FCF}"/>
                </c:ext>
              </c:extLst>
            </c:dLbl>
            <c:dLbl>
              <c:idx val="8"/>
              <c:layout>
                <c:manualLayout>
                  <c:x val="2.3636551201183468E-2"/>
                  <c:y val="1.81112194917895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A06-408F-A432-C5D1CDF63FCF}"/>
                </c:ext>
              </c:extLst>
            </c:dLbl>
            <c:dLbl>
              <c:idx val="9"/>
              <c:layout>
                <c:manualLayout>
                  <c:x val="1.3506600686390558E-2"/>
                  <c:y val="3.018496969143941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A06-408F-A432-C5D1CDF63FCF}"/>
                </c:ext>
              </c:extLst>
            </c:dLbl>
            <c:dLbl>
              <c:idx val="10"/>
              <c:layout>
                <c:manualLayout>
                  <c:x val="8.7569191296794566E-3"/>
                  <c:y val="9.9826032151872366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A06-408F-A432-C5D1CDF63FC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A06-408F-A432-C5D1CDF63FC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A06-408F-A432-C5D1CDF63FC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7A06-408F-A432-C5D1CDF63FCF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Grupo Salinas</c:v>
                </c:pt>
                <c:pt idx="1">
                  <c:v>Grupo Elektra - Ricardo Benjamin Salinas Pliego</c:v>
                </c:pt>
                <c:pt idx="2">
                  <c:v>Despachos - Ricardo Benjamin Salinas Pliego</c:v>
                </c:pt>
                <c:pt idx="3">
                  <c:v>Grupo Totalplay - Eduardo Kuri Romo</c:v>
                </c:pt>
                <c:pt idx="4">
                  <c:v>Grupo Tv Azteca - Benjamin Francisco Salinas Sada</c:v>
                </c:pt>
                <c:pt idx="5">
                  <c:v>Soporte Estratégico - Ricardo Benjamin Salinas Pliego</c:v>
                </c:pt>
                <c:pt idx="6">
                  <c:v>Otros Negocios - Ricardo Benjamin Salinas Pliego</c:v>
                </c:pt>
                <c:pt idx="7">
                  <c:v>Negocios Familia - Ricardo Benjamin Salinas Pliego</c:v>
                </c:pt>
                <c:pt idx="8">
                  <c:v>Educación - Fernando Jorge Espinosa De Los Reyes Aguirre</c:v>
                </c:pt>
                <c:pt idx="9">
                  <c:v>Oficina De La Presidencia - Jorge Nikaido Bernal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6.3</c:v>
                </c:pt>
                <c:pt idx="1">
                  <c:v>6.3</c:v>
                </c:pt>
                <c:pt idx="2">
                  <c:v>4.8</c:v>
                </c:pt>
                <c:pt idx="3">
                  <c:v>8.6</c:v>
                </c:pt>
                <c:pt idx="4">
                  <c:v>7.0</c:v>
                </c:pt>
                <c:pt idx="5">
                  <c:v>3.3</c:v>
                </c:pt>
                <c:pt idx="6">
                  <c:v>9.8</c:v>
                </c:pt>
                <c:pt idx="7">
                  <c:v>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7A06-408F-A432-C5D1CDF63F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0"/>
              <c:layout>
                <c:manualLayout>
                  <c:x val="1.5414258188824663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A06-408F-A432-C5D1CDF63FCF}"/>
                </c:ext>
              </c:extLst>
            </c:dLbl>
            <c:dLbl>
              <c:idx val="1"/>
              <c:layout>
                <c:manualLayout>
                  <c:x val="1.5414258188824663E-2"/>
                  <c:y val="-5.49428917539151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A06-408F-A432-C5D1CDF63FCF}"/>
                </c:ext>
              </c:extLst>
            </c:dLbl>
            <c:dLbl>
              <c:idx val="2"/>
              <c:layout>
                <c:manualLayout>
                  <c:x val="1.5414258188824663E-2"/>
                  <c:y val="-2.746387470796919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A06-408F-A432-C5D1CDF63FCF}"/>
                </c:ext>
              </c:extLst>
            </c:dLbl>
            <c:dLbl>
              <c:idx val="3"/>
              <c:layout>
                <c:manualLayout>
                  <c:x val="2.3121387283236899E-2"/>
                  <c:y val="5.495822741974151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A06-408F-A432-C5D1CDF63FCF}"/>
                </c:ext>
              </c:extLst>
            </c:dLbl>
            <c:dLbl>
              <c:idx val="4"/>
              <c:layout>
                <c:manualLayout>
                  <c:x val="2.569043031470777E-2"/>
                  <c:y val="5.0377793166197492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7A06-408F-A432-C5D1CDF63FCF}"/>
                </c:ext>
              </c:extLst>
            </c:dLbl>
            <c:dLbl>
              <c:idx val="5"/>
              <c:layout>
                <c:manualLayout>
                  <c:x val="1.7983301220295438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A06-408F-A432-C5D1CDF63FCF}"/>
                </c:ext>
              </c:extLst>
            </c:dLbl>
            <c:dLbl>
              <c:idx val="6"/>
              <c:layout>
                <c:manualLayout>
                  <c:x val="5.1896188479826778E-2"/>
                  <c:y val="-5.295441926970325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7A06-408F-A432-C5D1CDF63FCF}"/>
                </c:ext>
              </c:extLst>
            </c:dLbl>
            <c:dLbl>
              <c:idx val="7"/>
              <c:layout>
                <c:manualLayout>
                  <c:x val="3.8155861783408636E-2"/>
                  <c:y val="-7.2029923288131697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A06-408F-A432-C5D1CDF63FCF}"/>
                </c:ext>
              </c:extLst>
            </c:dLbl>
            <c:dLbl>
              <c:idx val="8"/>
              <c:layout>
                <c:manualLayout>
                  <c:x val="2.6351696992707483E-2"/>
                  <c:y val="-1.28851792274167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7A06-408F-A432-C5D1CDF63FCF}"/>
                </c:ext>
              </c:extLst>
            </c:dLbl>
            <c:dLbl>
              <c:idx val="9"/>
              <c:layout>
                <c:manualLayout>
                  <c:x val="1.6834359831279563E-2"/>
                  <c:y val="-5.133989379587418E-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7A06-408F-A432-C5D1CDF63FCF}"/>
                </c:ext>
              </c:extLst>
            </c:dLbl>
            <c:dLbl>
              <c:idx val="10"/>
              <c:layout>
                <c:manualLayout>
                  <c:x val="2.5600715171379629E-2"/>
                  <c:y val="2.4438723972858794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7A06-408F-A432-C5D1CDF63FC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7A06-408F-A432-C5D1CDF63FCF}"/>
                </c:ext>
              </c:extLst>
            </c:dLbl>
            <c:dLbl>
              <c:idx val="12"/>
              <c:layout>
                <c:manualLayout>
                  <c:x val="1.7983301220295438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7A06-408F-A432-C5D1CDF63FCF}"/>
                </c:ext>
              </c:extLst>
            </c:dLbl>
            <c:dLbl>
              <c:idx val="13"/>
              <c:layout>
                <c:manualLayout>
                  <c:x val="1.2845215157353885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7A06-408F-A432-C5D1CDF63FCF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Grupo Salinas</c:v>
                </c:pt>
                <c:pt idx="1">
                  <c:v>Grupo Elektra - Ricardo Benjamin Salinas Pliego</c:v>
                </c:pt>
                <c:pt idx="2">
                  <c:v>Despachos - Ricardo Benjamin Salinas Pliego</c:v>
                </c:pt>
                <c:pt idx="3">
                  <c:v>Grupo Totalplay - Eduardo Kuri Romo</c:v>
                </c:pt>
                <c:pt idx="4">
                  <c:v>Grupo Tv Azteca - Benjamin Francisco Salinas Sada</c:v>
                </c:pt>
                <c:pt idx="5">
                  <c:v>Soporte Estratégico - Ricardo Benjamin Salinas Pliego</c:v>
                </c:pt>
                <c:pt idx="6">
                  <c:v>Otros Negocios - Ricardo Benjamin Salinas Pliego</c:v>
                </c:pt>
                <c:pt idx="7">
                  <c:v>Negocios Familia - Ricardo Benjamin Salinas Pliego</c:v>
                </c:pt>
                <c:pt idx="8">
                  <c:v>Educación - Fernando Jorge Espinosa De Los Reyes Aguirre</c:v>
                </c:pt>
                <c:pt idx="9">
                  <c:v>Oficina De La Presidencia - Jorge Nikaido Bernal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17.2</c:v>
                </c:pt>
                <c:pt idx="1">
                  <c:v>15.9</c:v>
                </c:pt>
                <c:pt idx="2">
                  <c:v>21.5</c:v>
                </c:pt>
                <c:pt idx="3">
                  <c:v>23.4</c:v>
                </c:pt>
                <c:pt idx="4">
                  <c:v>21.2</c:v>
                </c:pt>
                <c:pt idx="5">
                  <c:v>17.2</c:v>
                </c:pt>
                <c:pt idx="6">
                  <c:v>29.9</c:v>
                </c:pt>
                <c:pt idx="7">
                  <c:v>21.1</c:v>
                </c:pt>
                <c:pt idx="8">
                  <c:v>26.7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7A06-408F-A432-C5D1CDF63F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7A06-408F-A432-C5D1CDF63FCF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7A06-408F-A432-C5D1CDF63FCF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7A06-408F-A432-C5D1CDF63FCF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7A06-408F-A432-C5D1CDF63FCF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7A06-408F-A432-C5D1CDF63FCF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7A06-408F-A432-C5D1CDF63FCF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7A06-408F-A432-C5D1CDF63FC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7A06-408F-A432-C5D1CDF63FC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7A06-408F-A432-C5D1CDF63FC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7A06-408F-A432-C5D1CDF63FC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7A06-408F-A432-C5D1CDF63FC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7A06-408F-A432-C5D1CDF63FCF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Grupo Salinas</c:v>
                </c:pt>
                <c:pt idx="1">
                  <c:v>Grupo Elektra - Ricardo Benjamin Salinas Pliego</c:v>
                </c:pt>
                <c:pt idx="2">
                  <c:v>Despachos - Ricardo Benjamin Salinas Pliego</c:v>
                </c:pt>
                <c:pt idx="3">
                  <c:v>Grupo Totalplay - Eduardo Kuri Romo</c:v>
                </c:pt>
                <c:pt idx="4">
                  <c:v>Grupo Tv Azteca - Benjamin Francisco Salinas Sada</c:v>
                </c:pt>
                <c:pt idx="5">
                  <c:v>Soporte Estratégico - Ricardo Benjamin Salinas Pliego</c:v>
                </c:pt>
                <c:pt idx="6">
                  <c:v>Otros Negocios - Ricardo Benjamin Salinas Pliego</c:v>
                </c:pt>
                <c:pt idx="7">
                  <c:v>Negocios Familia - Ricardo Benjamin Salinas Pliego</c:v>
                </c:pt>
                <c:pt idx="8">
                  <c:v>Educación - Fernando Jorge Espinosa De Los Reyes Aguirre</c:v>
                </c:pt>
                <c:pt idx="9">
                  <c:v>Oficina De La Presidencia - Jorge Nikaido Bernal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76.5</c:v>
                </c:pt>
                <c:pt idx="1">
                  <c:v>77.8</c:v>
                </c:pt>
                <c:pt idx="2">
                  <c:v>73.6</c:v>
                </c:pt>
                <c:pt idx="3">
                  <c:v>68.0</c:v>
                </c:pt>
                <c:pt idx="4">
                  <c:v>71.8</c:v>
                </c:pt>
                <c:pt idx="5">
                  <c:v>79.6</c:v>
                </c:pt>
                <c:pt idx="6">
                  <c:v>60.2</c:v>
                </c:pt>
                <c:pt idx="7">
                  <c:v>73.0</c:v>
                </c:pt>
                <c:pt idx="8">
                  <c:v>73.3</c:v>
                </c:pt>
                <c:pt idx="9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7A06-408F-A432-C5D1CDF63F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1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168914872379866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Promotores</c:v>
                </c:pt>
              </c:strCache>
            </c:strRef>
          </c:tx>
          <c:spPr>
            <a:ln w="28575" cap="rnd">
              <a:solidFill>
                <a:srgbClr val="00B050"/>
              </a:solidFill>
              <a:prstDash val="dash"/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22225">
                <a:solidFill>
                  <a:srgbClr val="7030A0"/>
                </a:solidFill>
              </a:ln>
              <a:effectLst/>
            </c:spPr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Sheet1!$A$2:$A$25</c:f>
              <c:strCache>
                <c:ptCount val="24"/>
                <c:pt idx="0">
                  <c:v>1Q´21</c:v>
                </c:pt>
                <c:pt idx="1">
                  <c:v>2Q´21</c:v>
                </c:pt>
                <c:pt idx="2">
                  <c:v>3Q´21</c:v>
                </c:pt>
                <c:pt idx="3">
                  <c:v>4Q´21</c:v>
                </c:pt>
                <c:pt idx="4">
                  <c:v>1Q´22</c:v>
                </c:pt>
                <c:pt idx="5">
                  <c:v>2Q´22</c:v>
                </c:pt>
                <c:pt idx="6">
                  <c:v>3Q´22</c:v>
                </c:pt>
                <c:pt idx="7">
                  <c:v>4Q´22</c:v>
                </c:pt>
                <c:pt idx="8">
                  <c:v>1Q´23</c:v>
                </c:pt>
                <c:pt idx="9">
                  <c:v>2Q´23</c:v>
                </c:pt>
                <c:pt idx="10">
                  <c:v>3Q´23</c:v>
                </c:pt>
                <c:pt idx="11">
                  <c:v>4Q´23</c:v>
                </c:pt>
                <c:pt idx="12">
                  <c:v>1Q´24</c:v>
                </c:pt>
                <c:pt idx="13">
                  <c:v>2Q´24</c:v>
                </c:pt>
                <c:pt idx="14">
                  <c:v>3Q´24</c:v>
                </c:pt>
                <c:pt idx="15">
                  <c:v>4Q´24</c:v>
                </c:pt>
                <c:pt idx="16">
                  <c:v>1Q´25</c:v>
                </c:pt>
                <c:pt idx="17">
                  <c:v>2Q´25</c:v>
                </c:pt>
                <c:pt idx="18">
                  <c:v>3Q´25</c:v>
                </c:pt>
                <c:pt idx="19">
                  <c:v>4Q´25</c:v>
                </c:pt>
                <c:pt idx="20">
                  <c:v>1Q´26</c:v>
                </c:pt>
                <c:pt idx="21">
                  <c:v>2Q´26</c:v>
                </c:pt>
                <c:pt idx="22">
                  <c:v>3Q´26</c:v>
                </c:pt>
                <c:pt idx="23">
                  <c:v>4Q´26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0.719</c:v>
                </c:pt>
                <c:pt idx="1">
                  <c:v>0.705</c:v>
                </c:pt>
                <c:pt idx="2">
                  <c:v>0.77</c:v>
                </c:pt>
                <c:pt idx="3">
                  <c:v>0.757</c:v>
                </c:pt>
                <c:pt idx="4">
                  <c:v>0.808</c:v>
                </c:pt>
                <c:pt idx="5">
                  <c:v>0.766</c:v>
                </c:pt>
                <c:pt idx="6">
                  <c:v>0.8</c:v>
                </c:pt>
                <c:pt idx="7">
                  <c:v>0.786</c:v>
                </c:pt>
                <c:pt idx="8">
                  <c:v>0.801</c:v>
                </c:pt>
                <c:pt idx="9">
                  <c:v>0.768</c:v>
                </c:pt>
                <c:pt idx="10">
                  <c:v>0.768</c:v>
                </c:pt>
                <c:pt idx="11">
                  <c:v>0.784</c:v>
                </c:pt>
                <c:pt idx="12">
                  <c:v>0.781</c:v>
                </c:pt>
                <c:pt idx="13">
                  <c:v>0.78</c:v>
                </c:pt>
                <c:pt idx="14">
                  <c:v>0.786</c:v>
                </c:pt>
                <c:pt idx="15">
                  <c:v>0.783</c:v>
                </c:pt>
                <c:pt idx="16">
                  <c:v>0.764</c:v>
                </c:pt>
                <c:pt idx="17">
                  <c:v>0.763</c:v>
                </c:pt>
                <c:pt idx="18">
                  <c:v>0.759</c:v>
                </c:pt>
                <c:pt idx="19">
                  <c:v>0.757</c:v>
                </c:pt>
                <c:pt idx="20">
                  <c:v>0.765</c:v>
                </c:pt>
                <c:pt idx="21">
                  <c:v>0.7651216776650408</c:v>
                </c:pt>
                <c:pt idx="22">
                  <c:v>0.7651216776650408</c:v>
                </c:pt>
                <c:pt idx="23">
                  <c:v>0.7651216776650408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909D-400B-865D-EE11A7A0E5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IPN</c:v>
                </c:pt>
              </c:strCache>
            </c:strRef>
          </c:tx>
          <c:spPr>
            <a:ln w="28575" cap="rnd">
              <a:solidFill>
                <a:srgbClr val="7030A0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0B050"/>
              </a:solidFill>
              <a:ln w="9525">
                <a:solidFill>
                  <a:srgbClr val="00B050"/>
                </a:solidFill>
                <a:prstDash val="solid"/>
              </a:ln>
              <a:effectLst/>
            </c:spPr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Sheet1!$A$2:$A$25</c:f>
              <c:strCache>
                <c:ptCount val="24"/>
                <c:pt idx="0">
                  <c:v>1Q´21</c:v>
                </c:pt>
                <c:pt idx="1">
                  <c:v>2Q´21</c:v>
                </c:pt>
                <c:pt idx="2">
                  <c:v>3Q´21</c:v>
                </c:pt>
                <c:pt idx="3">
                  <c:v>4Q´21</c:v>
                </c:pt>
                <c:pt idx="4">
                  <c:v>1Q´22</c:v>
                </c:pt>
                <c:pt idx="5">
                  <c:v>2Q´22</c:v>
                </c:pt>
                <c:pt idx="6">
                  <c:v>3Q´22</c:v>
                </c:pt>
                <c:pt idx="7">
                  <c:v>4Q´22</c:v>
                </c:pt>
                <c:pt idx="8">
                  <c:v>1Q´23</c:v>
                </c:pt>
                <c:pt idx="9">
                  <c:v>2Q´23</c:v>
                </c:pt>
                <c:pt idx="10">
                  <c:v>3Q´23</c:v>
                </c:pt>
                <c:pt idx="11">
                  <c:v>4Q´23</c:v>
                </c:pt>
                <c:pt idx="12">
                  <c:v>1Q´24</c:v>
                </c:pt>
                <c:pt idx="13">
                  <c:v>2Q´24</c:v>
                </c:pt>
                <c:pt idx="14">
                  <c:v>3Q´24</c:v>
                </c:pt>
                <c:pt idx="15">
                  <c:v>4Q´24</c:v>
                </c:pt>
                <c:pt idx="16">
                  <c:v>1Q´25</c:v>
                </c:pt>
                <c:pt idx="17">
                  <c:v>2Q´25</c:v>
                </c:pt>
                <c:pt idx="18">
                  <c:v>3Q´25</c:v>
                </c:pt>
                <c:pt idx="19">
                  <c:v>4Q´25</c:v>
                </c:pt>
                <c:pt idx="20">
                  <c:v>1Q´26</c:v>
                </c:pt>
                <c:pt idx="21">
                  <c:v>2Q´26</c:v>
                </c:pt>
                <c:pt idx="22">
                  <c:v>3Q´26</c:v>
                </c:pt>
                <c:pt idx="23">
                  <c:v>4Q´26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0.62</c:v>
                </c:pt>
                <c:pt idx="1">
                  <c:v>0.56</c:v>
                </c:pt>
                <c:pt idx="2">
                  <c:v>0.691</c:v>
                </c:pt>
                <c:pt idx="3">
                  <c:v>0.645</c:v>
                </c:pt>
                <c:pt idx="4">
                  <c:v>0.745</c:v>
                </c:pt>
                <c:pt idx="5">
                  <c:v>0.672</c:v>
                </c:pt>
                <c:pt idx="6">
                  <c:v>0.735</c:v>
                </c:pt>
                <c:pt idx="7">
                  <c:v>0.697</c:v>
                </c:pt>
                <c:pt idx="8">
                  <c:v>0.734</c:v>
                </c:pt>
                <c:pt idx="9">
                  <c:v>0.703</c:v>
                </c:pt>
                <c:pt idx="10">
                  <c:v>0.703</c:v>
                </c:pt>
                <c:pt idx="11">
                  <c:v>0.722</c:v>
                </c:pt>
                <c:pt idx="12">
                  <c:v>0.719</c:v>
                </c:pt>
                <c:pt idx="13">
                  <c:v>0.714</c:v>
                </c:pt>
                <c:pt idx="14">
                  <c:v>0.715</c:v>
                </c:pt>
                <c:pt idx="15">
                  <c:v>0.723</c:v>
                </c:pt>
                <c:pt idx="16">
                  <c:v>0.694</c:v>
                </c:pt>
                <c:pt idx="17">
                  <c:v>0.689</c:v>
                </c:pt>
                <c:pt idx="18">
                  <c:v>0.687</c:v>
                </c:pt>
                <c:pt idx="19">
                  <c:v>0.685</c:v>
                </c:pt>
                <c:pt idx="20">
                  <c:v>0.702</c:v>
                </c:pt>
                <c:pt idx="21">
                  <c:v>0.7024179034403609</c:v>
                </c:pt>
                <c:pt idx="22">
                  <c:v>0.7024179034403609</c:v>
                </c:pt>
                <c:pt idx="23">
                  <c:v>0.7024179034403609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909D-400B-865D-EE11A7A0E51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Pasivos</c:v>
                </c:pt>
              </c:strCache>
            </c:strRef>
          </c:tx>
          <c:spPr>
            <a:ln w="28575" cap="rnd">
              <a:solidFill>
                <a:srgbClr val="FFC000"/>
              </a:solidFill>
              <a:prstDash val="dash"/>
              <a:round/>
            </a:ln>
            <a:effectLst/>
          </c:spPr>
          <c:marker>
            <c:symbol val="circle"/>
            <c:size val="7"/>
            <c:spPr>
              <a:solidFill>
                <a:srgbClr val="FFC000"/>
              </a:solidFill>
              <a:ln w="9525">
                <a:solidFill>
                  <a:srgbClr val="FFC000"/>
                </a:solidFill>
              </a:ln>
              <a:effectLst/>
            </c:spPr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Sheet1!$A$2:$A$25</c:f>
              <c:strCache>
                <c:ptCount val="24"/>
                <c:pt idx="0">
                  <c:v>1Q´21</c:v>
                </c:pt>
                <c:pt idx="1">
                  <c:v>2Q´21</c:v>
                </c:pt>
                <c:pt idx="2">
                  <c:v>3Q´21</c:v>
                </c:pt>
                <c:pt idx="3">
                  <c:v>4Q´21</c:v>
                </c:pt>
                <c:pt idx="4">
                  <c:v>1Q´22</c:v>
                </c:pt>
                <c:pt idx="5">
                  <c:v>2Q´22</c:v>
                </c:pt>
                <c:pt idx="6">
                  <c:v>3Q´22</c:v>
                </c:pt>
                <c:pt idx="7">
                  <c:v>4Q´22</c:v>
                </c:pt>
                <c:pt idx="8">
                  <c:v>1Q´23</c:v>
                </c:pt>
                <c:pt idx="9">
                  <c:v>2Q´23</c:v>
                </c:pt>
                <c:pt idx="10">
                  <c:v>3Q´23</c:v>
                </c:pt>
                <c:pt idx="11">
                  <c:v>4Q´23</c:v>
                </c:pt>
                <c:pt idx="12">
                  <c:v>1Q´24</c:v>
                </c:pt>
                <c:pt idx="13">
                  <c:v>2Q´24</c:v>
                </c:pt>
                <c:pt idx="14">
                  <c:v>3Q´24</c:v>
                </c:pt>
                <c:pt idx="15">
                  <c:v>4Q´24</c:v>
                </c:pt>
                <c:pt idx="16">
                  <c:v>1Q´25</c:v>
                </c:pt>
                <c:pt idx="17">
                  <c:v>2Q´25</c:v>
                </c:pt>
                <c:pt idx="18">
                  <c:v>3Q´25</c:v>
                </c:pt>
                <c:pt idx="19">
                  <c:v>4Q´25</c:v>
                </c:pt>
                <c:pt idx="20">
                  <c:v>1Q´26</c:v>
                </c:pt>
                <c:pt idx="21">
                  <c:v>2Q´26</c:v>
                </c:pt>
                <c:pt idx="22">
                  <c:v>3Q´26</c:v>
                </c:pt>
                <c:pt idx="23">
                  <c:v>4Q´26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0.182</c:v>
                </c:pt>
                <c:pt idx="1">
                  <c:v>0.15</c:v>
                </c:pt>
                <c:pt idx="2">
                  <c:v>0.15</c:v>
                </c:pt>
                <c:pt idx="3">
                  <c:v>0.131</c:v>
                </c:pt>
                <c:pt idx="4">
                  <c:v>0.128</c:v>
                </c:pt>
                <c:pt idx="5">
                  <c:v>0.14</c:v>
                </c:pt>
                <c:pt idx="6">
                  <c:v>0.136</c:v>
                </c:pt>
                <c:pt idx="7">
                  <c:v>0.125</c:v>
                </c:pt>
                <c:pt idx="8">
                  <c:v>0.132</c:v>
                </c:pt>
                <c:pt idx="9">
                  <c:v>0.167</c:v>
                </c:pt>
                <c:pt idx="10">
                  <c:v>0.166</c:v>
                </c:pt>
                <c:pt idx="11">
                  <c:v>0.155</c:v>
                </c:pt>
                <c:pt idx="12">
                  <c:v>0.158</c:v>
                </c:pt>
                <c:pt idx="13">
                  <c:v>0.155</c:v>
                </c:pt>
                <c:pt idx="14">
                  <c:v>0.156</c:v>
                </c:pt>
                <c:pt idx="15">
                  <c:v>0.156</c:v>
                </c:pt>
                <c:pt idx="16">
                  <c:v>0.166</c:v>
                </c:pt>
                <c:pt idx="17">
                  <c:v>0.163</c:v>
                </c:pt>
                <c:pt idx="18">
                  <c:v>0.17</c:v>
                </c:pt>
                <c:pt idx="19">
                  <c:v>0.17</c:v>
                </c:pt>
                <c:pt idx="20">
                  <c:v>0.172</c:v>
                </c:pt>
                <c:pt idx="21">
                  <c:v>0.1721745481102794</c:v>
                </c:pt>
                <c:pt idx="22">
                  <c:v>0.17217454811027935</c:v>
                </c:pt>
                <c:pt idx="23">
                  <c:v>0.1721745481102794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909D-400B-865D-EE11A7A0E51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Detractores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dash"/>
              <a:round/>
            </a:ln>
            <a:effectLst/>
          </c:spPr>
          <c:marker>
            <c:symbol val="circle"/>
            <c:size val="7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</c:f>
              <c:strCache>
                <c:ptCount val="24"/>
                <c:pt idx="0">
                  <c:v>1Q´21</c:v>
                </c:pt>
                <c:pt idx="1">
                  <c:v>2Q´21</c:v>
                </c:pt>
                <c:pt idx="2">
                  <c:v>3Q´21</c:v>
                </c:pt>
                <c:pt idx="3">
                  <c:v>4Q´21</c:v>
                </c:pt>
                <c:pt idx="4">
                  <c:v>1Q´22</c:v>
                </c:pt>
                <c:pt idx="5">
                  <c:v>2Q´22</c:v>
                </c:pt>
                <c:pt idx="6">
                  <c:v>3Q´22</c:v>
                </c:pt>
                <c:pt idx="7">
                  <c:v>4Q´22</c:v>
                </c:pt>
                <c:pt idx="8">
                  <c:v>1Q´23</c:v>
                </c:pt>
                <c:pt idx="9">
                  <c:v>2Q´23</c:v>
                </c:pt>
                <c:pt idx="10">
                  <c:v>3Q´23</c:v>
                </c:pt>
                <c:pt idx="11">
                  <c:v>4Q´23</c:v>
                </c:pt>
                <c:pt idx="12">
                  <c:v>1Q´24</c:v>
                </c:pt>
                <c:pt idx="13">
                  <c:v>2Q´24</c:v>
                </c:pt>
                <c:pt idx="14">
                  <c:v>3Q´24</c:v>
                </c:pt>
                <c:pt idx="15">
                  <c:v>4Q´24</c:v>
                </c:pt>
                <c:pt idx="16">
                  <c:v>1Q´25</c:v>
                </c:pt>
                <c:pt idx="17">
                  <c:v>2Q´25</c:v>
                </c:pt>
                <c:pt idx="18">
                  <c:v>3Q´25</c:v>
                </c:pt>
                <c:pt idx="19">
                  <c:v>4Q´25</c:v>
                </c:pt>
                <c:pt idx="20">
                  <c:v>1Q´26</c:v>
                </c:pt>
                <c:pt idx="21">
                  <c:v>2Q´26</c:v>
                </c:pt>
                <c:pt idx="22">
                  <c:v>3Q´26</c:v>
                </c:pt>
                <c:pt idx="23">
                  <c:v>4Q´26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0.099</c:v>
                </c:pt>
                <c:pt idx="1">
                  <c:v>0.145</c:v>
                </c:pt>
                <c:pt idx="2">
                  <c:v>0.08</c:v>
                </c:pt>
                <c:pt idx="3">
                  <c:v>0.112</c:v>
                </c:pt>
                <c:pt idx="4">
                  <c:v>0.064</c:v>
                </c:pt>
                <c:pt idx="5">
                  <c:v>0.094</c:v>
                </c:pt>
                <c:pt idx="6">
                  <c:v>0.065</c:v>
                </c:pt>
                <c:pt idx="7">
                  <c:v>0.089</c:v>
                </c:pt>
                <c:pt idx="8">
                  <c:v>0.067</c:v>
                </c:pt>
                <c:pt idx="9">
                  <c:v>0.065</c:v>
                </c:pt>
                <c:pt idx="10">
                  <c:v>0.066</c:v>
                </c:pt>
                <c:pt idx="11">
                  <c:v>0.062</c:v>
                </c:pt>
                <c:pt idx="12">
                  <c:v>0.062</c:v>
                </c:pt>
                <c:pt idx="13">
                  <c:v>0.066</c:v>
                </c:pt>
                <c:pt idx="14">
                  <c:v>0.065</c:v>
                </c:pt>
                <c:pt idx="15">
                  <c:v>0.061</c:v>
                </c:pt>
                <c:pt idx="16">
                  <c:v>0.07</c:v>
                </c:pt>
                <c:pt idx="17">
                  <c:v>0.074</c:v>
                </c:pt>
                <c:pt idx="18">
                  <c:v>0.071</c:v>
                </c:pt>
                <c:pt idx="19">
                  <c:v>0.072</c:v>
                </c:pt>
                <c:pt idx="20">
                  <c:v>0.063</c:v>
                </c:pt>
                <c:pt idx="21">
                  <c:v>0.06270377422467983</c:v>
                </c:pt>
                <c:pt idx="22">
                  <c:v>0.06270377422467983</c:v>
                </c:pt>
                <c:pt idx="23">
                  <c:v>0.06270377422467983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909D-400B-865D-EE11A7A0E5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4053359"/>
        <c:axId val="1104052399"/>
      </c:lineChart>
      <c:catAx>
        <c:axId val="11040533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s-MX"/>
          </a:p>
        </c:txPr>
        <c:crossAx val="1104052399"/>
        <c:crosses val="autoZero"/>
        <c:auto val="1"/>
        <c:lblAlgn val="ctr"/>
        <c:lblOffset val="100"/>
        <c:noMultiLvlLbl val="0"/>
      </c:catAx>
      <c:valAx>
        <c:axId val="1104052399"/>
        <c:scaling>
          <c:orientation val="minMax"/>
        </c:scaling>
        <c:delete val="1"/>
        <c:axPos val="l"/>
        <c:numFmt formatCode="0.0%" sourceLinked="1"/>
        <c:majorTickMark val="out"/>
        <c:minorTickMark val="none"/>
        <c:tickLblPos val="nextTo"/>
        <c:crossAx val="110405335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Montserrat" panose="00000500000000000000" pitchFamily="2" charset="0"/>
        </a:defRPr>
      </a:pPr>
      <a:endParaRPr lang="es-MX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6559318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IPN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0-7BFD-40D3-AA44-685196C0A748}"/>
              </c:ext>
            </c:extLst>
          </c:dPt>
          <c:dPt>
            <c:idx val="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7BFD-40D3-AA44-685196C0A748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7BFD-40D3-AA44-685196C0A748}"/>
              </c:ext>
            </c:extLst>
          </c:dPt>
          <c:dPt>
            <c:idx val="5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7BFD-40D3-AA44-685196C0A748}"/>
              </c:ext>
            </c:extLst>
          </c:dPt>
          <c:dPt>
            <c:idx val="6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4-7BFD-40D3-AA44-685196C0A748}"/>
              </c:ext>
            </c:extLst>
          </c:dPt>
          <c:dPt>
            <c:idx val="7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7BFD-40D3-AA44-685196C0A748}"/>
              </c:ext>
            </c:extLst>
          </c:dPt>
          <c:dPt>
            <c:idx val="8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6-7BFD-40D3-AA44-685196C0A748}"/>
              </c:ext>
            </c:extLst>
          </c:dPt>
          <c:dPt>
            <c:idx val="9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7BFD-40D3-AA44-685196C0A748}"/>
              </c:ext>
            </c:extLst>
          </c:dPt>
          <c:dPt>
            <c:idx val="10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8-7BFD-40D3-AA44-685196C0A748}"/>
              </c:ext>
            </c:extLst>
          </c:dPt>
          <c:dPt>
            <c:idx val="11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7BFD-40D3-AA44-685196C0A748}"/>
              </c:ext>
            </c:extLst>
          </c:dPt>
          <c:dPt>
            <c:idx val="12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A-7BFD-40D3-AA44-685196C0A748}"/>
              </c:ext>
            </c:extLst>
          </c:dPt>
          <c:dPt>
            <c:idx val="1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7BFD-40D3-AA44-685196C0A748}"/>
              </c:ext>
            </c:extLst>
          </c:dPt>
          <c:dPt>
            <c:idx val="1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C-7BFD-40D3-AA44-685196C0A748}"/>
              </c:ext>
            </c:extLst>
          </c:dPt>
          <c:dPt>
            <c:idx val="15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7BFD-40D3-AA44-685196C0A748}"/>
              </c:ext>
            </c:extLst>
          </c:dPt>
          <c:dPt>
            <c:idx val="16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7BFD-40D3-AA44-685196C0A748}"/>
              </c:ext>
            </c:extLst>
          </c:dPt>
          <c:dPt>
            <c:idx val="17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7BFD-40D3-AA44-685196C0A748}"/>
              </c:ext>
            </c:extLst>
          </c:dPt>
          <c:dPt>
            <c:idx val="20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E11-4127-90E8-6E8369425EC3}"/>
              </c:ext>
            </c:extLst>
          </c:dPt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18"/>
            <c:spPr>
              <a:solidFill>
                <a:srgbClr val="C0C0C0"/>
              </a:solidFill>
            </c:spPr>
          </c:dPt>
          <c:dPt>
            <c:idx val="19"/>
            <c:spPr>
              <a:solidFill>
                <a:srgbClr val="C0C0C0"/>
              </a:solidFill>
            </c:spPr>
          </c:dPt>
          <c:dPt>
            <c:idx val="21"/>
            <c:spPr>
              <a:solidFill>
                <a:srgbClr val="C0C0C0"/>
              </a:solidFill>
            </c:spPr>
          </c:dPt>
          <c:dPt>
            <c:idx val="22"/>
            <c:spPr>
              <a:solidFill>
                <a:srgbClr val="C0C0C0"/>
              </a:solidFill>
            </c:spPr>
          </c:dPt>
          <c:dPt>
            <c:idx val="23"/>
            <c:spPr>
              <a:solidFill>
                <a:srgbClr val="696969"/>
              </a:solidFill>
            </c:spPr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Sheet1!$A$2:$A$25</c:f>
              <c:strCache>
                <c:ptCount val="24"/>
                <c:pt idx="0">
                  <c:v>1Q´21</c:v>
                </c:pt>
                <c:pt idx="1">
                  <c:v>2Q´21</c:v>
                </c:pt>
                <c:pt idx="2">
                  <c:v>3Q´21</c:v>
                </c:pt>
                <c:pt idx="3">
                  <c:v>4Q´21</c:v>
                </c:pt>
                <c:pt idx="4">
                  <c:v>1Q´22</c:v>
                </c:pt>
                <c:pt idx="5">
                  <c:v>2Q´22</c:v>
                </c:pt>
                <c:pt idx="6">
                  <c:v>3Q´22</c:v>
                </c:pt>
                <c:pt idx="7">
                  <c:v>4Q´22</c:v>
                </c:pt>
                <c:pt idx="8">
                  <c:v>1Q´23</c:v>
                </c:pt>
                <c:pt idx="9">
                  <c:v>2Q´23</c:v>
                </c:pt>
                <c:pt idx="10">
                  <c:v>3Q´23</c:v>
                </c:pt>
                <c:pt idx="11">
                  <c:v>4Q´23</c:v>
                </c:pt>
                <c:pt idx="12">
                  <c:v>1Q´24</c:v>
                </c:pt>
                <c:pt idx="13">
                  <c:v>2Q´24</c:v>
                </c:pt>
                <c:pt idx="14">
                  <c:v>3Q´24</c:v>
                </c:pt>
                <c:pt idx="15">
                  <c:v>4Q´24</c:v>
                </c:pt>
                <c:pt idx="16">
                  <c:v>1Q´25</c:v>
                </c:pt>
                <c:pt idx="17">
                  <c:v>2Q´25</c:v>
                </c:pt>
                <c:pt idx="18">
                  <c:v>3Q´25</c:v>
                </c:pt>
                <c:pt idx="19">
                  <c:v>4Q´25</c:v>
                </c:pt>
                <c:pt idx="20">
                  <c:v>1Q´26</c:v>
                </c:pt>
                <c:pt idx="21">
                  <c:v>2Q´26</c:v>
                </c:pt>
                <c:pt idx="22">
                  <c:v>3Q´26</c:v>
                </c:pt>
                <c:pt idx="23">
                  <c:v>4Q´26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15">
                  <c:v>0.857</c:v>
                </c:pt>
                <c:pt idx="16">
                  <c:v>0.812</c:v>
                </c:pt>
                <c:pt idx="17">
                  <c:v>1.0</c:v>
                </c:pt>
                <c:pt idx="18">
                  <c:v>0.643</c:v>
                </c:pt>
                <c:pt idx="19">
                  <c:v>0.9</c:v>
                </c:pt>
                <c:pt idx="20">
                  <c:v>1.0</c:v>
                </c:pt>
                <c:pt idx="21">
                  <c:v>1.0</c:v>
                </c:pt>
                <c:pt idx="22">
                  <c:v>1.0</c:v>
                </c:pt>
                <c:pt idx="23">
                  <c:v>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7BFD-40D3-AA44-685196C0A7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5140961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IPN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0-8CA7-4A40-A396-2DE9B79DD7EA}"/>
              </c:ext>
            </c:extLst>
          </c:dPt>
          <c:dPt>
            <c:idx val="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8CA7-4A40-A396-2DE9B79DD7EA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8CA7-4A40-A396-2DE9B79DD7EA}"/>
              </c:ext>
            </c:extLst>
          </c:dPt>
          <c:dPt>
            <c:idx val="5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8CA7-4A40-A396-2DE9B79DD7EA}"/>
              </c:ext>
            </c:extLst>
          </c:dPt>
          <c:dPt>
            <c:idx val="6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4-8CA7-4A40-A396-2DE9B79DD7EA}"/>
              </c:ext>
            </c:extLst>
          </c:dPt>
          <c:dPt>
            <c:idx val="7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8CA7-4A40-A396-2DE9B79DD7EA}"/>
              </c:ext>
            </c:extLst>
          </c:dPt>
          <c:dPt>
            <c:idx val="8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6-8CA7-4A40-A396-2DE9B79DD7EA}"/>
              </c:ext>
            </c:extLst>
          </c:dPt>
          <c:dPt>
            <c:idx val="9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8CA7-4A40-A396-2DE9B79DD7EA}"/>
              </c:ext>
            </c:extLst>
          </c:dPt>
          <c:dPt>
            <c:idx val="10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8-8CA7-4A40-A396-2DE9B79DD7EA}"/>
              </c:ext>
            </c:extLst>
          </c:dPt>
          <c:dPt>
            <c:idx val="11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8CA7-4A40-A396-2DE9B79DD7EA}"/>
              </c:ext>
            </c:extLst>
          </c:dPt>
          <c:dPt>
            <c:idx val="12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A-8CA7-4A40-A396-2DE9B79DD7EA}"/>
              </c:ext>
            </c:extLst>
          </c:dPt>
          <c:dPt>
            <c:idx val="1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8CA7-4A40-A396-2DE9B79DD7EA}"/>
              </c:ext>
            </c:extLst>
          </c:dPt>
          <c:dPt>
            <c:idx val="1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C-8CA7-4A40-A396-2DE9B79DD7EA}"/>
              </c:ext>
            </c:extLst>
          </c:dPt>
          <c:dPt>
            <c:idx val="15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8CA7-4A40-A396-2DE9B79DD7EA}"/>
              </c:ext>
            </c:extLst>
          </c:dPt>
          <c:dPt>
            <c:idx val="16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8CA7-4A40-A396-2DE9B79DD7EA}"/>
              </c:ext>
            </c:extLst>
          </c:dPt>
          <c:dPt>
            <c:idx val="17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8CA7-4A40-A396-2DE9B79DD7EA}"/>
              </c:ext>
            </c:extLst>
          </c:dPt>
          <c:dPt>
            <c:idx val="20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0A89-4CBF-8697-33376CF4DBA5}"/>
              </c:ext>
            </c:extLst>
          </c:dPt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18"/>
            <c:spPr>
              <a:solidFill>
                <a:srgbClr val="C0C0C0"/>
              </a:solidFill>
            </c:spPr>
          </c:dPt>
          <c:dPt>
            <c:idx val="19"/>
            <c:spPr>
              <a:solidFill>
                <a:srgbClr val="C0C0C0"/>
              </a:solidFill>
            </c:spPr>
          </c:dPt>
          <c:dPt>
            <c:idx val="21"/>
            <c:spPr>
              <a:solidFill>
                <a:srgbClr val="C0C0C0"/>
              </a:solidFill>
            </c:spPr>
          </c:dPt>
          <c:dPt>
            <c:idx val="22"/>
            <c:spPr>
              <a:solidFill>
                <a:srgbClr val="C0C0C0"/>
              </a:solidFill>
            </c:spPr>
          </c:dPt>
          <c:dPt>
            <c:idx val="23"/>
            <c:spPr>
              <a:solidFill>
                <a:srgbClr val="696969"/>
              </a:solidFill>
            </c:spPr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Sheet1!$A$2:$A$25</c:f>
              <c:strCache>
                <c:ptCount val="24"/>
                <c:pt idx="0">
                  <c:v>1Q´21</c:v>
                </c:pt>
                <c:pt idx="1">
                  <c:v>2Q´21</c:v>
                </c:pt>
                <c:pt idx="2">
                  <c:v>3Q´21</c:v>
                </c:pt>
                <c:pt idx="3">
                  <c:v>4Q´21</c:v>
                </c:pt>
                <c:pt idx="4">
                  <c:v>1Q´22</c:v>
                </c:pt>
                <c:pt idx="5">
                  <c:v>2Q´22</c:v>
                </c:pt>
                <c:pt idx="6">
                  <c:v>3Q´22</c:v>
                </c:pt>
                <c:pt idx="7">
                  <c:v>4Q´22</c:v>
                </c:pt>
                <c:pt idx="8">
                  <c:v>1Q´23</c:v>
                </c:pt>
                <c:pt idx="9">
                  <c:v>2Q´23</c:v>
                </c:pt>
                <c:pt idx="10">
                  <c:v>3Q´23</c:v>
                </c:pt>
                <c:pt idx="11">
                  <c:v>4Q´23</c:v>
                </c:pt>
                <c:pt idx="12">
                  <c:v>1Q´24</c:v>
                </c:pt>
                <c:pt idx="13">
                  <c:v>2Q´24</c:v>
                </c:pt>
                <c:pt idx="14">
                  <c:v>3Q´24</c:v>
                </c:pt>
                <c:pt idx="15">
                  <c:v>4Q´24</c:v>
                </c:pt>
                <c:pt idx="16">
                  <c:v>1Q´25</c:v>
                </c:pt>
                <c:pt idx="17">
                  <c:v>2Q´25</c:v>
                </c:pt>
                <c:pt idx="18">
                  <c:v>3Q´25</c:v>
                </c:pt>
                <c:pt idx="19">
                  <c:v>4Q´25</c:v>
                </c:pt>
                <c:pt idx="20">
                  <c:v>1Q´26</c:v>
                </c:pt>
                <c:pt idx="21">
                  <c:v>2Q´26</c:v>
                </c:pt>
                <c:pt idx="22">
                  <c:v>3Q´26</c:v>
                </c:pt>
                <c:pt idx="23">
                  <c:v>4Q´26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14">
                  <c:v>0.724</c:v>
                </c:pt>
                <c:pt idx="15">
                  <c:v>0.723</c:v>
                </c:pt>
                <c:pt idx="16">
                  <c:v>0.756</c:v>
                </c:pt>
                <c:pt idx="17">
                  <c:v>0.769</c:v>
                </c:pt>
                <c:pt idx="18">
                  <c:v>0.732</c:v>
                </c:pt>
                <c:pt idx="19">
                  <c:v>0.768</c:v>
                </c:pt>
                <c:pt idx="20">
                  <c:v>0.763</c:v>
                </c:pt>
                <c:pt idx="21">
                  <c:v>0.7628968253968254</c:v>
                </c:pt>
                <c:pt idx="22">
                  <c:v>0.7628968253968254</c:v>
                </c:pt>
                <c:pt idx="23">
                  <c:v>0.7628968253968254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8CA7-4A40-A396-2DE9B79DD7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5140961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IPN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0-2715-4A1E-B03E-DC8B1A754023}"/>
              </c:ext>
            </c:extLst>
          </c:dPt>
          <c:dPt>
            <c:idx val="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2715-4A1E-B03E-DC8B1A754023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2715-4A1E-B03E-DC8B1A754023}"/>
              </c:ext>
            </c:extLst>
          </c:dPt>
          <c:dPt>
            <c:idx val="5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2715-4A1E-B03E-DC8B1A754023}"/>
              </c:ext>
            </c:extLst>
          </c:dPt>
          <c:dPt>
            <c:idx val="6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4-2715-4A1E-B03E-DC8B1A754023}"/>
              </c:ext>
            </c:extLst>
          </c:dPt>
          <c:dPt>
            <c:idx val="7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2715-4A1E-B03E-DC8B1A754023}"/>
              </c:ext>
            </c:extLst>
          </c:dPt>
          <c:dPt>
            <c:idx val="8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6-2715-4A1E-B03E-DC8B1A754023}"/>
              </c:ext>
            </c:extLst>
          </c:dPt>
          <c:dPt>
            <c:idx val="9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2715-4A1E-B03E-DC8B1A754023}"/>
              </c:ext>
            </c:extLst>
          </c:dPt>
          <c:dPt>
            <c:idx val="10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8-2715-4A1E-B03E-DC8B1A754023}"/>
              </c:ext>
            </c:extLst>
          </c:dPt>
          <c:dPt>
            <c:idx val="11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2715-4A1E-B03E-DC8B1A754023}"/>
              </c:ext>
            </c:extLst>
          </c:dPt>
          <c:dPt>
            <c:idx val="12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A-2715-4A1E-B03E-DC8B1A754023}"/>
              </c:ext>
            </c:extLst>
          </c:dPt>
          <c:dPt>
            <c:idx val="1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2715-4A1E-B03E-DC8B1A754023}"/>
              </c:ext>
            </c:extLst>
          </c:dPt>
          <c:dPt>
            <c:idx val="1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C-2715-4A1E-B03E-DC8B1A754023}"/>
              </c:ext>
            </c:extLst>
          </c:dPt>
          <c:dPt>
            <c:idx val="15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2715-4A1E-B03E-DC8B1A754023}"/>
              </c:ext>
            </c:extLst>
          </c:dPt>
          <c:dPt>
            <c:idx val="16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2715-4A1E-B03E-DC8B1A754023}"/>
              </c:ext>
            </c:extLst>
          </c:dPt>
          <c:dPt>
            <c:idx val="17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2715-4A1E-B03E-DC8B1A754023}"/>
              </c:ext>
            </c:extLst>
          </c:dPt>
          <c:dPt>
            <c:idx val="20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20D-4DF3-B310-195C57D36F0E}"/>
              </c:ext>
            </c:extLst>
          </c:dPt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18"/>
            <c:spPr>
              <a:solidFill>
                <a:srgbClr val="C0C0C0"/>
              </a:solidFill>
            </c:spPr>
          </c:dPt>
          <c:dPt>
            <c:idx val="19"/>
            <c:spPr>
              <a:solidFill>
                <a:srgbClr val="C0C0C0"/>
              </a:solidFill>
            </c:spPr>
          </c:dPt>
          <c:dPt>
            <c:idx val="21"/>
            <c:spPr>
              <a:solidFill>
                <a:srgbClr val="C0C0C0"/>
              </a:solidFill>
            </c:spPr>
          </c:dPt>
          <c:dPt>
            <c:idx val="22"/>
            <c:spPr>
              <a:solidFill>
                <a:srgbClr val="C0C0C0"/>
              </a:solidFill>
            </c:spPr>
          </c:dPt>
          <c:dPt>
            <c:idx val="23"/>
            <c:spPr>
              <a:solidFill>
                <a:srgbClr val="696969"/>
              </a:solidFill>
            </c:spPr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Sheet1!$A$2:$A$25</c:f>
              <c:strCache>
                <c:ptCount val="24"/>
                <c:pt idx="0">
                  <c:v>1Q´21</c:v>
                </c:pt>
                <c:pt idx="1">
                  <c:v>2Q´21</c:v>
                </c:pt>
                <c:pt idx="2">
                  <c:v>3Q´21</c:v>
                </c:pt>
                <c:pt idx="3">
                  <c:v>4Q´21</c:v>
                </c:pt>
                <c:pt idx="4">
                  <c:v>1Q´22</c:v>
                </c:pt>
                <c:pt idx="5">
                  <c:v>2Q´22</c:v>
                </c:pt>
                <c:pt idx="6">
                  <c:v>3Q´22</c:v>
                </c:pt>
                <c:pt idx="7">
                  <c:v>4Q´22</c:v>
                </c:pt>
                <c:pt idx="8">
                  <c:v>1Q´23</c:v>
                </c:pt>
                <c:pt idx="9">
                  <c:v>2Q´23</c:v>
                </c:pt>
                <c:pt idx="10">
                  <c:v>3Q´23</c:v>
                </c:pt>
                <c:pt idx="11">
                  <c:v>4Q´23</c:v>
                </c:pt>
                <c:pt idx="12">
                  <c:v>1Q´24</c:v>
                </c:pt>
                <c:pt idx="13">
                  <c:v>2Q´24</c:v>
                </c:pt>
                <c:pt idx="14">
                  <c:v>3Q´24</c:v>
                </c:pt>
                <c:pt idx="15">
                  <c:v>4Q´24</c:v>
                </c:pt>
                <c:pt idx="16">
                  <c:v>1Q´25</c:v>
                </c:pt>
                <c:pt idx="17">
                  <c:v>2Q´25</c:v>
                </c:pt>
                <c:pt idx="18">
                  <c:v>3Q´25</c:v>
                </c:pt>
                <c:pt idx="19">
                  <c:v>4Q´25</c:v>
                </c:pt>
                <c:pt idx="20">
                  <c:v>1Q´26</c:v>
                </c:pt>
                <c:pt idx="21">
                  <c:v>2Q´26</c:v>
                </c:pt>
                <c:pt idx="22">
                  <c:v>3Q´26</c:v>
                </c:pt>
                <c:pt idx="23">
                  <c:v>4Q´26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14">
                  <c:v>0.656</c:v>
                </c:pt>
                <c:pt idx="15">
                  <c:v>0.698</c:v>
                </c:pt>
                <c:pt idx="16">
                  <c:v>0.676</c:v>
                </c:pt>
                <c:pt idx="17">
                  <c:v>0.684</c:v>
                </c:pt>
                <c:pt idx="18">
                  <c:v>0.592</c:v>
                </c:pt>
                <c:pt idx="19">
                  <c:v>0.65</c:v>
                </c:pt>
                <c:pt idx="20">
                  <c:v>0.672</c:v>
                </c:pt>
                <c:pt idx="21">
                  <c:v>0.671875</c:v>
                </c:pt>
                <c:pt idx="22">
                  <c:v>0.671875</c:v>
                </c:pt>
                <c:pt idx="23">
                  <c:v>0.671875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2715-4A1E-B03E-DC8B1A7540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5140961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IPN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0-6747-4970-931F-50DB6AB4AE58}"/>
              </c:ext>
            </c:extLst>
          </c:dPt>
          <c:dPt>
            <c:idx val="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6747-4970-931F-50DB6AB4AE58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6747-4970-931F-50DB6AB4AE58}"/>
              </c:ext>
            </c:extLst>
          </c:dPt>
          <c:dPt>
            <c:idx val="5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6747-4970-931F-50DB6AB4AE58}"/>
              </c:ext>
            </c:extLst>
          </c:dPt>
          <c:dPt>
            <c:idx val="6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4-6747-4970-931F-50DB6AB4AE58}"/>
              </c:ext>
            </c:extLst>
          </c:dPt>
          <c:dPt>
            <c:idx val="7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6747-4970-931F-50DB6AB4AE58}"/>
              </c:ext>
            </c:extLst>
          </c:dPt>
          <c:dPt>
            <c:idx val="8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6-6747-4970-931F-50DB6AB4AE58}"/>
              </c:ext>
            </c:extLst>
          </c:dPt>
          <c:dPt>
            <c:idx val="9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6747-4970-931F-50DB6AB4AE58}"/>
              </c:ext>
            </c:extLst>
          </c:dPt>
          <c:dPt>
            <c:idx val="10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8-6747-4970-931F-50DB6AB4AE58}"/>
              </c:ext>
            </c:extLst>
          </c:dPt>
          <c:dPt>
            <c:idx val="11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6747-4970-931F-50DB6AB4AE58}"/>
              </c:ext>
            </c:extLst>
          </c:dPt>
          <c:dPt>
            <c:idx val="12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A-6747-4970-931F-50DB6AB4AE58}"/>
              </c:ext>
            </c:extLst>
          </c:dPt>
          <c:dPt>
            <c:idx val="1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6747-4970-931F-50DB6AB4AE58}"/>
              </c:ext>
            </c:extLst>
          </c:dPt>
          <c:dPt>
            <c:idx val="1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C-6747-4970-931F-50DB6AB4AE58}"/>
              </c:ext>
            </c:extLst>
          </c:dPt>
          <c:dPt>
            <c:idx val="15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6747-4970-931F-50DB6AB4AE58}"/>
              </c:ext>
            </c:extLst>
          </c:dPt>
          <c:dPt>
            <c:idx val="16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6747-4970-931F-50DB6AB4AE58}"/>
              </c:ext>
            </c:extLst>
          </c:dPt>
          <c:dPt>
            <c:idx val="17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6747-4970-931F-50DB6AB4AE58}"/>
              </c:ext>
            </c:extLst>
          </c:dPt>
          <c:dPt>
            <c:idx val="20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7820-4340-A38E-6C295DCBDD9C}"/>
              </c:ext>
            </c:extLst>
          </c:dPt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18"/>
            <c:spPr>
              <a:solidFill>
                <a:srgbClr val="C0C0C0"/>
              </a:solidFill>
            </c:spPr>
          </c:dPt>
          <c:dPt>
            <c:idx val="19"/>
            <c:spPr>
              <a:solidFill>
                <a:srgbClr val="C0C0C0"/>
              </a:solidFill>
            </c:spPr>
          </c:dPt>
          <c:dPt>
            <c:idx val="21"/>
            <c:spPr>
              <a:solidFill>
                <a:srgbClr val="C0C0C0"/>
              </a:solidFill>
            </c:spPr>
          </c:dPt>
          <c:dPt>
            <c:idx val="22"/>
            <c:spPr>
              <a:solidFill>
                <a:srgbClr val="C0C0C0"/>
              </a:solidFill>
            </c:spPr>
          </c:dPt>
          <c:dPt>
            <c:idx val="23"/>
            <c:spPr>
              <a:solidFill>
                <a:srgbClr val="696969"/>
              </a:solidFill>
            </c:spPr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Sheet1!$A$2:$A$25</c:f>
              <c:strCache>
                <c:ptCount val="24"/>
                <c:pt idx="0">
                  <c:v>1Q´21</c:v>
                </c:pt>
                <c:pt idx="1">
                  <c:v>2Q´21</c:v>
                </c:pt>
                <c:pt idx="2">
                  <c:v>3Q´21</c:v>
                </c:pt>
                <c:pt idx="3">
                  <c:v>4Q´21</c:v>
                </c:pt>
                <c:pt idx="4">
                  <c:v>1Q´22</c:v>
                </c:pt>
                <c:pt idx="5">
                  <c:v>2Q´22</c:v>
                </c:pt>
                <c:pt idx="6">
                  <c:v>3Q´22</c:v>
                </c:pt>
                <c:pt idx="7">
                  <c:v>4Q´22</c:v>
                </c:pt>
                <c:pt idx="8">
                  <c:v>1Q´23</c:v>
                </c:pt>
                <c:pt idx="9">
                  <c:v>2Q´23</c:v>
                </c:pt>
                <c:pt idx="10">
                  <c:v>3Q´23</c:v>
                </c:pt>
                <c:pt idx="11">
                  <c:v>4Q´23</c:v>
                </c:pt>
                <c:pt idx="12">
                  <c:v>1Q´24</c:v>
                </c:pt>
                <c:pt idx="13">
                  <c:v>2Q´24</c:v>
                </c:pt>
                <c:pt idx="14">
                  <c:v>3Q´24</c:v>
                </c:pt>
                <c:pt idx="15">
                  <c:v>4Q´24</c:v>
                </c:pt>
                <c:pt idx="16">
                  <c:v>1Q´25</c:v>
                </c:pt>
                <c:pt idx="17">
                  <c:v>2Q´25</c:v>
                </c:pt>
                <c:pt idx="18">
                  <c:v>3Q´25</c:v>
                </c:pt>
                <c:pt idx="19">
                  <c:v>4Q´25</c:v>
                </c:pt>
                <c:pt idx="20">
                  <c:v>1Q´26</c:v>
                </c:pt>
                <c:pt idx="21">
                  <c:v>2Q´26</c:v>
                </c:pt>
                <c:pt idx="22">
                  <c:v>3Q´26</c:v>
                </c:pt>
                <c:pt idx="23">
                  <c:v>4Q´26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14">
                  <c:v>0.507</c:v>
                </c:pt>
                <c:pt idx="15">
                  <c:v>0.53</c:v>
                </c:pt>
                <c:pt idx="16">
                  <c:v>0.443</c:v>
                </c:pt>
                <c:pt idx="17">
                  <c:v>0.459</c:v>
                </c:pt>
                <c:pt idx="18">
                  <c:v>0.408</c:v>
                </c:pt>
                <c:pt idx="19">
                  <c:v>0.518</c:v>
                </c:pt>
                <c:pt idx="20">
                  <c:v>0.504</c:v>
                </c:pt>
                <c:pt idx="21">
                  <c:v>0.5039370078740157</c:v>
                </c:pt>
                <c:pt idx="22">
                  <c:v>0.5039370078740157</c:v>
                </c:pt>
                <c:pt idx="23">
                  <c:v>0.5039370078740157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6747-4970-931F-50DB6AB4AE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5140961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IPN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0-8ECD-4363-B2AE-21A1163EF645}"/>
              </c:ext>
            </c:extLst>
          </c:dPt>
          <c:dPt>
            <c:idx val="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8ECD-4363-B2AE-21A1163EF645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8ECD-4363-B2AE-21A1163EF645}"/>
              </c:ext>
            </c:extLst>
          </c:dPt>
          <c:dPt>
            <c:idx val="5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8ECD-4363-B2AE-21A1163EF645}"/>
              </c:ext>
            </c:extLst>
          </c:dPt>
          <c:dPt>
            <c:idx val="6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4-8ECD-4363-B2AE-21A1163EF645}"/>
              </c:ext>
            </c:extLst>
          </c:dPt>
          <c:dPt>
            <c:idx val="7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8ECD-4363-B2AE-21A1163EF645}"/>
              </c:ext>
            </c:extLst>
          </c:dPt>
          <c:dPt>
            <c:idx val="8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6-8ECD-4363-B2AE-21A1163EF645}"/>
              </c:ext>
            </c:extLst>
          </c:dPt>
          <c:dPt>
            <c:idx val="9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8ECD-4363-B2AE-21A1163EF645}"/>
              </c:ext>
            </c:extLst>
          </c:dPt>
          <c:dPt>
            <c:idx val="10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8-8ECD-4363-B2AE-21A1163EF645}"/>
              </c:ext>
            </c:extLst>
          </c:dPt>
          <c:dPt>
            <c:idx val="11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8ECD-4363-B2AE-21A1163EF645}"/>
              </c:ext>
            </c:extLst>
          </c:dPt>
          <c:dPt>
            <c:idx val="12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A-8ECD-4363-B2AE-21A1163EF645}"/>
              </c:ext>
            </c:extLst>
          </c:dPt>
          <c:dPt>
            <c:idx val="1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8ECD-4363-B2AE-21A1163EF645}"/>
              </c:ext>
            </c:extLst>
          </c:dPt>
          <c:dPt>
            <c:idx val="1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C-8ECD-4363-B2AE-21A1163EF645}"/>
              </c:ext>
            </c:extLst>
          </c:dPt>
          <c:dPt>
            <c:idx val="15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8ECD-4363-B2AE-21A1163EF645}"/>
              </c:ext>
            </c:extLst>
          </c:dPt>
          <c:dPt>
            <c:idx val="16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8ECD-4363-B2AE-21A1163EF645}"/>
              </c:ext>
            </c:extLst>
          </c:dPt>
          <c:dPt>
            <c:idx val="17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8ECD-4363-B2AE-21A1163EF645}"/>
              </c:ext>
            </c:extLst>
          </c:dPt>
          <c:dPt>
            <c:idx val="22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8E56-4703-9EAC-A476064D09BD}"/>
              </c:ext>
            </c:extLst>
          </c:dPt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18"/>
            <c:spPr>
              <a:solidFill>
                <a:srgbClr val="C0C0C0"/>
              </a:solidFill>
            </c:spPr>
          </c:dPt>
          <c:dPt>
            <c:idx val="19"/>
            <c:spPr>
              <a:solidFill>
                <a:srgbClr val="C0C0C0"/>
              </a:solidFill>
            </c:spPr>
          </c:dPt>
          <c:dPt>
            <c:idx val="20"/>
            <c:spPr>
              <a:solidFill>
                <a:srgbClr val="C0C0C0"/>
              </a:solidFill>
            </c:spPr>
          </c:dPt>
          <c:dPt>
            <c:idx val="21"/>
            <c:spPr>
              <a:solidFill>
                <a:srgbClr val="C0C0C0"/>
              </a:solidFill>
            </c:spPr>
          </c:dPt>
          <c:dPt>
            <c:idx val="23"/>
            <c:spPr>
              <a:solidFill>
                <a:srgbClr val="696969"/>
              </a:solidFill>
            </c:spPr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Sheet1!$A$2:$A$25</c:f>
              <c:strCache>
                <c:ptCount val="24"/>
                <c:pt idx="0">
                  <c:v>1Q´21</c:v>
                </c:pt>
                <c:pt idx="1">
                  <c:v>2Q´21</c:v>
                </c:pt>
                <c:pt idx="2">
                  <c:v>3Q´21</c:v>
                </c:pt>
                <c:pt idx="3">
                  <c:v>4Q´21</c:v>
                </c:pt>
                <c:pt idx="4">
                  <c:v>1Q´22</c:v>
                </c:pt>
                <c:pt idx="5">
                  <c:v>2Q´22</c:v>
                </c:pt>
                <c:pt idx="6">
                  <c:v>3Q´22</c:v>
                </c:pt>
                <c:pt idx="7">
                  <c:v>4Q´22</c:v>
                </c:pt>
                <c:pt idx="8">
                  <c:v>1Q´23</c:v>
                </c:pt>
                <c:pt idx="9">
                  <c:v>2Q´23</c:v>
                </c:pt>
                <c:pt idx="10">
                  <c:v>3Q´23</c:v>
                </c:pt>
                <c:pt idx="11">
                  <c:v>4Q´23</c:v>
                </c:pt>
                <c:pt idx="12">
                  <c:v>1Q´24</c:v>
                </c:pt>
                <c:pt idx="13">
                  <c:v>2Q´24</c:v>
                </c:pt>
                <c:pt idx="14">
                  <c:v>3Q´24</c:v>
                </c:pt>
                <c:pt idx="15">
                  <c:v>4Q´24</c:v>
                </c:pt>
                <c:pt idx="16">
                  <c:v>1Q´25</c:v>
                </c:pt>
                <c:pt idx="17">
                  <c:v>2Q´25</c:v>
                </c:pt>
                <c:pt idx="18">
                  <c:v>3Q´25</c:v>
                </c:pt>
                <c:pt idx="19">
                  <c:v>4Q´25</c:v>
                </c:pt>
                <c:pt idx="20">
                  <c:v>1Q´26</c:v>
                </c:pt>
                <c:pt idx="21">
                  <c:v>2Q´26</c:v>
                </c:pt>
                <c:pt idx="22">
                  <c:v>3Q´26</c:v>
                </c:pt>
                <c:pt idx="23">
                  <c:v>4Q´26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0.435</c:v>
                </c:pt>
                <c:pt idx="1">
                  <c:v>0.331</c:v>
                </c:pt>
                <c:pt idx="2">
                  <c:v>0.447</c:v>
                </c:pt>
                <c:pt idx="3">
                  <c:v>0.362</c:v>
                </c:pt>
                <c:pt idx="4">
                  <c:v>0.495</c:v>
                </c:pt>
                <c:pt idx="5">
                  <c:v>0.376</c:v>
                </c:pt>
                <c:pt idx="6">
                  <c:v>0.494</c:v>
                </c:pt>
                <c:pt idx="7">
                  <c:v>0.513</c:v>
                </c:pt>
                <c:pt idx="8">
                  <c:v>0.57</c:v>
                </c:pt>
                <c:pt idx="9">
                  <c:v>0.602</c:v>
                </c:pt>
                <c:pt idx="10">
                  <c:v>0.619</c:v>
                </c:pt>
                <c:pt idx="11">
                  <c:v>0.621</c:v>
                </c:pt>
                <c:pt idx="12">
                  <c:v>0.629</c:v>
                </c:pt>
                <c:pt idx="13">
                  <c:v>0.623</c:v>
                </c:pt>
                <c:pt idx="14">
                  <c:v>0.591</c:v>
                </c:pt>
                <c:pt idx="15">
                  <c:v>0.62</c:v>
                </c:pt>
                <c:pt idx="16">
                  <c:v>0.591</c:v>
                </c:pt>
                <c:pt idx="17">
                  <c:v>0.62</c:v>
                </c:pt>
                <c:pt idx="18">
                  <c:v>0.607</c:v>
                </c:pt>
                <c:pt idx="19">
                  <c:v>0.627</c:v>
                </c:pt>
                <c:pt idx="20">
                  <c:v>0.648</c:v>
                </c:pt>
                <c:pt idx="21">
                  <c:v>0.6480573368540173</c:v>
                </c:pt>
                <c:pt idx="22">
                  <c:v>0.6480573368540173</c:v>
                </c:pt>
                <c:pt idx="23">
                  <c:v>0.6480573368540173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8ECD-4363-B2AE-21A1163EF6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0.0%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5140961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IPN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0-13F7-4F2B-AC25-6B904E3DDF79}"/>
              </c:ext>
            </c:extLst>
          </c:dPt>
          <c:dPt>
            <c:idx val="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13F7-4F2B-AC25-6B904E3DDF79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13F7-4F2B-AC25-6B904E3DDF79}"/>
              </c:ext>
            </c:extLst>
          </c:dPt>
          <c:dPt>
            <c:idx val="5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13F7-4F2B-AC25-6B904E3DDF79}"/>
              </c:ext>
            </c:extLst>
          </c:dPt>
          <c:dPt>
            <c:idx val="6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4-13F7-4F2B-AC25-6B904E3DDF79}"/>
              </c:ext>
            </c:extLst>
          </c:dPt>
          <c:dPt>
            <c:idx val="7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13F7-4F2B-AC25-6B904E3DDF79}"/>
              </c:ext>
            </c:extLst>
          </c:dPt>
          <c:dPt>
            <c:idx val="8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6-13F7-4F2B-AC25-6B904E3DDF79}"/>
              </c:ext>
            </c:extLst>
          </c:dPt>
          <c:dPt>
            <c:idx val="9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13F7-4F2B-AC25-6B904E3DDF79}"/>
              </c:ext>
            </c:extLst>
          </c:dPt>
          <c:dPt>
            <c:idx val="10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8-13F7-4F2B-AC25-6B904E3DDF79}"/>
              </c:ext>
            </c:extLst>
          </c:dPt>
          <c:dPt>
            <c:idx val="11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13F7-4F2B-AC25-6B904E3DDF79}"/>
              </c:ext>
            </c:extLst>
          </c:dPt>
          <c:dPt>
            <c:idx val="12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A-13F7-4F2B-AC25-6B904E3DDF79}"/>
              </c:ext>
            </c:extLst>
          </c:dPt>
          <c:dPt>
            <c:idx val="1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13F7-4F2B-AC25-6B904E3DDF79}"/>
              </c:ext>
            </c:extLst>
          </c:dPt>
          <c:dPt>
            <c:idx val="1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C-13F7-4F2B-AC25-6B904E3DDF79}"/>
              </c:ext>
            </c:extLst>
          </c:dPt>
          <c:dPt>
            <c:idx val="15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13F7-4F2B-AC25-6B904E3DDF79}"/>
              </c:ext>
            </c:extLst>
          </c:dPt>
          <c:dPt>
            <c:idx val="16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13F7-4F2B-AC25-6B904E3DDF79}"/>
              </c:ext>
            </c:extLst>
          </c:dPt>
          <c:dPt>
            <c:idx val="17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13F7-4F2B-AC25-6B904E3DDF79}"/>
              </c:ext>
            </c:extLst>
          </c:dPt>
          <c:dPt>
            <c:idx val="20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0CAB-4EB8-9FA0-AC8C517E22ED}"/>
              </c:ext>
            </c:extLst>
          </c:dPt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18"/>
            <c:spPr>
              <a:solidFill>
                <a:srgbClr val="C0C0C0"/>
              </a:solidFill>
            </c:spPr>
          </c:dPt>
          <c:dPt>
            <c:idx val="19"/>
            <c:spPr>
              <a:solidFill>
                <a:srgbClr val="C0C0C0"/>
              </a:solidFill>
            </c:spPr>
          </c:dPt>
          <c:dPt>
            <c:idx val="21"/>
            <c:spPr>
              <a:solidFill>
                <a:srgbClr val="C0C0C0"/>
              </a:solidFill>
            </c:spPr>
          </c:dPt>
          <c:dPt>
            <c:idx val="22"/>
            <c:spPr>
              <a:solidFill>
                <a:srgbClr val="C0C0C0"/>
              </a:solidFill>
            </c:spPr>
          </c:dPt>
          <c:dPt>
            <c:idx val="23"/>
            <c:spPr>
              <a:solidFill>
                <a:srgbClr val="696969"/>
              </a:solidFill>
            </c:spPr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Sheet1!$A$2:$A$25</c:f>
              <c:strCache>
                <c:ptCount val="24"/>
                <c:pt idx="0">
                  <c:v>1Q´21</c:v>
                </c:pt>
                <c:pt idx="1">
                  <c:v>2Q´21</c:v>
                </c:pt>
                <c:pt idx="2">
                  <c:v>3Q´21</c:v>
                </c:pt>
                <c:pt idx="3">
                  <c:v>4Q´21</c:v>
                </c:pt>
                <c:pt idx="4">
                  <c:v>1Q´22</c:v>
                </c:pt>
                <c:pt idx="5">
                  <c:v>2Q´22</c:v>
                </c:pt>
                <c:pt idx="6">
                  <c:v>3Q´22</c:v>
                </c:pt>
                <c:pt idx="7">
                  <c:v>4Q´22</c:v>
                </c:pt>
                <c:pt idx="8">
                  <c:v>1Q´23</c:v>
                </c:pt>
                <c:pt idx="9">
                  <c:v>2Q´23</c:v>
                </c:pt>
                <c:pt idx="10">
                  <c:v>3Q´23</c:v>
                </c:pt>
                <c:pt idx="11">
                  <c:v>4Q´23</c:v>
                </c:pt>
                <c:pt idx="12">
                  <c:v>1Q´24</c:v>
                </c:pt>
                <c:pt idx="13">
                  <c:v>2Q´24</c:v>
                </c:pt>
                <c:pt idx="14">
                  <c:v>3Q´24</c:v>
                </c:pt>
                <c:pt idx="15">
                  <c:v>4Q´24</c:v>
                </c:pt>
                <c:pt idx="16">
                  <c:v>1Q´25</c:v>
                </c:pt>
                <c:pt idx="17">
                  <c:v>2Q´25</c:v>
                </c:pt>
                <c:pt idx="18">
                  <c:v>3Q´25</c:v>
                </c:pt>
                <c:pt idx="19">
                  <c:v>4Q´25</c:v>
                </c:pt>
                <c:pt idx="20">
                  <c:v>1Q´26</c:v>
                </c:pt>
                <c:pt idx="21">
                  <c:v>2Q´26</c:v>
                </c:pt>
                <c:pt idx="22">
                  <c:v>3Q´26</c:v>
                </c:pt>
                <c:pt idx="23">
                  <c:v>4Q´26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0.617</c:v>
                </c:pt>
                <c:pt idx="1">
                  <c:v>0.415</c:v>
                </c:pt>
                <c:pt idx="2">
                  <c:v>0.521</c:v>
                </c:pt>
                <c:pt idx="3">
                  <c:v>0.481</c:v>
                </c:pt>
                <c:pt idx="4">
                  <c:v>0.567</c:v>
                </c:pt>
                <c:pt idx="5">
                  <c:v>0.553</c:v>
                </c:pt>
                <c:pt idx="6">
                  <c:v>0.547</c:v>
                </c:pt>
                <c:pt idx="7">
                  <c:v>0.477</c:v>
                </c:pt>
                <c:pt idx="8">
                  <c:v>0.539</c:v>
                </c:pt>
                <c:pt idx="9">
                  <c:v>0.423</c:v>
                </c:pt>
                <c:pt idx="10">
                  <c:v>0.493</c:v>
                </c:pt>
                <c:pt idx="11">
                  <c:v>0.514</c:v>
                </c:pt>
                <c:pt idx="12">
                  <c:v>0.542</c:v>
                </c:pt>
                <c:pt idx="13">
                  <c:v>0.532</c:v>
                </c:pt>
                <c:pt idx="14">
                  <c:v>0.537</c:v>
                </c:pt>
                <c:pt idx="15">
                  <c:v>0.583</c:v>
                </c:pt>
                <c:pt idx="16">
                  <c:v>0.574</c:v>
                </c:pt>
                <c:pt idx="17">
                  <c:v>0.542</c:v>
                </c:pt>
                <c:pt idx="18">
                  <c:v>0.56</c:v>
                </c:pt>
                <c:pt idx="19">
                  <c:v>0.61</c:v>
                </c:pt>
                <c:pt idx="20">
                  <c:v>0.595</c:v>
                </c:pt>
                <c:pt idx="21">
                  <c:v>0.5945267958950968</c:v>
                </c:pt>
                <c:pt idx="22">
                  <c:v>0.5945267958950968</c:v>
                </c:pt>
                <c:pt idx="23">
                  <c:v>0.5945267958950968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13F7-4F2B-AC25-6B904E3DDF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0.0%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5140961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IPN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0-C11F-447E-A718-BD81E494E330}"/>
              </c:ext>
            </c:extLst>
          </c:dPt>
          <c:dPt>
            <c:idx val="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C11F-447E-A718-BD81E494E330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C11F-447E-A718-BD81E494E330}"/>
              </c:ext>
            </c:extLst>
          </c:dPt>
          <c:dPt>
            <c:idx val="5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C11F-447E-A718-BD81E494E330}"/>
              </c:ext>
            </c:extLst>
          </c:dPt>
          <c:dPt>
            <c:idx val="6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4-C11F-447E-A718-BD81E494E330}"/>
              </c:ext>
            </c:extLst>
          </c:dPt>
          <c:dPt>
            <c:idx val="7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C11F-447E-A718-BD81E494E330}"/>
              </c:ext>
            </c:extLst>
          </c:dPt>
          <c:dPt>
            <c:idx val="8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6-C11F-447E-A718-BD81E494E330}"/>
              </c:ext>
            </c:extLst>
          </c:dPt>
          <c:dPt>
            <c:idx val="9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C11F-447E-A718-BD81E494E330}"/>
              </c:ext>
            </c:extLst>
          </c:dPt>
          <c:dPt>
            <c:idx val="10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8-C11F-447E-A718-BD81E494E330}"/>
              </c:ext>
            </c:extLst>
          </c:dPt>
          <c:dPt>
            <c:idx val="11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C11F-447E-A718-BD81E494E330}"/>
              </c:ext>
            </c:extLst>
          </c:dPt>
          <c:dPt>
            <c:idx val="12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A-C11F-447E-A718-BD81E494E330}"/>
              </c:ext>
            </c:extLst>
          </c:dPt>
          <c:dPt>
            <c:idx val="1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C11F-447E-A718-BD81E494E330}"/>
              </c:ext>
            </c:extLst>
          </c:dPt>
          <c:dPt>
            <c:idx val="1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C-C11F-447E-A718-BD81E494E330}"/>
              </c:ext>
            </c:extLst>
          </c:dPt>
          <c:dPt>
            <c:idx val="15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C11F-447E-A718-BD81E494E330}"/>
              </c:ext>
            </c:extLst>
          </c:dPt>
          <c:dPt>
            <c:idx val="16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11F-447E-A718-BD81E494E330}"/>
              </c:ext>
            </c:extLst>
          </c:dPt>
          <c:dPt>
            <c:idx val="17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11F-447E-A718-BD81E494E330}"/>
              </c:ext>
            </c:extLst>
          </c:dPt>
          <c:dPt>
            <c:idx val="20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48A-4AF3-9DDE-19EACFF5152F}"/>
              </c:ext>
            </c:extLst>
          </c:dPt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18"/>
            <c:spPr>
              <a:solidFill>
                <a:srgbClr val="C0C0C0"/>
              </a:solidFill>
            </c:spPr>
          </c:dPt>
          <c:dPt>
            <c:idx val="19"/>
            <c:spPr>
              <a:solidFill>
                <a:srgbClr val="C0C0C0"/>
              </a:solidFill>
            </c:spPr>
          </c:dPt>
          <c:dPt>
            <c:idx val="21"/>
            <c:spPr>
              <a:solidFill>
                <a:srgbClr val="C0C0C0"/>
              </a:solidFill>
            </c:spPr>
          </c:dPt>
          <c:dPt>
            <c:idx val="22"/>
            <c:spPr>
              <a:solidFill>
                <a:srgbClr val="C0C0C0"/>
              </a:solidFill>
            </c:spPr>
          </c:dPt>
          <c:dPt>
            <c:idx val="23"/>
            <c:spPr>
              <a:solidFill>
                <a:srgbClr val="696969"/>
              </a:solidFill>
            </c:spPr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Sheet1!$A$2:$A$25</c:f>
              <c:strCache>
                <c:ptCount val="24"/>
                <c:pt idx="0">
                  <c:v>1Q´21</c:v>
                </c:pt>
                <c:pt idx="1">
                  <c:v>2Q´21</c:v>
                </c:pt>
                <c:pt idx="2">
                  <c:v>3Q´21</c:v>
                </c:pt>
                <c:pt idx="3">
                  <c:v>4Q´21</c:v>
                </c:pt>
                <c:pt idx="4">
                  <c:v>1Q´22</c:v>
                </c:pt>
                <c:pt idx="5">
                  <c:v>2Q´22</c:v>
                </c:pt>
                <c:pt idx="6">
                  <c:v>3Q´22</c:v>
                </c:pt>
                <c:pt idx="7">
                  <c:v>4Q´22</c:v>
                </c:pt>
                <c:pt idx="8">
                  <c:v>1Q´23</c:v>
                </c:pt>
                <c:pt idx="9">
                  <c:v>2Q´23</c:v>
                </c:pt>
                <c:pt idx="10">
                  <c:v>3Q´23</c:v>
                </c:pt>
                <c:pt idx="11">
                  <c:v>4Q´23</c:v>
                </c:pt>
                <c:pt idx="12">
                  <c:v>1Q´24</c:v>
                </c:pt>
                <c:pt idx="13">
                  <c:v>2Q´24</c:v>
                </c:pt>
                <c:pt idx="14">
                  <c:v>3Q´24</c:v>
                </c:pt>
                <c:pt idx="15">
                  <c:v>4Q´24</c:v>
                </c:pt>
                <c:pt idx="16">
                  <c:v>1Q´25</c:v>
                </c:pt>
                <c:pt idx="17">
                  <c:v>2Q´25</c:v>
                </c:pt>
                <c:pt idx="18">
                  <c:v>3Q´25</c:v>
                </c:pt>
                <c:pt idx="19">
                  <c:v>4Q´25</c:v>
                </c:pt>
                <c:pt idx="20">
                  <c:v>1Q´26</c:v>
                </c:pt>
                <c:pt idx="21">
                  <c:v>2Q´26</c:v>
                </c:pt>
                <c:pt idx="22">
                  <c:v>3Q´26</c:v>
                </c:pt>
                <c:pt idx="23">
                  <c:v>4Q´26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0.615</c:v>
                </c:pt>
                <c:pt idx="1">
                  <c:v>0.45</c:v>
                </c:pt>
                <c:pt idx="2">
                  <c:v>0.576</c:v>
                </c:pt>
                <c:pt idx="3">
                  <c:v>0.525</c:v>
                </c:pt>
                <c:pt idx="4">
                  <c:v>0.631</c:v>
                </c:pt>
                <c:pt idx="5">
                  <c:v>0.572</c:v>
                </c:pt>
                <c:pt idx="6">
                  <c:v>0.654</c:v>
                </c:pt>
                <c:pt idx="7">
                  <c:v>0.589</c:v>
                </c:pt>
                <c:pt idx="8">
                  <c:v>0.627</c:v>
                </c:pt>
                <c:pt idx="9">
                  <c:v>0.678</c:v>
                </c:pt>
                <c:pt idx="10">
                  <c:v>0.676</c:v>
                </c:pt>
                <c:pt idx="11">
                  <c:v>0.722</c:v>
                </c:pt>
                <c:pt idx="12">
                  <c:v>0.718</c:v>
                </c:pt>
                <c:pt idx="13">
                  <c:v>0.711</c:v>
                </c:pt>
                <c:pt idx="14">
                  <c:v>0.715</c:v>
                </c:pt>
                <c:pt idx="15">
                  <c:v>0.694</c:v>
                </c:pt>
                <c:pt idx="16">
                  <c:v>0.687</c:v>
                </c:pt>
                <c:pt idx="17">
                  <c:v>0.674</c:v>
                </c:pt>
                <c:pt idx="18">
                  <c:v>0.672</c:v>
                </c:pt>
                <c:pt idx="19">
                  <c:v>0.697</c:v>
                </c:pt>
                <c:pt idx="20">
                  <c:v>0.688</c:v>
                </c:pt>
                <c:pt idx="21">
                  <c:v>0.6883924784391346</c:v>
                </c:pt>
                <c:pt idx="22">
                  <c:v>0.6883924784391346</c:v>
                </c:pt>
                <c:pt idx="23">
                  <c:v>0.6883924784391346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11F-447E-A718-BD81E494E3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0.0%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5140961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IPN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0-13D4-49ED-8AD4-CFF708E87431}"/>
              </c:ext>
            </c:extLst>
          </c:dPt>
          <c:dPt>
            <c:idx val="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13D4-49ED-8AD4-CFF708E8743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13D4-49ED-8AD4-CFF708E87431}"/>
              </c:ext>
            </c:extLst>
          </c:dPt>
          <c:dPt>
            <c:idx val="5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13D4-49ED-8AD4-CFF708E87431}"/>
              </c:ext>
            </c:extLst>
          </c:dPt>
          <c:dPt>
            <c:idx val="6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4-13D4-49ED-8AD4-CFF708E87431}"/>
              </c:ext>
            </c:extLst>
          </c:dPt>
          <c:dPt>
            <c:idx val="7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13D4-49ED-8AD4-CFF708E87431}"/>
              </c:ext>
            </c:extLst>
          </c:dPt>
          <c:dPt>
            <c:idx val="8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6-13D4-49ED-8AD4-CFF708E87431}"/>
              </c:ext>
            </c:extLst>
          </c:dPt>
          <c:dPt>
            <c:idx val="9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13D4-49ED-8AD4-CFF708E87431}"/>
              </c:ext>
            </c:extLst>
          </c:dPt>
          <c:dPt>
            <c:idx val="10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13D4-49ED-8AD4-CFF708E87431}"/>
              </c:ext>
            </c:extLst>
          </c:dPt>
          <c:dPt>
            <c:idx val="11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A-13D4-49ED-8AD4-CFF708E87431}"/>
              </c:ext>
            </c:extLst>
          </c:dPt>
          <c:dPt>
            <c:idx val="12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13D4-49ED-8AD4-CFF708E87431}"/>
              </c:ext>
            </c:extLst>
          </c:dPt>
          <c:dPt>
            <c:idx val="1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C-13D4-49ED-8AD4-CFF708E87431}"/>
              </c:ext>
            </c:extLst>
          </c:dPt>
          <c:dPt>
            <c:idx val="1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73FA-4BEA-8F9F-3ACF2659BA1D}"/>
              </c:ext>
            </c:extLst>
          </c:dPt>
          <c:dPt>
            <c:idx val="15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E-5B7E-4165-997A-1275E1DD2B11}"/>
              </c:ext>
            </c:extLst>
          </c:dPt>
          <c:dPt>
            <c:idx val="16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3510-42B4-B627-079984C59ED3}"/>
              </c:ext>
            </c:extLst>
          </c:dPt>
          <c:dPt>
            <c:idx val="17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8A86-44CD-9F77-95A04D2B294E}"/>
              </c:ext>
            </c:extLst>
          </c:dPt>
          <c:dPt>
            <c:idx val="20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467-426C-A36E-865644DBA191}"/>
              </c:ext>
            </c:extLst>
          </c:dPt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18"/>
            <c:spPr>
              <a:solidFill>
                <a:srgbClr val="C0C0C0"/>
              </a:solidFill>
            </c:spPr>
          </c:dPt>
          <c:dPt>
            <c:idx val="19"/>
            <c:spPr>
              <a:solidFill>
                <a:srgbClr val="C0C0C0"/>
              </a:solidFill>
            </c:spPr>
          </c:dPt>
          <c:dPt>
            <c:idx val="21"/>
            <c:spPr>
              <a:solidFill>
                <a:srgbClr val="C0C0C0"/>
              </a:solidFill>
            </c:spPr>
          </c:dPt>
          <c:dPt>
            <c:idx val="22"/>
            <c:spPr>
              <a:solidFill>
                <a:srgbClr val="C0C0C0"/>
              </a:solidFill>
            </c:spPr>
          </c:dPt>
          <c:dPt>
            <c:idx val="23"/>
            <c:spPr>
              <a:solidFill>
                <a:srgbClr val="696969"/>
              </a:solidFill>
            </c:spPr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Sheet1!$A$2:$A$25</c:f>
              <c:strCache>
                <c:ptCount val="24"/>
                <c:pt idx="0">
                  <c:v>1Q´21</c:v>
                </c:pt>
                <c:pt idx="1">
                  <c:v>2Q´21</c:v>
                </c:pt>
                <c:pt idx="2">
                  <c:v>3Q´21</c:v>
                </c:pt>
                <c:pt idx="3">
                  <c:v>4Q´21</c:v>
                </c:pt>
                <c:pt idx="4">
                  <c:v>1Q´22</c:v>
                </c:pt>
                <c:pt idx="5">
                  <c:v>2Q´22</c:v>
                </c:pt>
                <c:pt idx="6">
                  <c:v>3Q´22</c:v>
                </c:pt>
                <c:pt idx="7">
                  <c:v>4Q´22</c:v>
                </c:pt>
                <c:pt idx="8">
                  <c:v>1Q´23</c:v>
                </c:pt>
                <c:pt idx="9">
                  <c:v>2Q´23</c:v>
                </c:pt>
                <c:pt idx="10">
                  <c:v>3Q´23</c:v>
                </c:pt>
                <c:pt idx="11">
                  <c:v>4Q´23</c:v>
                </c:pt>
                <c:pt idx="12">
                  <c:v>1Q´24</c:v>
                </c:pt>
                <c:pt idx="13">
                  <c:v>2Q´24</c:v>
                </c:pt>
                <c:pt idx="14">
                  <c:v>3Q´24</c:v>
                </c:pt>
                <c:pt idx="15">
                  <c:v>4Q´24</c:v>
                </c:pt>
                <c:pt idx="16">
                  <c:v>1Q´25</c:v>
                </c:pt>
                <c:pt idx="17">
                  <c:v>2Q´25</c:v>
                </c:pt>
                <c:pt idx="18">
                  <c:v>3Q´25</c:v>
                </c:pt>
                <c:pt idx="19">
                  <c:v>4Q´25</c:v>
                </c:pt>
                <c:pt idx="20">
                  <c:v>1Q´26</c:v>
                </c:pt>
                <c:pt idx="21">
                  <c:v>2Q´26</c:v>
                </c:pt>
                <c:pt idx="22">
                  <c:v>3Q´26</c:v>
                </c:pt>
                <c:pt idx="23">
                  <c:v>4Q´26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0.625</c:v>
                </c:pt>
                <c:pt idx="1">
                  <c:v>0.605</c:v>
                </c:pt>
                <c:pt idx="2">
                  <c:v>0.714</c:v>
                </c:pt>
                <c:pt idx="3">
                  <c:v>0.67</c:v>
                </c:pt>
                <c:pt idx="4">
                  <c:v>0.769</c:v>
                </c:pt>
                <c:pt idx="5">
                  <c:v>0.729</c:v>
                </c:pt>
                <c:pt idx="6">
                  <c:v>0.798</c:v>
                </c:pt>
                <c:pt idx="7">
                  <c:v>0.735</c:v>
                </c:pt>
                <c:pt idx="8">
                  <c:v>0.769</c:v>
                </c:pt>
                <c:pt idx="9">
                  <c:v>0.741</c:v>
                </c:pt>
                <c:pt idx="10">
                  <c:v>0.733</c:v>
                </c:pt>
                <c:pt idx="11">
                  <c:v>0.745</c:v>
                </c:pt>
                <c:pt idx="12">
                  <c:v>0.737</c:v>
                </c:pt>
                <c:pt idx="13">
                  <c:v>0.732</c:v>
                </c:pt>
                <c:pt idx="14">
                  <c:v>0.738</c:v>
                </c:pt>
                <c:pt idx="15">
                  <c:v>0.744</c:v>
                </c:pt>
                <c:pt idx="16">
                  <c:v>0.712</c:v>
                </c:pt>
                <c:pt idx="17">
                  <c:v>0.707</c:v>
                </c:pt>
                <c:pt idx="18">
                  <c:v>0.706</c:v>
                </c:pt>
                <c:pt idx="19">
                  <c:v>0.693</c:v>
                </c:pt>
                <c:pt idx="20">
                  <c:v>0.716</c:v>
                </c:pt>
                <c:pt idx="21">
                  <c:v>0.7158478971885427</c:v>
                </c:pt>
                <c:pt idx="22">
                  <c:v>0.7158478971885427</c:v>
                </c:pt>
                <c:pt idx="23">
                  <c:v>0.7158478971885427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13D4-49ED-8AD4-CFF708E874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0.0%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036-42E7-ADD4-0DB37DD33966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036-42E7-ADD4-0DB37DD33966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036-42E7-ADD4-0DB37DD33966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77.8</c:v>
                </c:pt>
                <c:pt idx="1">
                  <c:v>15.9</c:v>
                </c:pt>
                <c:pt idx="2">
                  <c:v>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036-42E7-ADD4-0DB37DD339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EB11-48BB-9AA3-43EE613EDFC0}"/>
              </c:ext>
            </c:extLst>
          </c:dPt>
          <c:dLbls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Grupo Elektra</c:v>
                </c:pt>
                <c:pt idx="1">
                  <c:v>México - Ricardo Benjamin Salinas Pliego</c:v>
                </c:pt>
                <c:pt idx="2">
                  <c:v>Comité De Supervisión Países - Alejandro Valenzuela Del Rio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6.3</c:v>
                </c:pt>
                <c:pt idx="1">
                  <c:v>6.0</c:v>
                </c:pt>
                <c:pt idx="2">
                  <c:v>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EB11-48BB-9AA3-43EE613EDF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EB11-48BB-9AA3-43EE613EDFC0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Grupo Elektra</c:v>
                </c:pt>
                <c:pt idx="1">
                  <c:v>México - Ricardo Benjamin Salinas Pliego</c:v>
                </c:pt>
                <c:pt idx="2">
                  <c:v>Comité De Supervisión Países - Alejandro Valenzuela Del Rio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15.9</c:v>
                </c:pt>
                <c:pt idx="1">
                  <c:v>15.8</c:v>
                </c:pt>
                <c:pt idx="2">
                  <c:v>16.6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EB11-48BB-9AA3-43EE613EDFC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EB11-48BB-9AA3-43EE613EDFC0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EB11-48BB-9AA3-43EE613EDFC0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EB11-48BB-9AA3-43EE613EDFC0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EB11-48BB-9AA3-43EE613EDFC0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EB11-48BB-9AA3-43EE613EDFC0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EB11-48BB-9AA3-43EE613EDFC0}"/>
              </c:ext>
            </c:extLst>
          </c:dPt>
          <c:dLbls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EB11-48BB-9AA3-43EE613EDFC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EB11-48BB-9AA3-43EE613EDFC0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EB11-48BB-9AA3-43EE613EDFC0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EB11-48BB-9AA3-43EE613EDFC0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EB11-48BB-9AA3-43EE613EDFC0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Grupo Elektra</c:v>
                </c:pt>
                <c:pt idx="1">
                  <c:v>México - Ricardo Benjamin Salinas Pliego</c:v>
                </c:pt>
                <c:pt idx="2">
                  <c:v>Comité De Supervisión Países - Alejandro Valenzuela Del Rio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77.8</c:v>
                </c:pt>
                <c:pt idx="1">
                  <c:v>78.1</c:v>
                </c:pt>
                <c:pt idx="2">
                  <c:v>75.1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EB11-48BB-9AA3-43EE613EDFC0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439-440A-8E1A-A4967271554E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439-440A-8E1A-A4967271554E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439-440A-8E1A-A4967271554E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78.1</c:v>
                </c:pt>
                <c:pt idx="1">
                  <c:v>15.8</c:v>
                </c:pt>
                <c:pt idx="2">
                  <c:v>6.0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9-440A-8E1A-A496727155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9892719780219774"/>
          <c:y val="0"/>
          <c:w val="0.50107280219780226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0"/>
              <c:layout>
                <c:manualLayout>
                  <c:x val="2.0303266178266107E-2"/>
                  <c:y val="3.410476992995095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AED-4FE1-91BB-1B6FF585DB31}"/>
                </c:ext>
              </c:extLst>
            </c:dLbl>
            <c:dLbl>
              <c:idx val="1"/>
              <c:layout>
                <c:manualLayout>
                  <c:x val="1.7295940170940102E-2"/>
                  <c:y val="3.41047699299509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AED-4FE1-91BB-1B6FF585DB31}"/>
                </c:ext>
              </c:extLst>
            </c:dLbl>
            <c:dLbl>
              <c:idx val="2"/>
              <c:layout>
                <c:manualLayout>
                  <c:x val="2.9889194139194067E-2"/>
                  <c:y val="3.897687991994394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AED-4FE1-91BB-1B6FF585DB31}"/>
                </c:ext>
              </c:extLst>
            </c:dLbl>
            <c:dLbl>
              <c:idx val="3"/>
              <c:layout>
                <c:manualLayout>
                  <c:x val="2.0520451770451701E-2"/>
                  <c:y val="3.654082492494744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AED-4FE1-91BB-1B6FF585DB31}"/>
                </c:ext>
              </c:extLst>
            </c:dLbl>
            <c:dLbl>
              <c:idx val="4"/>
              <c:layout>
                <c:manualLayout>
                  <c:x val="2.603464590964584E-2"/>
                  <c:y val="3.654082492494762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F4B-4DCC-8E88-85FD54014D2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AED-4FE1-91BB-1B6FF585DB3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E20-44D6-9707-9B9CC8EAA37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AED-4FE1-91BB-1B6FF585DB3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D02-41C9-AEDD-8BEF434EFAC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AED-4FE1-91BB-1B6FF585DB31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Grupo Elektra - México</c:v>
                </c:pt>
                <c:pt idx="1">
                  <c:v>Sector Mercado Masivo - Ricardo Benjamin Salinas Pliego</c:v>
                </c:pt>
                <c:pt idx="2">
                  <c:v>Soluciones A Cliente, Cámara De Compensación Y Caja - Manuel Delgado Forey</c:v>
                </c:pt>
                <c:pt idx="3">
                  <c:v>Sector Mercado Corporativo - Alejandro Valenzuela Del Rio</c:v>
                </c:pt>
                <c:pt idx="4">
                  <c:v>Consejo Administración Banco Azteca - Alejandro Valenzuela Del Rio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6.0</c:v>
                </c:pt>
                <c:pt idx="1">
                  <c:v>6.1</c:v>
                </c:pt>
                <c:pt idx="2">
                  <c:v>2.0</c:v>
                </c:pt>
                <c:pt idx="3">
                  <c:v>5.6</c:v>
                </c:pt>
                <c:pt idx="4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AED-4FE1-91BB-1B6FF585DB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-7.1071625046968746E-17"/>
                  <c:y val="-3.410476992995092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AED-4FE1-91BB-1B6FF585DB31}"/>
                </c:ext>
              </c:extLst>
            </c:dLbl>
            <c:dLbl>
              <c:idx val="1"/>
              <c:layout>
                <c:manualLayout>
                  <c:x val="-7.1071625046968746E-17"/>
                  <c:y val="-2.192449495496842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AED-4FE1-91BB-1B6FF585DB31}"/>
                </c:ext>
              </c:extLst>
            </c:dLbl>
            <c:dLbl>
              <c:idx val="2"/>
              <c:layout>
                <c:manualLayout>
                  <c:x val="0"/>
                  <c:y val="-2.6796413129607434E-2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AED-4FE1-91BB-1B6FF585DB31}"/>
                </c:ext>
              </c:extLst>
            </c:dLbl>
            <c:dLbl>
              <c:idx val="3"/>
              <c:layout>
                <c:manualLayout>
                  <c:x val="-7.1071625046968746E-17"/>
                  <c:y val="-2.679660494496137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AED-4FE1-91BB-1B6FF585DB31}"/>
                </c:ext>
              </c:extLst>
            </c:dLbl>
            <c:dLbl>
              <c:idx val="4"/>
              <c:layout>
                <c:manualLayout>
                  <c:x val="0"/>
                  <c:y val="-2.679660494496146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A7CB-461B-9E28-1496CB527937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D02-41C9-AEDD-8BEF434EFA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D02-41C9-AEDD-8BEF434EFAC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9AED-4FE1-91BB-1B6FF585DB3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Grupo Elektra - México</c:v>
                </c:pt>
                <c:pt idx="1">
                  <c:v>Sector Mercado Masivo - Ricardo Benjamin Salinas Pliego</c:v>
                </c:pt>
                <c:pt idx="2">
                  <c:v>Soluciones A Cliente, Cámara De Compensación Y Caja - Manuel Delgado Forey</c:v>
                </c:pt>
                <c:pt idx="3">
                  <c:v>Sector Mercado Corporativo - Alejandro Valenzuela Del Rio</c:v>
                </c:pt>
                <c:pt idx="4">
                  <c:v>Consejo Administración Banco Azteca - Alejandro Valenzuela Del Rio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15.8</c:v>
                </c:pt>
                <c:pt idx="1">
                  <c:v>15.7</c:v>
                </c:pt>
                <c:pt idx="2">
                  <c:v>15.6</c:v>
                </c:pt>
                <c:pt idx="3">
                  <c:v>27.0</c:v>
                </c:pt>
                <c:pt idx="4">
                  <c:v>23.4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9AED-4FE1-91BB-1B6FF585DB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5B-4045-8523-879E73F412C2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4D5B-4045-8523-879E73F412C2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AE20-44D6-9707-9B9CC8EAA370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7-4D5B-4045-8523-879E73F412C2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8-4D5B-4045-8523-879E73F412C2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9-4D5B-4045-8523-879E73F412C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6-9AED-4FE1-91BB-1B6FF585DB31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9AED-4FE1-91BB-1B6FF585DB31}"/>
              </c:ext>
            </c:extLst>
          </c:dPt>
          <c:dLbls>
            <c:dLbl>
              <c:idx val="9"/>
              <c:layout>
                <c:manualLayout>
                  <c:x val="6.2975027144408099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5B-4045-8523-879E73F412C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D5B-4045-8523-879E73F412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20-44D6-9707-9B9CC8EAA37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5B-4045-8523-879E73F412C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D5B-4045-8523-879E73F412C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5B-4045-8523-879E73F412C2}"/>
                </c:ext>
              </c:extLst>
            </c:dLbl>
            <c:dLbl>
              <c:idx val="15"/>
              <c:spPr>
                <a:solidFill>
                  <a:srgbClr val="00B050"/>
                </a:solidFill>
                <a:ln w="24536">
                  <a:noFill/>
                </a:ln>
              </c:spPr>
              <c:txPr>
                <a:bodyPr/>
                <a:lstStyle/>
                <a:p>
                  <a:pPr>
                    <a:defRPr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AED-4FE1-91BB-1B6FF585DB3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Grupo Elektra - México</c:v>
                </c:pt>
                <c:pt idx="1">
                  <c:v>Sector Mercado Masivo - Ricardo Benjamin Salinas Pliego</c:v>
                </c:pt>
                <c:pt idx="2">
                  <c:v>Soluciones A Cliente, Cámara De Compensación Y Caja - Manuel Delgado Forey</c:v>
                </c:pt>
                <c:pt idx="3">
                  <c:v>Sector Mercado Corporativo - Alejandro Valenzuela Del Rio</c:v>
                </c:pt>
                <c:pt idx="4">
                  <c:v>Consejo Administración Banco Azteca - Alejandro Valenzuela Del Rio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78.1</c:v>
                </c:pt>
                <c:pt idx="1">
                  <c:v>78.2</c:v>
                </c:pt>
                <c:pt idx="2">
                  <c:v>82.5</c:v>
                </c:pt>
                <c:pt idx="3">
                  <c:v>67.5</c:v>
                </c:pt>
                <c:pt idx="4">
                  <c:v>73.4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9AED-4FE1-91BB-1B6FF585D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F7F7F"/>
                </a:solidFill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A20-4FA4-9AAF-E01F63EA660C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A20-4FA4-9AAF-E01F63EA660C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A20-4FA4-9AAF-E01F63EA660C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78.2</c:v>
                </c:pt>
                <c:pt idx="1">
                  <c:v>15.7</c:v>
                </c:pt>
                <c:pt idx="2">
                  <c:v>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20-4FA4-9AAF-E01F63EA66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7099679487179488"/>
          <c:y val="0"/>
          <c:w val="0.6290032051282051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0"/>
              <c:layout>
                <c:manualLayout>
                  <c:x val="1.6438995614147581E-2"/>
                  <c:y val="1.811887833286370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AED-4FE1-91BB-1B6FF585DB31}"/>
                </c:ext>
              </c:extLst>
            </c:dLbl>
            <c:dLbl>
              <c:idx val="1"/>
              <c:layout>
                <c:manualLayout>
                  <c:x val="1.603905375020297E-2"/>
                  <c:y val="1.753614328760391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AED-4FE1-91BB-1B6FF585DB31}"/>
                </c:ext>
              </c:extLst>
            </c:dLbl>
            <c:dLbl>
              <c:idx val="2"/>
              <c:layout>
                <c:manualLayout>
                  <c:x val="1.4134242991613019E-2"/>
                  <c:y val="1.499938523179067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AED-4FE1-91BB-1B6FF585DB31}"/>
                </c:ext>
              </c:extLst>
            </c:dLbl>
            <c:dLbl>
              <c:idx val="3"/>
              <c:layout>
                <c:manualLayout>
                  <c:x val="6.5146579804559466E-3"/>
                  <c:y val="1.647080081183930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AED-4FE1-91BB-1B6FF585DB31}"/>
                </c:ext>
              </c:extLst>
            </c:dLbl>
            <c:dLbl>
              <c:idx val="4"/>
              <c:layout>
                <c:manualLayout>
                  <c:x val="2.1715526601520086E-2"/>
                  <c:y val="2.4360549949964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F4B-4DCC-8E88-85FD54014D20}"/>
                </c:ext>
              </c:extLst>
            </c:dLbl>
            <c:dLbl>
              <c:idx val="5"/>
              <c:layout>
                <c:manualLayout>
                  <c:x val="2.1048842836013496E-2"/>
                  <c:y val="2.191030061877715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AED-4FE1-91BB-1B6FF585DB3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E20-44D6-9707-9B9CC8EAA370}"/>
                </c:ext>
              </c:extLst>
            </c:dLbl>
            <c:dLbl>
              <c:idx val="7"/>
              <c:layout>
                <c:manualLayout>
                  <c:x val="2.388707926167209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E20-44D6-9707-9B9CC8EAA370}"/>
                </c:ext>
              </c:extLst>
            </c:dLbl>
            <c:dLbl>
              <c:idx val="8"/>
              <c:layout>
                <c:manualLayout>
                  <c:x val="1.4270188703476286E-2"/>
                  <c:y val="3.678371981987748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AED-4FE1-91BB-1B6FF585DB31}"/>
                </c:ext>
              </c:extLst>
            </c:dLbl>
            <c:dLbl>
              <c:idx val="9"/>
              <c:layout>
                <c:manualLayout>
                  <c:x val="4.0764334481314017E-3"/>
                  <c:y val="2.335766208562305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AED-4FE1-91BB-1B6FF585DB3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AED-4FE1-91BB-1B6FF585DB3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D02-41C9-AEDD-8BEF434EFAC2}"/>
                </c:ext>
              </c:extLst>
            </c:dLbl>
            <c:dLbl>
              <c:idx val="13"/>
              <c:layout>
                <c:manualLayout>
                  <c:x val="1.222930034439443E-2"/>
                  <c:y val="2.3357662085622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AED-4FE1-91BB-1B6FF585DB31}"/>
                </c:ext>
              </c:extLst>
            </c:dLbl>
            <c:dLbl>
              <c:idx val="14"/>
              <c:layout>
                <c:manualLayout>
                  <c:x val="2.0387359836901123E-3"/>
                  <c:y val="-2.334777356982457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AED-4FE1-91BB-1B6FF585DB31}"/>
                </c:ext>
              </c:extLst>
            </c:dLbl>
            <c:dLbl>
              <c:idx val="17"/>
              <c:layout>
                <c:manualLayout>
                  <c:x val="6.1146491908601885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AED-4FE1-91BB-1B6FF585DB31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Masivo</c:v>
                </c:pt>
                <c:pt idx="1">
                  <c:v>Canales De Venta - Fabrice Jack Deceliere Marquez</c:v>
                </c:pt>
                <c:pt idx="2">
                  <c:v>Unidades De Negocio - Ricardo Benjamin Salinas Pliego</c:v>
                </c:pt>
                <c:pt idx="3">
                  <c:v>Empresas - Ricardo Benjamin Salinas Pliego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6.1</c:v>
                </c:pt>
                <c:pt idx="1">
                  <c:v>4.6</c:v>
                </c:pt>
                <c:pt idx="2">
                  <c:v>6.8</c:v>
                </c:pt>
                <c:pt idx="3">
                  <c:v>13.3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AED-4FE1-91BB-1B6FF585DB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8.079372814554453E-3"/>
                  <c:y val="-1.217643866790373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AED-4FE1-91BB-1B6FF585DB31}"/>
                </c:ext>
              </c:extLst>
            </c:dLbl>
            <c:dLbl>
              <c:idx val="1"/>
              <c:layout>
                <c:manualLayout>
                  <c:x val="9.5806509528327706E-3"/>
                  <c:y val="-1.245821542283676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AED-4FE1-91BB-1B6FF585DB31}"/>
                </c:ext>
              </c:extLst>
            </c:dLbl>
            <c:dLbl>
              <c:idx val="2"/>
              <c:layout>
                <c:manualLayout>
                  <c:x val="1.9869364863594006E-2"/>
                  <c:y val="-1.7912676827381631E-2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AED-4FE1-91BB-1B6FF585DB31}"/>
                </c:ext>
              </c:extLst>
            </c:dLbl>
            <c:dLbl>
              <c:idx val="3"/>
              <c:layout>
                <c:manualLayout>
                  <c:x val="1.6552360922311261E-2"/>
                  <c:y val="-6.14173581770022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AED-4FE1-91BB-1B6FF585DB31}"/>
                </c:ext>
              </c:extLst>
            </c:dLbl>
            <c:dLbl>
              <c:idx val="5"/>
              <c:layout>
                <c:manualLayout>
                  <c:x val="2.8230184581976112E-2"/>
                  <c:y val="-2.52117156752189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E20-44D6-9707-9B9CC8EAA370}"/>
                </c:ext>
              </c:extLst>
            </c:dLbl>
            <c:dLbl>
              <c:idx val="6"/>
              <c:layout>
                <c:manualLayout>
                  <c:x val="1.5200868621064061E-2"/>
                  <c:y val="-2.35031353178659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E20-44D6-9707-9B9CC8EAA370}"/>
                </c:ext>
              </c:extLst>
            </c:dLbl>
            <c:dLbl>
              <c:idx val="7"/>
              <c:layout>
                <c:manualLayout>
                  <c:x val="5.6460369163952223E-2"/>
                  <c:y val="1.9853307887990443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E20-44D6-9707-9B9CC8EAA370}"/>
                </c:ext>
              </c:extLst>
            </c:dLbl>
            <c:dLbl>
              <c:idx val="8"/>
              <c:layout>
                <c:manualLayout>
                  <c:x val="3.4744842562432141E-2"/>
                  <c:y val="-2.521370100600681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E20-44D6-9707-9B9CC8EAA37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D02-41C9-AEDD-8BEF434EFA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D02-41C9-AEDD-8BEF434EFAC2}"/>
                </c:ext>
              </c:extLst>
            </c:dLbl>
            <c:dLbl>
              <c:idx val="14"/>
              <c:layout>
                <c:manualLayout>
                  <c:x val="3.669724770642202E-2"/>
                  <c:y val="-4.671532417124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9AED-4FE1-91BB-1B6FF585DB31}"/>
                </c:ext>
              </c:extLst>
            </c:dLbl>
            <c:dLbl>
              <c:idx val="15"/>
              <c:layout>
                <c:manualLayout>
                  <c:x val="2.258469259723966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9AED-4FE1-91BB-1B6FF585DB31}"/>
                </c:ext>
              </c:extLst>
            </c:dLbl>
            <c:dLbl>
              <c:idx val="17"/>
              <c:layout>
                <c:manualLayout>
                  <c:x val="1.8343947572580566E-2"/>
                  <c:y val="1.7128757473588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9AED-4FE1-91BB-1B6FF585DB3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Masivo</c:v>
                </c:pt>
                <c:pt idx="1">
                  <c:v>Canales De Venta - Fabrice Jack Deceliere Marquez</c:v>
                </c:pt>
                <c:pt idx="2">
                  <c:v>Unidades De Negocio - Ricardo Benjamin Salinas Pliego</c:v>
                </c:pt>
                <c:pt idx="3">
                  <c:v>Empresas - Ricardo Benjamin Salinas Pliego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15.7</c:v>
                </c:pt>
                <c:pt idx="1">
                  <c:v>14.6</c:v>
                </c:pt>
                <c:pt idx="2">
                  <c:v>14.3</c:v>
                </c:pt>
                <c:pt idx="3">
                  <c:v>24.7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9AED-4FE1-91BB-1B6FF585DB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5B-4045-8523-879E73F412C2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4D5B-4045-8523-879E73F412C2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AE20-44D6-9707-9B9CC8EAA370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7-4D5B-4045-8523-879E73F412C2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8-4D5B-4045-8523-879E73F412C2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9-4D5B-4045-8523-879E73F412C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6-9AED-4FE1-91BB-1B6FF585DB31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9AED-4FE1-91BB-1B6FF585DB31}"/>
              </c:ext>
            </c:extLst>
          </c:dPt>
          <c:dLbls>
            <c:dLbl>
              <c:idx val="9"/>
              <c:layout>
                <c:manualLayout>
                  <c:x val="6.2975027144408099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5B-4045-8523-879E73F412C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D5B-4045-8523-879E73F412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20-44D6-9707-9B9CC8EAA37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5B-4045-8523-879E73F412C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D5B-4045-8523-879E73F412C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5B-4045-8523-879E73F412C2}"/>
                </c:ext>
              </c:extLst>
            </c:dLbl>
            <c:dLbl>
              <c:idx val="15"/>
              <c:spPr>
                <a:solidFill>
                  <a:srgbClr val="00B050"/>
                </a:solidFill>
                <a:ln w="24536">
                  <a:noFill/>
                </a:ln>
              </c:spPr>
              <c:txPr>
                <a:bodyPr/>
                <a:lstStyle/>
                <a:p>
                  <a:pPr>
                    <a:defRPr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AED-4FE1-91BB-1B6FF585DB3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Masivo</c:v>
                </c:pt>
                <c:pt idx="1">
                  <c:v>Canales De Venta - Fabrice Jack Deceliere Marquez</c:v>
                </c:pt>
                <c:pt idx="2">
                  <c:v>Unidades De Negocio - Ricardo Benjamin Salinas Pliego</c:v>
                </c:pt>
                <c:pt idx="3">
                  <c:v>Empresas - Ricardo Benjamin Salinas Pliego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78.2</c:v>
                </c:pt>
                <c:pt idx="1">
                  <c:v>80.8</c:v>
                </c:pt>
                <c:pt idx="2">
                  <c:v>79.0</c:v>
                </c:pt>
                <c:pt idx="3">
                  <c:v>62.1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9AED-4FE1-91BB-1B6FF585D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B4E-4F73-AD36-BA2D9DCFB078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B4E-4F73-AD36-BA2D9DCFB078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B4E-4F73-AD36-BA2D9DCFB078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80.8</c:v>
                </c:pt>
                <c:pt idx="1">
                  <c:v>14.6</c:v>
                </c:pt>
                <c:pt idx="2">
                  <c:v>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B4E-4F73-AD36-BA2D9DCFB0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6475017582732011"/>
          <c:y val="0"/>
          <c:w val="0.63524982417267994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0"/>
              <c:layout>
                <c:manualLayout>
                  <c:x val="1.6438995614147581E-2"/>
                  <c:y val="1.811887833286370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AED-4FE1-91BB-1B6FF585DB31}"/>
                </c:ext>
              </c:extLst>
            </c:dLbl>
            <c:dLbl>
              <c:idx val="1"/>
              <c:layout>
                <c:manualLayout>
                  <c:x val="1.603905375020297E-2"/>
                  <c:y val="1.753614328760391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AED-4FE1-91BB-1B6FF585DB31}"/>
                </c:ext>
              </c:extLst>
            </c:dLbl>
            <c:dLbl>
              <c:idx val="2"/>
              <c:layout>
                <c:manualLayout>
                  <c:x val="1.4134242991613019E-2"/>
                  <c:y val="1.499938523179067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AED-4FE1-91BB-1B6FF585DB31}"/>
                </c:ext>
              </c:extLst>
            </c:dLbl>
            <c:dLbl>
              <c:idx val="3"/>
              <c:layout>
                <c:manualLayout>
                  <c:x val="1.737242128121599E-2"/>
                  <c:y val="1.890704762218973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AED-4FE1-91BB-1B6FF585DB31}"/>
                </c:ext>
              </c:extLst>
            </c:dLbl>
            <c:dLbl>
              <c:idx val="4"/>
              <c:layout>
                <c:manualLayout>
                  <c:x val="2.1715526601520086E-2"/>
                  <c:y val="2.4360549949964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F4B-4DCC-8E88-85FD54014D20}"/>
                </c:ext>
              </c:extLst>
            </c:dLbl>
            <c:dLbl>
              <c:idx val="5"/>
              <c:layout>
                <c:manualLayout>
                  <c:x val="2.1048842836013496E-2"/>
                  <c:y val="2.191030061877715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AED-4FE1-91BB-1B6FF585DB3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E20-44D6-9707-9B9CC8EAA370}"/>
                </c:ext>
              </c:extLst>
            </c:dLbl>
            <c:dLbl>
              <c:idx val="7"/>
              <c:layout>
                <c:manualLayout>
                  <c:x val="2.388707926167209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E20-44D6-9707-9B9CC8EAA370}"/>
                </c:ext>
              </c:extLst>
            </c:dLbl>
            <c:dLbl>
              <c:idx val="8"/>
              <c:layout>
                <c:manualLayout>
                  <c:x val="1.4270188703476286E-2"/>
                  <c:y val="3.678371981987748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AED-4FE1-91BB-1B6FF585DB31}"/>
                </c:ext>
              </c:extLst>
            </c:dLbl>
            <c:dLbl>
              <c:idx val="9"/>
              <c:layout>
                <c:manualLayout>
                  <c:x val="4.0764334481314017E-3"/>
                  <c:y val="2.335766208562305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AED-4FE1-91BB-1B6FF585DB3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AED-4FE1-91BB-1B6FF585DB3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D02-41C9-AEDD-8BEF434EFAC2}"/>
                </c:ext>
              </c:extLst>
            </c:dLbl>
            <c:dLbl>
              <c:idx val="13"/>
              <c:layout>
                <c:manualLayout>
                  <c:x val="1.222930034439443E-2"/>
                  <c:y val="2.3357662085622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AED-4FE1-91BB-1B6FF585DB31}"/>
                </c:ext>
              </c:extLst>
            </c:dLbl>
            <c:dLbl>
              <c:idx val="14"/>
              <c:layout>
                <c:manualLayout>
                  <c:x val="2.0387359836901123E-3"/>
                  <c:y val="-2.334777356982457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AED-4FE1-91BB-1B6FF585DB31}"/>
                </c:ext>
              </c:extLst>
            </c:dLbl>
            <c:dLbl>
              <c:idx val="17"/>
              <c:layout>
                <c:manualLayout>
                  <c:x val="6.1146491908601885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AED-4FE1-91BB-1B6FF585DB31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Grupo Elektra
México
Sector Mercado Masivo
Canales de Venta</c:v>
                </c:pt>
                <c:pt idx="1">
                  <c:v>Canales Físicos - Fabrice Jack Deceliere Marquez</c:v>
                </c:pt>
                <c:pt idx="2">
                  <c:v>Canales Digitales - Juan Carlos Arroyo Torres</c:v>
                </c:pt>
                <c:pt idx="3">
                  <c:v>Mercadotecnia E Identidad - Elena Alti Ortiz</c:v>
                </c:pt>
                <c:pt idx="4">
                  <c:v>Sin Etiqueta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4.6</c:v>
                </c:pt>
                <c:pt idx="1">
                  <c:v>4.6</c:v>
                </c:pt>
                <c:pt idx="2">
                  <c:v>5.5</c:v>
                </c:pt>
                <c:pt idx="3">
                  <c:v>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AED-4FE1-91BB-1B6FF585DB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8.079372814554453E-3"/>
                  <c:y val="-1.217643866790373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AED-4FE1-91BB-1B6FF585DB31}"/>
                </c:ext>
              </c:extLst>
            </c:dLbl>
            <c:dLbl>
              <c:idx val="1"/>
              <c:layout>
                <c:manualLayout>
                  <c:x val="9.5806509528327706E-3"/>
                  <c:y val="-1.245821542283676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AED-4FE1-91BB-1B6FF585DB31}"/>
                </c:ext>
              </c:extLst>
            </c:dLbl>
            <c:dLbl>
              <c:idx val="2"/>
              <c:layout>
                <c:manualLayout>
                  <c:x val="1.9869364863594006E-2"/>
                  <c:y val="-1.7912676827381631E-2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AED-4FE1-91BB-1B6FF585DB31}"/>
                </c:ext>
              </c:extLst>
            </c:dLbl>
            <c:dLbl>
              <c:idx val="3"/>
              <c:layout>
                <c:manualLayout>
                  <c:x val="1.6552360922311261E-2"/>
                  <c:y val="-6.14173581770022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AED-4FE1-91BB-1B6FF585DB31}"/>
                </c:ext>
              </c:extLst>
            </c:dLbl>
            <c:dLbl>
              <c:idx val="5"/>
              <c:layout>
                <c:manualLayout>
                  <c:x val="2.8230184581976112E-2"/>
                  <c:y val="-2.52117156752189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E20-44D6-9707-9B9CC8EAA370}"/>
                </c:ext>
              </c:extLst>
            </c:dLbl>
            <c:dLbl>
              <c:idx val="6"/>
              <c:layout>
                <c:manualLayout>
                  <c:x val="1.5200868621064061E-2"/>
                  <c:y val="-2.35031353178659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E20-44D6-9707-9B9CC8EAA370}"/>
                </c:ext>
              </c:extLst>
            </c:dLbl>
            <c:dLbl>
              <c:idx val="7"/>
              <c:layout>
                <c:manualLayout>
                  <c:x val="5.6460369163952223E-2"/>
                  <c:y val="1.9853307887990443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E20-44D6-9707-9B9CC8EAA370}"/>
                </c:ext>
              </c:extLst>
            </c:dLbl>
            <c:dLbl>
              <c:idx val="8"/>
              <c:layout>
                <c:manualLayout>
                  <c:x val="3.4744842562432141E-2"/>
                  <c:y val="-2.521370100600681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E20-44D6-9707-9B9CC8EAA37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D02-41C9-AEDD-8BEF434EFA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D02-41C9-AEDD-8BEF434EFAC2}"/>
                </c:ext>
              </c:extLst>
            </c:dLbl>
            <c:dLbl>
              <c:idx val="14"/>
              <c:layout>
                <c:manualLayout>
                  <c:x val="3.669724770642202E-2"/>
                  <c:y val="-4.671532417124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9AED-4FE1-91BB-1B6FF585DB31}"/>
                </c:ext>
              </c:extLst>
            </c:dLbl>
            <c:dLbl>
              <c:idx val="15"/>
              <c:layout>
                <c:manualLayout>
                  <c:x val="2.258469259723966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9AED-4FE1-91BB-1B6FF585DB31}"/>
                </c:ext>
              </c:extLst>
            </c:dLbl>
            <c:dLbl>
              <c:idx val="17"/>
              <c:layout>
                <c:manualLayout>
                  <c:x val="1.8343947572580566E-2"/>
                  <c:y val="1.7128757473588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9AED-4FE1-91BB-1B6FF585DB3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Grupo Elektra
México
Sector Mercado Masivo
Canales de Venta</c:v>
                </c:pt>
                <c:pt idx="1">
                  <c:v>Canales Físicos - Fabrice Jack Deceliere Marquez</c:v>
                </c:pt>
                <c:pt idx="2">
                  <c:v>Canales Digitales - Juan Carlos Arroyo Torres</c:v>
                </c:pt>
                <c:pt idx="3">
                  <c:v>Mercadotecnia E Identidad - Elena Alti Ortiz</c:v>
                </c:pt>
                <c:pt idx="4">
                  <c:v>Sin Etiqueta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14.6</c:v>
                </c:pt>
                <c:pt idx="1">
                  <c:v>14.5</c:v>
                </c:pt>
                <c:pt idx="2">
                  <c:v>26.7</c:v>
                </c:pt>
                <c:pt idx="3">
                  <c:v>16.1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9AED-4FE1-91BB-1B6FF585DB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E-66D8-45FB-8C09-E5DCBA7097C6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5B-4045-8523-879E73F412C2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4D5B-4045-8523-879E73F412C2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AE20-44D6-9707-9B9CC8EAA370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7-4D5B-4045-8523-879E73F412C2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8-4D5B-4045-8523-879E73F412C2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9-4D5B-4045-8523-879E73F412C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6-9AED-4FE1-91BB-1B6FF585DB31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9AED-4FE1-91BB-1B6FF585DB31}"/>
              </c:ext>
            </c:extLst>
          </c:dPt>
          <c:dLbls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66D8-45FB-8C09-E5DCBA7097C6}"/>
                </c:ext>
              </c:extLst>
            </c:dLbl>
            <c:dLbl>
              <c:idx val="9"/>
              <c:layout>
                <c:manualLayout>
                  <c:x val="6.2975027144408099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5B-4045-8523-879E73F412C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D5B-4045-8523-879E73F412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20-44D6-9707-9B9CC8EAA37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5B-4045-8523-879E73F412C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D5B-4045-8523-879E73F412C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5B-4045-8523-879E73F412C2}"/>
                </c:ext>
              </c:extLst>
            </c:dLbl>
            <c:dLbl>
              <c:idx val="15"/>
              <c:spPr>
                <a:solidFill>
                  <a:srgbClr val="00B050"/>
                </a:solidFill>
                <a:ln w="24536">
                  <a:noFill/>
                </a:ln>
              </c:spPr>
              <c:txPr>
                <a:bodyPr/>
                <a:lstStyle/>
                <a:p>
                  <a:pPr>
                    <a:defRPr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AED-4FE1-91BB-1B6FF585DB3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Grupo Elektra
México
Sector Mercado Masivo
Canales de Venta</c:v>
                </c:pt>
                <c:pt idx="1">
                  <c:v>Canales Físicos - Fabrice Jack Deceliere Marquez</c:v>
                </c:pt>
                <c:pt idx="2">
                  <c:v>Canales Digitales - Juan Carlos Arroyo Torres</c:v>
                </c:pt>
                <c:pt idx="3">
                  <c:v>Mercadotecnia E Identidad - Elena Alti Ortiz</c:v>
                </c:pt>
                <c:pt idx="4">
                  <c:v>Sin Etiqueta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80.8</c:v>
                </c:pt>
                <c:pt idx="1">
                  <c:v>80.9</c:v>
                </c:pt>
                <c:pt idx="2">
                  <c:v>67.8</c:v>
                </c:pt>
                <c:pt idx="3">
                  <c:v>81.0</c:v>
                </c:pt>
                <c:pt idx="4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9AED-4FE1-91BB-1B6FF585D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382-438D-B11B-3DA677BC4952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382-438D-B11B-3DA677BC4952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382-438D-B11B-3DA677BC4952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67.8</c:v>
                </c:pt>
                <c:pt idx="1">
                  <c:v>26.7</c:v>
                </c:pt>
                <c:pt idx="2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382-438D-B11B-3DA677BC49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3182924905974337"/>
          <c:y val="0"/>
          <c:w val="0.6681707509402565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0"/>
              <c:layout>
                <c:manualLayout>
                  <c:x val="1.6438995614147581E-2"/>
                  <c:y val="1.811887833286370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AED-4FE1-91BB-1B6FF585DB31}"/>
                </c:ext>
              </c:extLst>
            </c:dLbl>
            <c:dLbl>
              <c:idx val="1"/>
              <c:layout>
                <c:manualLayout>
                  <c:x val="1.603905375020297E-2"/>
                  <c:y val="1.753614328760391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AED-4FE1-91BB-1B6FF585DB31}"/>
                </c:ext>
              </c:extLst>
            </c:dLbl>
            <c:dLbl>
              <c:idx val="2"/>
              <c:layout>
                <c:manualLayout>
                  <c:x val="2.9150231899685651E-2"/>
                  <c:y val="6.372086876242852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AED-4FE1-91BB-1B6FF585DB31}"/>
                </c:ext>
              </c:extLst>
            </c:dLbl>
            <c:dLbl>
              <c:idx val="3"/>
              <c:layout>
                <c:manualLayout>
                  <c:x val="6.5146579804559466E-3"/>
                  <c:y val="1.647080081183930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AED-4FE1-91BB-1B6FF585DB31}"/>
                </c:ext>
              </c:extLst>
            </c:dLbl>
            <c:dLbl>
              <c:idx val="4"/>
              <c:layout>
                <c:manualLayout>
                  <c:x val="2.1715526601520086E-2"/>
                  <c:y val="2.4360549949964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F4B-4DCC-8E88-85FD54014D20}"/>
                </c:ext>
              </c:extLst>
            </c:dLbl>
            <c:dLbl>
              <c:idx val="5"/>
              <c:layout>
                <c:manualLayout>
                  <c:x val="2.1048842836013496E-2"/>
                  <c:y val="2.191030061877715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AED-4FE1-91BB-1B6FF585DB3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E20-44D6-9707-9B9CC8EAA370}"/>
                </c:ext>
              </c:extLst>
            </c:dLbl>
            <c:dLbl>
              <c:idx val="7"/>
              <c:layout>
                <c:manualLayout>
                  <c:x val="2.388707926167209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E20-44D6-9707-9B9CC8EAA370}"/>
                </c:ext>
              </c:extLst>
            </c:dLbl>
            <c:dLbl>
              <c:idx val="8"/>
              <c:layout>
                <c:manualLayout>
                  <c:x val="1.4270188703476286E-2"/>
                  <c:y val="3.678371981987748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AED-4FE1-91BB-1B6FF585DB31}"/>
                </c:ext>
              </c:extLst>
            </c:dLbl>
            <c:dLbl>
              <c:idx val="9"/>
              <c:layout>
                <c:manualLayout>
                  <c:x val="4.0764334481314017E-3"/>
                  <c:y val="2.335766208562305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AED-4FE1-91BB-1B6FF585DB3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AED-4FE1-91BB-1B6FF585DB3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D02-41C9-AEDD-8BEF434EFAC2}"/>
                </c:ext>
              </c:extLst>
            </c:dLbl>
            <c:dLbl>
              <c:idx val="13"/>
              <c:layout>
                <c:manualLayout>
                  <c:x val="1.222930034439443E-2"/>
                  <c:y val="2.3357662085622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AED-4FE1-91BB-1B6FF585DB31}"/>
                </c:ext>
              </c:extLst>
            </c:dLbl>
            <c:dLbl>
              <c:idx val="14"/>
              <c:layout>
                <c:manualLayout>
                  <c:x val="2.0387359836901123E-3"/>
                  <c:y val="-2.334777356982457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AED-4FE1-91BB-1B6FF585DB31}"/>
                </c:ext>
              </c:extLst>
            </c:dLbl>
            <c:dLbl>
              <c:idx val="17"/>
              <c:layout>
                <c:manualLayout>
                  <c:x val="6.1146491908601885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AED-4FE1-91BB-1B6FF585DB31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Grupo Elektra
México
Sector Mercado Masivo
Canales de Venta
Canales Digitales</c:v>
                </c:pt>
                <c:pt idx="1">
                  <c:v>Banca Digital / Shopinbaz - Juan Carlos Arroyo Torres</c:v>
                </c:pt>
                <c:pt idx="2">
                  <c:v>Mega Elektra Digital - Sin Responsable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5.5</c:v>
                </c:pt>
                <c:pt idx="1">
                  <c:v>6.4</c:v>
                </c:pt>
                <c:pt idx="2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AED-4FE1-91BB-1B6FF585DB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8.079372814554453E-3"/>
                  <c:y val="-1.217643866790373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AED-4FE1-91BB-1B6FF585DB31}"/>
                </c:ext>
              </c:extLst>
            </c:dLbl>
            <c:dLbl>
              <c:idx val="1"/>
              <c:layout>
                <c:manualLayout>
                  <c:x val="9.5806509528327706E-3"/>
                  <c:y val="-1.245821542283676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AED-4FE1-91BB-1B6FF585DB31}"/>
                </c:ext>
              </c:extLst>
            </c:dLbl>
            <c:dLbl>
              <c:idx val="2"/>
              <c:layout>
                <c:manualLayout>
                  <c:x val="1.9869364863594006E-2"/>
                  <c:y val="-1.7912676827381631E-2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AED-4FE1-91BB-1B6FF585DB31}"/>
                </c:ext>
              </c:extLst>
            </c:dLbl>
            <c:dLbl>
              <c:idx val="3"/>
              <c:layout>
                <c:manualLayout>
                  <c:x val="1.6552360922311261E-2"/>
                  <c:y val="-6.14173581770022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AED-4FE1-91BB-1B6FF585DB31}"/>
                </c:ext>
              </c:extLst>
            </c:dLbl>
            <c:dLbl>
              <c:idx val="5"/>
              <c:layout>
                <c:manualLayout>
                  <c:x val="2.8230184581976112E-2"/>
                  <c:y val="-2.52117156752189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E20-44D6-9707-9B9CC8EAA370}"/>
                </c:ext>
              </c:extLst>
            </c:dLbl>
            <c:dLbl>
              <c:idx val="6"/>
              <c:layout>
                <c:manualLayout>
                  <c:x val="1.5200868621064061E-2"/>
                  <c:y val="-2.35031353178659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E20-44D6-9707-9B9CC8EAA370}"/>
                </c:ext>
              </c:extLst>
            </c:dLbl>
            <c:dLbl>
              <c:idx val="7"/>
              <c:layout>
                <c:manualLayout>
                  <c:x val="5.6460369163952223E-2"/>
                  <c:y val="1.9853307887990443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E20-44D6-9707-9B9CC8EAA370}"/>
                </c:ext>
              </c:extLst>
            </c:dLbl>
            <c:dLbl>
              <c:idx val="8"/>
              <c:layout>
                <c:manualLayout>
                  <c:x val="3.4744842562432141E-2"/>
                  <c:y val="-2.521370100600681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E20-44D6-9707-9B9CC8EAA37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D02-41C9-AEDD-8BEF434EFA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D02-41C9-AEDD-8BEF434EFAC2}"/>
                </c:ext>
              </c:extLst>
            </c:dLbl>
            <c:dLbl>
              <c:idx val="14"/>
              <c:layout>
                <c:manualLayout>
                  <c:x val="3.669724770642202E-2"/>
                  <c:y val="-4.671532417124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9AED-4FE1-91BB-1B6FF585DB31}"/>
                </c:ext>
              </c:extLst>
            </c:dLbl>
            <c:dLbl>
              <c:idx val="15"/>
              <c:layout>
                <c:manualLayout>
                  <c:x val="2.258469259723966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9AED-4FE1-91BB-1B6FF585DB31}"/>
                </c:ext>
              </c:extLst>
            </c:dLbl>
            <c:dLbl>
              <c:idx val="17"/>
              <c:layout>
                <c:manualLayout>
                  <c:x val="1.8343947572580566E-2"/>
                  <c:y val="1.7128757473588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9AED-4FE1-91BB-1B6FF585DB3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Grupo Elektra
México
Sector Mercado Masivo
Canales de Venta
Canales Digitales</c:v>
                </c:pt>
                <c:pt idx="1">
                  <c:v>Banca Digital / Shopinbaz - Juan Carlos Arroyo Torres</c:v>
                </c:pt>
                <c:pt idx="2">
                  <c:v>Mega Elektra Digital - Sin Responsable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26.7</c:v>
                </c:pt>
                <c:pt idx="1">
                  <c:v>27.4</c:v>
                </c:pt>
                <c:pt idx="2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9AED-4FE1-91BB-1B6FF585DB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5B-4045-8523-879E73F412C2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4D5B-4045-8523-879E73F412C2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AE20-44D6-9707-9B9CC8EAA370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7-4D5B-4045-8523-879E73F412C2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8-4D5B-4045-8523-879E73F412C2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9-4D5B-4045-8523-879E73F412C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6-9AED-4FE1-91BB-1B6FF585DB31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9AED-4FE1-91BB-1B6FF585DB31}"/>
              </c:ext>
            </c:extLst>
          </c:dPt>
          <c:dLbls>
            <c:dLbl>
              <c:idx val="9"/>
              <c:layout>
                <c:manualLayout>
                  <c:x val="6.2975027144408099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5B-4045-8523-879E73F412C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D5B-4045-8523-879E73F412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20-44D6-9707-9B9CC8EAA37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5B-4045-8523-879E73F412C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D5B-4045-8523-879E73F412C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5B-4045-8523-879E73F412C2}"/>
                </c:ext>
              </c:extLst>
            </c:dLbl>
            <c:dLbl>
              <c:idx val="15"/>
              <c:spPr>
                <a:solidFill>
                  <a:srgbClr val="00B050"/>
                </a:solidFill>
                <a:ln w="24536">
                  <a:noFill/>
                </a:ln>
              </c:spPr>
              <c:txPr>
                <a:bodyPr/>
                <a:lstStyle/>
                <a:p>
                  <a:pPr>
                    <a:defRPr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AED-4FE1-91BB-1B6FF585DB3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Grupo Elektra
México
Sector Mercado Masivo
Canales de Venta
Canales Digitales</c:v>
                </c:pt>
                <c:pt idx="1">
                  <c:v>Banca Digital / Shopinbaz - Juan Carlos Arroyo Torres</c:v>
                </c:pt>
                <c:pt idx="2">
                  <c:v>Mega Elektra Digital - Sin Responsable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67.8</c:v>
                </c:pt>
                <c:pt idx="1">
                  <c:v>66.2</c:v>
                </c:pt>
                <c:pt idx="2">
                  <c:v>75.0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9AED-4FE1-91BB-1B6FF585D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2B5-4C30-98F0-CF22A85CE6ED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2B5-4C30-98F0-CF22A85CE6ED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2B5-4C30-98F0-CF22A85CE6ED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62.1</c:v>
                </c:pt>
                <c:pt idx="1">
                  <c:v>24.7</c:v>
                </c:pt>
                <c:pt idx="2">
                  <c:v>13.3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2B5-4C30-98F0-CF22A85CE6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51055723603266756"/>
          <c:y val="0"/>
          <c:w val="0.4894427639673372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5"/>
              <c:spPr>
                <a:noFill/>
                <a:ln w="24625">
                  <a:noFill/>
                </a:ln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9AED-4FE1-91BB-1B6FF585DB3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E20-44D6-9707-9B9CC8EAA37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AED-4FE1-91BB-1B6FF585DB3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D02-41C9-AEDD-8BEF434EFAC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AED-4FE1-91BB-1B6FF585DB31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Grupo Elektra
México
Sector Mercado Masivo
Empresas</c:v>
                </c:pt>
                <c:pt idx="1">
                  <c:v>Gs Motos Global - Dirk Karlheinz Biehler</c:v>
                </c:pt>
                <c:pt idx="2">
                  <c:v>Baz Entregas - Juan Arevalo Carranza</c:v>
                </c:pt>
                <c:pt idx="3">
                  <c:v>Presta Prenda - Sergio Antonio Franklin Raimond Kedilhac Viesca</c:v>
                </c:pt>
                <c:pt idx="4">
                  <c:v>Afore - Francisco Tonatiuh Rodriguez Gomez</c:v>
                </c:pt>
                <c:pt idx="5">
                  <c:v>Seguros - Francisco Tonatiuh Rodriguez Gomez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13.3</c:v>
                </c:pt>
                <c:pt idx="1">
                  <c:v>13.1</c:v>
                </c:pt>
                <c:pt idx="2">
                  <c:v>14.5</c:v>
                </c:pt>
                <c:pt idx="3">
                  <c:v>11.2</c:v>
                </c:pt>
                <c:pt idx="5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AED-4FE1-91BB-1B6FF585DB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9AED-4FE1-91BB-1B6FF585DB31}"/>
                </c:ext>
              </c:extLst>
            </c:dLbl>
            <c:dLbl>
              <c:idx val="5"/>
              <c:layout>
                <c:manualLayout>
                  <c:x val="3.6909569260890777E-2"/>
                  <c:y val="1.8824411723015347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E20-44D6-9707-9B9CC8EAA37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D02-41C9-AEDD-8BEF434EFA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D02-41C9-AEDD-8BEF434EFAC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9AED-4FE1-91BB-1B6FF585DB3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Grupo Elektra
México
Sector Mercado Masivo
Empresas</c:v>
                </c:pt>
                <c:pt idx="1">
                  <c:v>Gs Motos Global - Dirk Karlheinz Biehler</c:v>
                </c:pt>
                <c:pt idx="2">
                  <c:v>Baz Entregas - Juan Arevalo Carranza</c:v>
                </c:pt>
                <c:pt idx="3">
                  <c:v>Presta Prenda - Sergio Antonio Franklin Raimond Kedilhac Viesca</c:v>
                </c:pt>
                <c:pt idx="4">
                  <c:v>Afore - Francisco Tonatiuh Rodriguez Gomez</c:v>
                </c:pt>
                <c:pt idx="5">
                  <c:v>Seguros - Francisco Tonatiuh Rodriguez Gomez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24.7</c:v>
                </c:pt>
                <c:pt idx="1">
                  <c:v>25.9</c:v>
                </c:pt>
                <c:pt idx="2">
                  <c:v>23.1</c:v>
                </c:pt>
                <c:pt idx="3">
                  <c:v>21.2</c:v>
                </c:pt>
                <c:pt idx="4">
                  <c:v>10.1</c:v>
                </c:pt>
                <c:pt idx="5">
                  <c:v>23.6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9AED-4FE1-91BB-1B6FF585DB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E-36A4-4232-B378-71629DFE24B8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5B-4045-8523-879E73F412C2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4D5B-4045-8523-879E73F412C2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AE20-44D6-9707-9B9CC8EAA370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7-4D5B-4045-8523-879E73F412C2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8-4D5B-4045-8523-879E73F412C2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9-4D5B-4045-8523-879E73F412C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6-9AED-4FE1-91BB-1B6FF585DB31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9AED-4FE1-91BB-1B6FF585DB31}"/>
              </c:ext>
            </c:extLst>
          </c:dPt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6A4-4232-B378-71629DFE24B8}"/>
                </c:ext>
              </c:extLst>
            </c:dLbl>
            <c:dLbl>
              <c:idx val="9"/>
              <c:layout>
                <c:manualLayout>
                  <c:x val="6.2975027144408099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5B-4045-8523-879E73F412C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D5B-4045-8523-879E73F412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20-44D6-9707-9B9CC8EAA37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5B-4045-8523-879E73F412C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D5B-4045-8523-879E73F412C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5B-4045-8523-879E73F412C2}"/>
                </c:ext>
              </c:extLst>
            </c:dLbl>
            <c:dLbl>
              <c:idx val="15"/>
              <c:spPr>
                <a:solidFill>
                  <a:srgbClr val="00B050"/>
                </a:solidFill>
                <a:ln w="24536">
                  <a:noFill/>
                </a:ln>
              </c:spPr>
              <c:txPr>
                <a:bodyPr/>
                <a:lstStyle/>
                <a:p>
                  <a:pPr>
                    <a:defRPr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AED-4FE1-91BB-1B6FF585DB3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Grupo Elektra
México
Sector Mercado Masivo
Empresas</c:v>
                </c:pt>
                <c:pt idx="1">
                  <c:v>Gs Motos Global - Dirk Karlheinz Biehler</c:v>
                </c:pt>
                <c:pt idx="2">
                  <c:v>Baz Entregas - Juan Arevalo Carranza</c:v>
                </c:pt>
                <c:pt idx="3">
                  <c:v>Presta Prenda - Sergio Antonio Franklin Raimond Kedilhac Viesca</c:v>
                </c:pt>
                <c:pt idx="4">
                  <c:v>Afore - Francisco Tonatiuh Rodriguez Gomez</c:v>
                </c:pt>
                <c:pt idx="5">
                  <c:v>Seguros - Francisco Tonatiuh Rodriguez Gomez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62.1</c:v>
                </c:pt>
                <c:pt idx="1">
                  <c:v>61.0</c:v>
                </c:pt>
                <c:pt idx="2">
                  <c:v>62.4</c:v>
                </c:pt>
                <c:pt idx="3">
                  <c:v>67.5</c:v>
                </c:pt>
                <c:pt idx="4">
                  <c:v>89.9</c:v>
                </c:pt>
                <c:pt idx="5">
                  <c:v>75.0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9AED-4FE1-91BB-1B6FF585D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787-404B-BF4C-AB5DC8AFF6E6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787-404B-BF4C-AB5DC8AFF6E6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787-404B-BF4C-AB5DC8AFF6E6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79.0</c:v>
                </c:pt>
                <c:pt idx="1">
                  <c:v>14.3</c:v>
                </c:pt>
                <c:pt idx="2">
                  <c:v>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787-404B-BF4C-AB5DC8AFF6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51055723603266756"/>
          <c:y val="0"/>
          <c:w val="0.4894427639673372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5"/>
              <c:spPr>
                <a:noFill/>
                <a:ln w="24625">
                  <a:noFill/>
                </a:ln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63C1-407E-9ADF-55E796663AA2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C1-407E-9ADF-55E796663AA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3C1-407E-9ADF-55E796663AA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3C1-407E-9ADF-55E796663AA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3C1-407E-9ADF-55E796663AA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3C1-407E-9ADF-55E796663AA2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Masivo
Unidades de Negocio</c:v>
                </c:pt>
                <c:pt idx="1">
                  <c:v>Préstamos Y Cobranza - Alberto Tanus Schwarz</c:v>
                </c:pt>
                <c:pt idx="2">
                  <c:v>Negocios De Comisión Sector Masivo - Carlos Francisco Diaz Alonso</c:v>
                </c:pt>
                <c:pt idx="3">
                  <c:v>Afiliación / Captación - Francisco Tonatiuh Rodriguez Gomez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6.8</c:v>
                </c:pt>
                <c:pt idx="1">
                  <c:v>6.8</c:v>
                </c:pt>
                <c:pt idx="2">
                  <c:v>2.9</c:v>
                </c:pt>
                <c:pt idx="3">
                  <c:v>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3C1-407E-9ADF-55E796663A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63C1-407E-9ADF-55E796663AA2}"/>
                </c:ext>
              </c:extLst>
            </c:dLbl>
            <c:dLbl>
              <c:idx val="5"/>
              <c:layout>
                <c:manualLayout>
                  <c:x val="3.6909569260890777E-2"/>
                  <c:y val="1.8824411723015347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3C1-407E-9ADF-55E796663AA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3C1-407E-9ADF-55E796663AA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3C1-407E-9ADF-55E796663AA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3C1-407E-9ADF-55E796663AA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3C1-407E-9ADF-55E796663AA2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Masivo
Unidades de Negocio</c:v>
                </c:pt>
                <c:pt idx="1">
                  <c:v>Préstamos Y Cobranza - Alberto Tanus Schwarz</c:v>
                </c:pt>
                <c:pt idx="2">
                  <c:v>Negocios De Comisión Sector Masivo - Carlos Francisco Diaz Alonso</c:v>
                </c:pt>
                <c:pt idx="3">
                  <c:v>Afiliación / Captación - Francisco Tonatiuh Rodriguez Gomez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14.3</c:v>
                </c:pt>
                <c:pt idx="1">
                  <c:v>14.2</c:v>
                </c:pt>
                <c:pt idx="2">
                  <c:v>21.3</c:v>
                </c:pt>
                <c:pt idx="3">
                  <c:v>20.2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63C1-407E-9ADF-55E796663A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F-63C1-407E-9ADF-55E796663AA2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63C1-407E-9ADF-55E796663AA2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2-63C1-407E-9ADF-55E796663AA2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4-63C1-407E-9ADF-55E796663AA2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6-63C1-407E-9ADF-55E796663AA2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8-63C1-407E-9ADF-55E796663AA2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A-63C1-407E-9ADF-55E796663AA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63C1-407E-9ADF-55E796663AA2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D-63C1-407E-9ADF-55E796663AA2}"/>
              </c:ext>
            </c:extLst>
          </c:dPt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3C1-407E-9ADF-55E796663AA2}"/>
                </c:ext>
              </c:extLst>
            </c:dLbl>
            <c:dLbl>
              <c:idx val="9"/>
              <c:layout>
                <c:manualLayout>
                  <c:x val="6.2975027144408099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63C1-407E-9ADF-55E796663AA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63C1-407E-9ADF-55E796663AA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63C1-407E-9ADF-55E796663AA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63C1-407E-9ADF-55E796663AA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63C1-407E-9ADF-55E796663AA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63C1-407E-9ADF-55E796663AA2}"/>
                </c:ext>
              </c:extLst>
            </c:dLbl>
            <c:dLbl>
              <c:idx val="15"/>
              <c:spPr>
                <a:solidFill>
                  <a:srgbClr val="00B050"/>
                </a:solidFill>
                <a:ln w="24536">
                  <a:noFill/>
                </a:ln>
              </c:spPr>
              <c:txPr>
                <a:bodyPr/>
                <a:lstStyle/>
                <a:p>
                  <a:pPr>
                    <a:defRPr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B-63C1-407E-9ADF-55E796663AA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63C1-407E-9ADF-55E796663AA2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Masivo
Unidades de Negocio</c:v>
                </c:pt>
                <c:pt idx="1">
                  <c:v>Préstamos Y Cobranza - Alberto Tanus Schwarz</c:v>
                </c:pt>
                <c:pt idx="2">
                  <c:v>Negocios De Comisión Sector Masivo - Carlos Francisco Diaz Alonso</c:v>
                </c:pt>
                <c:pt idx="3">
                  <c:v>Afiliación / Captación - Francisco Tonatiuh Rodriguez Gomez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79.0</c:v>
                </c:pt>
                <c:pt idx="1">
                  <c:v>79.0</c:v>
                </c:pt>
                <c:pt idx="2">
                  <c:v>75.7</c:v>
                </c:pt>
                <c:pt idx="3">
                  <c:v>74.6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63C1-407E-9ADF-55E796663A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857-4AD5-8E9B-FD3280C0199A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857-4AD5-8E9B-FD3280C0199A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857-4AD5-8E9B-FD3280C0199A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67.5</c:v>
                </c:pt>
                <c:pt idx="1">
                  <c:v>27.0</c:v>
                </c:pt>
                <c:pt idx="2">
                  <c:v>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857-4AD5-8E9B-FD3280C019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427725770925112"/>
          <c:y val="0"/>
          <c:w val="0.5157227422907488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5"/>
              <c:spPr>
                <a:noFill/>
                <a:ln w="24625">
                  <a:noFill/>
                </a:ln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51-4484-8F0B-3248C73AE133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51-4484-8F0B-3248C73AE133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451-4484-8F0B-3248C73AE13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451-4484-8F0B-3248C73AE13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451-4484-8F0B-3248C73AE133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451-4484-8F0B-3248C73AE133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</c:v>
                </c:pt>
                <c:pt idx="1">
                  <c:v>Big - Eduardo Javier Cepeda Casasus</c:v>
                </c:pt>
                <c:pt idx="2">
                  <c:v>Empresas De Datos - Gustavo Lacroix Martinez</c:v>
                </c:pt>
                <c:pt idx="3">
                  <c:v>Mercadotecnia Y Cuidado De Marcas - Mario San Roman Flores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5.6</c:v>
                </c:pt>
                <c:pt idx="1">
                  <c:v>4.3</c:v>
                </c:pt>
                <c:pt idx="2">
                  <c:v>11.6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451-4484-8F0B-3248C73AE1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A451-4484-8F0B-3248C73AE133}"/>
                </c:ext>
              </c:extLst>
            </c:dLbl>
            <c:dLbl>
              <c:idx val="5"/>
              <c:layout>
                <c:manualLayout>
                  <c:x val="3.6909569260890777E-2"/>
                  <c:y val="1.8824411723015347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451-4484-8F0B-3248C73AE133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451-4484-8F0B-3248C73AE13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451-4484-8F0B-3248C73AE13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451-4484-8F0B-3248C73AE133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451-4484-8F0B-3248C73AE133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</c:v>
                </c:pt>
                <c:pt idx="1">
                  <c:v>Big - Eduardo Javier Cepeda Casasus</c:v>
                </c:pt>
                <c:pt idx="2">
                  <c:v>Empresas De Datos - Gustavo Lacroix Martinez</c:v>
                </c:pt>
                <c:pt idx="3">
                  <c:v>Mercadotecnia Y Cuidado De Marcas - Mario San Roman Flores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27.0</c:v>
                </c:pt>
                <c:pt idx="1">
                  <c:v>24.0</c:v>
                </c:pt>
                <c:pt idx="2">
                  <c:v>39.3</c:v>
                </c:pt>
                <c:pt idx="3">
                  <c:v>26.7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A451-4484-8F0B-3248C73AE13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F-A451-4484-8F0B-3248C73AE133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A451-4484-8F0B-3248C73AE133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2-A451-4484-8F0B-3248C73AE133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4-A451-4484-8F0B-3248C73AE133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6-A451-4484-8F0B-3248C73AE133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8-A451-4484-8F0B-3248C73AE133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A-A451-4484-8F0B-3248C73AE133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A451-4484-8F0B-3248C73AE133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D-A451-4484-8F0B-3248C73AE133}"/>
              </c:ext>
            </c:extLst>
          </c:dPt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A451-4484-8F0B-3248C73AE133}"/>
                </c:ext>
              </c:extLst>
            </c:dLbl>
            <c:dLbl>
              <c:idx val="9"/>
              <c:layout>
                <c:manualLayout>
                  <c:x val="6.2975027144408099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A451-4484-8F0B-3248C73AE133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A451-4484-8F0B-3248C73AE13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A451-4484-8F0B-3248C73AE13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A451-4484-8F0B-3248C73AE133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A451-4484-8F0B-3248C73AE133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A451-4484-8F0B-3248C73AE133}"/>
                </c:ext>
              </c:extLst>
            </c:dLbl>
            <c:dLbl>
              <c:idx val="15"/>
              <c:spPr>
                <a:solidFill>
                  <a:srgbClr val="00B050"/>
                </a:solidFill>
                <a:ln w="24536">
                  <a:noFill/>
                </a:ln>
              </c:spPr>
              <c:txPr>
                <a:bodyPr/>
                <a:lstStyle/>
                <a:p>
                  <a:pPr>
                    <a:defRPr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B-A451-4484-8F0B-3248C73AE133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A451-4484-8F0B-3248C73AE133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</c:v>
                </c:pt>
                <c:pt idx="1">
                  <c:v>Big - Eduardo Javier Cepeda Casasus</c:v>
                </c:pt>
                <c:pt idx="2">
                  <c:v>Empresas De Datos - Gustavo Lacroix Martinez</c:v>
                </c:pt>
                <c:pt idx="3">
                  <c:v>Mercadotecnia Y Cuidado De Marcas - Mario San Roman Flores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67.5</c:v>
                </c:pt>
                <c:pt idx="1">
                  <c:v>71.7</c:v>
                </c:pt>
                <c:pt idx="2">
                  <c:v>49.1</c:v>
                </c:pt>
                <c:pt idx="3">
                  <c:v>73.3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A451-4484-8F0B-3248C73AE1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B58-425C-A63E-A8C552286609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B58-425C-A63E-A8C552286609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B58-425C-A63E-A8C552286609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71.7</c:v>
                </c:pt>
                <c:pt idx="1">
                  <c:v>24.0</c:v>
                </c:pt>
                <c:pt idx="2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58-425C-A63E-A8C5522866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396582843857072"/>
          <c:y val="0"/>
          <c:w val="0.5160341715614292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607-46E4-9335-34659E02BC0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607-46E4-9335-34659E02BC0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07-46E4-9335-34659E02BC0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607-46E4-9335-34659E02BC09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07-46E4-9335-34659E02BC09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Grupo Elektra
México
Sector Mercado Corporativo
Big</c:v>
                </c:pt>
                <c:pt idx="1">
                  <c:v>Unidades De Negocio - Eduardo Javier Cepeda Casasus</c:v>
                </c:pt>
                <c:pt idx="2">
                  <c:v>Canales - Rodrigo Aguilar Martinez</c:v>
                </c:pt>
                <c:pt idx="3">
                  <c:v>Operaciones, Control Y Regulación - Mariana Fueyo Raigosa</c:v>
                </c:pt>
                <c:pt idx="4">
                  <c:v>Oficina - Victor Manuel Gallo Camacho</c:v>
                </c:pt>
                <c:pt idx="5">
                  <c:v>Segmentos - Eduardo Javier Cepeda Casasus</c:v>
                </c:pt>
                <c:pt idx="6">
                  <c:v>Sindicatos - Carlos Manuel Lopez Cedeño</c:v>
                </c:pt>
                <c:pt idx="7">
                  <c:v>Sin Etiqueta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4.3</c:v>
                </c:pt>
                <c:pt idx="1">
                  <c:v>4.7</c:v>
                </c:pt>
                <c:pt idx="2">
                  <c:v>3.5</c:v>
                </c:pt>
                <c:pt idx="3">
                  <c:v>8.5</c:v>
                </c:pt>
                <c:pt idx="4">
                  <c:v>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607-46E4-9335-34659E02BC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9607-46E4-9335-34659E02BC0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607-46E4-9335-34659E02BC0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607-46E4-9335-34659E02BC0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607-46E4-9335-34659E02BC09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607-46E4-9335-34659E02BC09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Grupo Elektra
México
Sector Mercado Corporativo
Big</c:v>
                </c:pt>
                <c:pt idx="1">
                  <c:v>Unidades De Negocio - Eduardo Javier Cepeda Casasus</c:v>
                </c:pt>
                <c:pt idx="2">
                  <c:v>Canales - Rodrigo Aguilar Martinez</c:v>
                </c:pt>
                <c:pt idx="3">
                  <c:v>Operaciones, Control Y Regulación - Mariana Fueyo Raigosa</c:v>
                </c:pt>
                <c:pt idx="4">
                  <c:v>Oficina - Victor Manuel Gallo Camacho</c:v>
                </c:pt>
                <c:pt idx="5">
                  <c:v>Segmentos - Eduardo Javier Cepeda Casasus</c:v>
                </c:pt>
                <c:pt idx="6">
                  <c:v>Sindicatos - Carlos Manuel Lopez Cedeño</c:v>
                </c:pt>
                <c:pt idx="7">
                  <c:v>Sin Etiqueta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24.0</c:v>
                </c:pt>
                <c:pt idx="1">
                  <c:v>27.9</c:v>
                </c:pt>
                <c:pt idx="2">
                  <c:v>22.0</c:v>
                </c:pt>
                <c:pt idx="3">
                  <c:v>17.0</c:v>
                </c:pt>
                <c:pt idx="4">
                  <c:v>33.3</c:v>
                </c:pt>
                <c:pt idx="5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9607-46E4-9335-34659E02BC0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9607-46E4-9335-34659E02BC09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9607-46E4-9335-34659E02BC09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2-9607-46E4-9335-34659E02BC09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4-9607-46E4-9335-34659E02BC09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6-9607-46E4-9335-34659E02BC09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8-9607-46E4-9335-34659E02BC09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A-9607-46E4-9335-34659E02BC09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9607-46E4-9335-34659E02BC09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D-9607-46E4-9335-34659E02BC09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Sheet1!$A$2:$A$9</c:f>
              <c:strCache>
                <c:ptCount val="8"/>
                <c:pt idx="0">
                  <c:v>Grupo Elektra
México
Sector Mercado Corporativo
Big</c:v>
                </c:pt>
                <c:pt idx="1">
                  <c:v>Unidades De Negocio - Eduardo Javier Cepeda Casasus</c:v>
                </c:pt>
                <c:pt idx="2">
                  <c:v>Canales - Rodrigo Aguilar Martinez</c:v>
                </c:pt>
                <c:pt idx="3">
                  <c:v>Operaciones, Control Y Regulación - Mariana Fueyo Raigosa</c:v>
                </c:pt>
                <c:pt idx="4">
                  <c:v>Oficina - Victor Manuel Gallo Camacho</c:v>
                </c:pt>
                <c:pt idx="5">
                  <c:v>Segmentos - Eduardo Javier Cepeda Casasus</c:v>
                </c:pt>
                <c:pt idx="6">
                  <c:v>Sindicatos - Carlos Manuel Lopez Cedeño</c:v>
                </c:pt>
                <c:pt idx="7">
                  <c:v>Sin Etiqueta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71.7</c:v>
                </c:pt>
                <c:pt idx="1">
                  <c:v>67.4</c:v>
                </c:pt>
                <c:pt idx="2">
                  <c:v>74.6</c:v>
                </c:pt>
                <c:pt idx="3">
                  <c:v>74.5</c:v>
                </c:pt>
                <c:pt idx="4">
                  <c:v>63.0</c:v>
                </c:pt>
                <c:pt idx="5">
                  <c:v>76.5</c:v>
                </c:pt>
                <c:pt idx="6">
                  <c:v>100.0</c:v>
                </c:pt>
                <c:pt idx="7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9607-46E4-9335-34659E02BC0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D83-4650-8DD5-039AF0A784CB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D83-4650-8DD5-039AF0A784CB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D83-4650-8DD5-039AF0A784CB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74.6</c:v>
                </c:pt>
                <c:pt idx="1">
                  <c:v>22.0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D83-4650-8DD5-039AF0A784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396582843857072"/>
          <c:y val="0"/>
          <c:w val="0.5160341715614292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FC8-4DBC-8E50-75BF8C6EEAB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FC8-4DBC-8E50-75BF8C6EEAB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FC8-4DBC-8E50-75BF8C6EEAB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C8-4DBC-8E50-75BF8C6EEAB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FC8-4DBC-8E50-75BF8C6EEAB8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
Big
Canales</c:v>
                </c:pt>
                <c:pt idx="1">
                  <c:v>Canales Físicos - Rita Osiris Fuentes Moreno</c:v>
                </c:pt>
                <c:pt idx="2">
                  <c:v>Canales Digitales - Dixie Linnette Brooks Nuñez</c:v>
                </c:pt>
                <c:pt idx="3">
                  <c:v>Sin Etiqueta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3.5</c:v>
                </c:pt>
                <c:pt idx="1">
                  <c:v>3.4</c:v>
                </c:pt>
                <c:pt idx="2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FC8-4DBC-8E50-75BF8C6EEA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EFC8-4DBC-8E50-75BF8C6EEAB8}"/>
                </c:ext>
              </c:extLst>
            </c:dLbl>
            <c:dLbl>
              <c:idx val="1"/>
              <c:layout>
                <c:manualLayout>
                  <c:x val="3.3673366372980837E-2"/>
                  <c:y val="4.382899897875112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EFC8-4DBC-8E50-75BF8C6EEAB8}"/>
                </c:ext>
              </c:extLst>
            </c:dLbl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EFC8-4DBC-8E50-75BF8C6EEAB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FC8-4DBC-8E50-75BF8C6EEAB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FC8-4DBC-8E50-75BF8C6EEAB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FC8-4DBC-8E50-75BF8C6EEAB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FC8-4DBC-8E50-75BF8C6EEAB8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
Big
Canales</c:v>
                </c:pt>
                <c:pt idx="1">
                  <c:v>Canales Físicos - Rita Osiris Fuentes Moreno</c:v>
                </c:pt>
                <c:pt idx="2">
                  <c:v>Canales Digitales - Dixie Linnette Brooks Nuñez</c:v>
                </c:pt>
                <c:pt idx="3">
                  <c:v>Sin Etiqueta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22.0</c:v>
                </c:pt>
                <c:pt idx="1">
                  <c:v>20.8</c:v>
                </c:pt>
                <c:pt idx="2">
                  <c:v>31.8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FC8-4DBC-8E50-75BF8C6EEAB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C-EFC8-4DBC-8E50-75BF8C6EEAB8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EFC8-4DBC-8E50-75BF8C6EEAB8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EFC8-4DBC-8E50-75BF8C6EEAB8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F-EFC8-4DBC-8E50-75BF8C6EEAB8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1-EFC8-4DBC-8E50-75BF8C6EEAB8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3-EFC8-4DBC-8E50-75BF8C6EEAB8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5-EFC8-4DBC-8E50-75BF8C6EEAB8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EFC8-4DBC-8E50-75BF8C6EEAB8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8-EFC8-4DBC-8E50-75BF8C6EEAB8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A-EFC8-4DBC-8E50-75BF8C6EEAB8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
Big
Canales</c:v>
                </c:pt>
                <c:pt idx="1">
                  <c:v>Canales Físicos - Rita Osiris Fuentes Moreno</c:v>
                </c:pt>
                <c:pt idx="2">
                  <c:v>Canales Digitales - Dixie Linnette Brooks Nuñez</c:v>
                </c:pt>
                <c:pt idx="3">
                  <c:v>Sin Etiqueta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74.6</c:v>
                </c:pt>
                <c:pt idx="1">
                  <c:v>75.8</c:v>
                </c:pt>
                <c:pt idx="2">
                  <c:v>63.6</c:v>
                </c:pt>
                <c:pt idx="3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EFC8-4DBC-8E50-75BF8C6EEAB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A6A-4075-B428-166AF2B4F6AC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A6A-4075-B428-166AF2B4F6AC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A6A-4075-B428-166AF2B4F6AC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76.5</c:v>
                </c:pt>
                <c:pt idx="1">
                  <c:v>23.5</c:v>
                </c:pt>
                <c:pt idx="2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A6A-4075-B428-166AF2B4F6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396582843857072"/>
          <c:y val="0"/>
          <c:w val="0.5160341715614292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F0A-4973-8E71-E4F5FC5B623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F0A-4973-8E71-E4F5FC5B623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F0A-4973-8E71-E4F5FC5B623B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F0A-4973-8E71-E4F5FC5B623B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F0A-4973-8E71-E4F5FC5B623B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Grupo Elektra
México
Sector Mercado Corporativo
Big
Segmentos</c:v>
                </c:pt>
                <c:pt idx="1">
                  <c:v>Segmento Gobierno - Sin Responsable</c:v>
                </c:pt>
                <c:pt idx="2">
                  <c:v>Segmento Empresas Y Vip - Gabriel Alejandro Ramirez Landa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5-AF0A-4973-8E71-E4F5FC5B62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F0A-4973-8E71-E4F5FC5B623B}"/>
                </c:ext>
              </c:extLst>
            </c:dLbl>
            <c:dLbl>
              <c:idx val="1"/>
              <c:layout>
                <c:manualLayout>
                  <c:x val="3.3673366372980837E-2"/>
                  <c:y val="4.382899897875112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F0A-4973-8E71-E4F5FC5B623B}"/>
                </c:ext>
              </c:extLst>
            </c:dLbl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AF0A-4973-8E71-E4F5FC5B623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F0A-4973-8E71-E4F5FC5B623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F0A-4973-8E71-E4F5FC5B623B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F0A-4973-8E71-E4F5FC5B623B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F0A-4973-8E71-E4F5FC5B623B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Grupo Elektra
México
Sector Mercado Corporativo
Big
Segmentos</c:v>
                </c:pt>
                <c:pt idx="1">
                  <c:v>Segmento Gobierno - Sin Responsable</c:v>
                </c:pt>
                <c:pt idx="2">
                  <c:v>Segmento Empresas Y Vip - Gabriel Alejandro Ramirez Landa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23.5</c:v>
                </c:pt>
                <c:pt idx="1">
                  <c:v>9.1</c:v>
                </c:pt>
                <c:pt idx="2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AF0A-4973-8E71-E4F5FC5B623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F-AF0A-4973-8E71-E4F5FC5B623B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AF0A-4973-8E71-E4F5FC5B623B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AF0A-4973-8E71-E4F5FC5B623B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3-AF0A-4973-8E71-E4F5FC5B623B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5-AF0A-4973-8E71-E4F5FC5B623B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AF0A-4973-8E71-E4F5FC5B623B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9-AF0A-4973-8E71-E4F5FC5B623B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B-AF0A-4973-8E71-E4F5FC5B623B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C-AF0A-4973-8E71-E4F5FC5B623B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E-AF0A-4973-8E71-E4F5FC5B623B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Grupo Elektra
México
Sector Mercado Corporativo
Big
Segmentos</c:v>
                </c:pt>
                <c:pt idx="1">
                  <c:v>Segmento Gobierno - Sin Responsable</c:v>
                </c:pt>
                <c:pt idx="2">
                  <c:v>Segmento Empresas Y Vip - Gabriel Alejandro Ramirez Landa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76.5</c:v>
                </c:pt>
                <c:pt idx="1">
                  <c:v>90.9</c:v>
                </c:pt>
                <c:pt idx="2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AF0A-4973-8E71-E4F5FC5B623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FA3-4A40-BBE9-2C7509D0E157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FA3-4A40-BBE9-2C7509D0E157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FA3-4A40-BBE9-2C7509D0E157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67.4</c:v>
                </c:pt>
                <c:pt idx="1">
                  <c:v>27.9</c:v>
                </c:pt>
                <c:pt idx="2">
                  <c:v>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FA3-4A40-BBE9-2C7509D0E1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396582843857072"/>
          <c:y val="0"/>
          <c:w val="0.5160341715614292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0E2-439B-8567-5E2D90336F2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0E2-439B-8567-5E2D90336F2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0E2-439B-8567-5E2D90336F2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0E2-439B-8567-5E2D90336F2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0E2-439B-8567-5E2D90336F28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
Big
Unidades de Negocios</c:v>
                </c:pt>
                <c:pt idx="1">
                  <c:v>Bursátil, Divisas Y Gestión De Activos - Guillermo Lucas Barreyra</c:v>
                </c:pt>
                <c:pt idx="2">
                  <c:v>Negocios De Comisión Corporativa - Luis David Amaya Ibarra</c:v>
                </c:pt>
                <c:pt idx="3">
                  <c:v>Préstamos Y Cobranza - Julio Montiel Mancisidor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4.7</c:v>
                </c:pt>
                <c:pt idx="1">
                  <c:v>6.7</c:v>
                </c:pt>
                <c:pt idx="2">
                  <c:v>2.7</c:v>
                </c:pt>
                <c:pt idx="3">
                  <c:v>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0E2-439B-8567-5E2D90336F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0E2-439B-8567-5E2D90336F28}"/>
                </c:ext>
              </c:extLst>
            </c:dLbl>
            <c:dLbl>
              <c:idx val="1"/>
              <c:layout>
                <c:manualLayout>
                  <c:x val="3.3673366372980837E-2"/>
                  <c:y val="4.382899897875112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0E2-439B-8567-5E2D90336F28}"/>
                </c:ext>
              </c:extLst>
            </c:dLbl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20E2-439B-8567-5E2D90336F2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0E2-439B-8567-5E2D90336F2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0E2-439B-8567-5E2D90336F2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0E2-439B-8567-5E2D90336F2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0E2-439B-8567-5E2D90336F28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
Big
Unidades de Negocios</c:v>
                </c:pt>
                <c:pt idx="1">
                  <c:v>Bursátil, Divisas Y Gestión De Activos - Guillermo Lucas Barreyra</c:v>
                </c:pt>
                <c:pt idx="2">
                  <c:v>Negocios De Comisión Corporativa - Luis David Amaya Ibarra</c:v>
                </c:pt>
                <c:pt idx="3">
                  <c:v>Préstamos Y Cobranza - Julio Montiel Mancisidor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27.9</c:v>
                </c:pt>
                <c:pt idx="1">
                  <c:v>34.8</c:v>
                </c:pt>
                <c:pt idx="2">
                  <c:v>14.9</c:v>
                </c:pt>
                <c:pt idx="3">
                  <c:v>40.7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20E2-439B-8567-5E2D90336F2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F-20E2-439B-8567-5E2D90336F28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20E2-439B-8567-5E2D90336F28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20E2-439B-8567-5E2D90336F28}"/>
              </c:ext>
            </c:extLst>
          </c:dPt>
          <c:dPt>
            <c:idx val="10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3-20E2-439B-8567-5E2D90336F28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5-20E2-439B-8567-5E2D90336F28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7-20E2-439B-8567-5E2D90336F28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9-20E2-439B-8567-5E2D90336F28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B-20E2-439B-8567-5E2D90336F28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C-20E2-439B-8567-5E2D90336F28}"/>
              </c:ext>
            </c:extLst>
          </c:dPt>
          <c:dPt>
            <c:idx val="16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E-20E2-439B-8567-5E2D90336F28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
Big
Unidades de Negocios</c:v>
                </c:pt>
                <c:pt idx="1">
                  <c:v>Bursátil, Divisas Y Gestión De Activos - Guillermo Lucas Barreyra</c:v>
                </c:pt>
                <c:pt idx="2">
                  <c:v>Negocios De Comisión Corporativa - Luis David Amaya Ibarra</c:v>
                </c:pt>
                <c:pt idx="3">
                  <c:v>Préstamos Y Cobranza - Julio Montiel Mancisidor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67.4</c:v>
                </c:pt>
                <c:pt idx="1">
                  <c:v>58.4</c:v>
                </c:pt>
                <c:pt idx="2">
                  <c:v>82.4</c:v>
                </c:pt>
                <c:pt idx="3">
                  <c:v>55.6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20E2-439B-8567-5E2D90336F2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1FE-40FB-A882-CCF6A539F3C2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1FE-40FB-A882-CCF6A539F3C2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1FE-40FB-A882-CCF6A539F3C2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49.1</c:v>
                </c:pt>
                <c:pt idx="1">
                  <c:v>39.3</c:v>
                </c:pt>
                <c:pt idx="2">
                  <c:v>11.6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1FE-40FB-A882-CCF6A539F3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396582843857072"/>
          <c:y val="0"/>
          <c:w val="0.5160341715614292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775-45B6-9F6A-126046615C8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775-45B6-9F6A-126046615C8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775-45B6-9F6A-126046615C8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775-45B6-9F6A-126046615C8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775-45B6-9F6A-126046615C8D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
Empresas de Datos</c:v>
                </c:pt>
                <c:pt idx="1">
                  <c:v>Algorithia - Arturo Burgos Balbuena</c:v>
                </c:pt>
                <c:pt idx="2">
                  <c:v>Dicio - Miguel Angel Espinosa Rescala</c:v>
                </c:pt>
                <c:pt idx="3">
                  <c:v>Círculo De Crédito - Juan Manuel Ruiz Palmieri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11.6</c:v>
                </c:pt>
                <c:pt idx="1">
                  <c:v>12.0</c:v>
                </c:pt>
                <c:pt idx="2">
                  <c:v>10.0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775-45B6-9F6A-126046615C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775-45B6-9F6A-126046615C8D}"/>
                </c:ext>
              </c:extLst>
            </c:dLbl>
            <c:dLbl>
              <c:idx val="1"/>
              <c:layout>
                <c:manualLayout>
                  <c:x val="3.3673366372980837E-2"/>
                  <c:y val="4.382899897875112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775-45B6-9F6A-126046615C8D}"/>
                </c:ext>
              </c:extLst>
            </c:dLbl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7775-45B6-9F6A-126046615C8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775-45B6-9F6A-126046615C8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775-45B6-9F6A-126046615C8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775-45B6-9F6A-126046615C8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775-45B6-9F6A-126046615C8D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
Empresas de Datos</c:v>
                </c:pt>
                <c:pt idx="1">
                  <c:v>Algorithia - Arturo Burgos Balbuena</c:v>
                </c:pt>
                <c:pt idx="2">
                  <c:v>Dicio - Miguel Angel Espinosa Rescala</c:v>
                </c:pt>
                <c:pt idx="3">
                  <c:v>Círculo De Crédito - Juan Manuel Ruiz Palmieri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39.3</c:v>
                </c:pt>
                <c:pt idx="1">
                  <c:v>40.0</c:v>
                </c:pt>
                <c:pt idx="2">
                  <c:v>30.0</c:v>
                </c:pt>
                <c:pt idx="3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7775-45B6-9F6A-126046615C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F-7775-45B6-9F6A-126046615C8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7775-45B6-9F6A-126046615C8D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7775-45B6-9F6A-126046615C8D}"/>
              </c:ext>
            </c:extLst>
          </c:dPt>
          <c:dPt>
            <c:idx val="10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3-7775-45B6-9F6A-126046615C8D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5-7775-45B6-9F6A-126046615C8D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7-7775-45B6-9F6A-126046615C8D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9-7775-45B6-9F6A-126046615C8D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B-7775-45B6-9F6A-126046615C8D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C-7775-45B6-9F6A-126046615C8D}"/>
              </c:ext>
            </c:extLst>
          </c:dPt>
          <c:dPt>
            <c:idx val="16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E-7775-45B6-9F6A-126046615C8D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
Empresas de Datos</c:v>
                </c:pt>
                <c:pt idx="1">
                  <c:v>Algorithia - Arturo Burgos Balbuena</c:v>
                </c:pt>
                <c:pt idx="2">
                  <c:v>Dicio - Miguel Angel Espinosa Rescala</c:v>
                </c:pt>
                <c:pt idx="3">
                  <c:v>Círculo De Crédito - Juan Manuel Ruiz Palmieri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49.1</c:v>
                </c:pt>
                <c:pt idx="1">
                  <c:v>48.0</c:v>
                </c:pt>
                <c:pt idx="2">
                  <c:v>60.0</c:v>
                </c:pt>
                <c:pt idx="3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7775-45B6-9F6A-126046615C8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3E4-4295-BE52-5EBFEA46E6FD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3E4-4295-BE52-5EBFEA46E6FD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3E4-4295-BE52-5EBFEA46E6FD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75.1</c:v>
                </c:pt>
                <c:pt idx="1">
                  <c:v>16.6</c:v>
                </c:pt>
                <c:pt idx="2">
                  <c:v>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3E4-4295-BE52-5EBFEA46E6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396582843857072"/>
          <c:y val="0"/>
          <c:w val="0.5160341715614292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BE2-4735-8B30-550F27FA2AE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BE2-4735-8B30-550F27FA2AE0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BE2-4735-8B30-550F27FA2AE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BE2-4735-8B30-550F27FA2AE0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BE2-4735-8B30-550F27FA2AE0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Comité de Supervisión Países</c:v>
                </c:pt>
                <c:pt idx="1">
                  <c:v>Grupo Salinas Guatemala, Honduras, Panamá - Eduardo Tamson Jimenez</c:v>
                </c:pt>
                <c:pt idx="2">
                  <c:v>Soporte Central Países - Eduardo Tamson Jimenez</c:v>
                </c:pt>
                <c:pt idx="3">
                  <c:v>Grupo Salinas Panamá / Icanbank - Sara Soriano De Teresa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8.3</c:v>
                </c:pt>
                <c:pt idx="1">
                  <c:v>8.4</c:v>
                </c:pt>
                <c:pt idx="2">
                  <c:v>4.0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BE2-4735-8B30-550F27FA2A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BE2-4735-8B30-550F27FA2AE0}"/>
                </c:ext>
              </c:extLst>
            </c:dLbl>
            <c:dLbl>
              <c:idx val="1"/>
              <c:layout>
                <c:manualLayout>
                  <c:x val="3.3673366372980837E-2"/>
                  <c:y val="4.382899897875112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BE2-4735-8B30-550F27FA2AE0}"/>
                </c:ext>
              </c:extLst>
            </c:dLbl>
            <c:dLbl>
              <c:idx val="2"/>
              <c:layout>
                <c:manualLayout>
                  <c:x val="3.3367137787567232E-2"/>
                  <c:y val="0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BE2-4735-8B30-550F27FA2AE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BE2-4735-8B30-550F27FA2AE0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BE2-4735-8B30-550F27FA2AE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BE2-4735-8B30-550F27FA2AE0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BE2-4735-8B30-550F27FA2AE0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Comité de Supervisión Países</c:v>
                </c:pt>
                <c:pt idx="1">
                  <c:v>Grupo Salinas Guatemala, Honduras, Panamá - Eduardo Tamson Jimenez</c:v>
                </c:pt>
                <c:pt idx="2">
                  <c:v>Soporte Central Países - Eduardo Tamson Jimenez</c:v>
                </c:pt>
                <c:pt idx="3">
                  <c:v>Grupo Salinas Panamá / Icanbank - Sara Soriano De Teresa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16.6</c:v>
                </c:pt>
                <c:pt idx="1">
                  <c:v>16.5</c:v>
                </c:pt>
                <c:pt idx="2">
                  <c:v>20.0</c:v>
                </c:pt>
                <c:pt idx="3">
                  <c:v>40.0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1BE2-4735-8B30-550F27FA2AE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F-1BE2-4735-8B30-550F27FA2AE0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1BE2-4735-8B30-550F27FA2AE0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1BE2-4735-8B30-550F27FA2AE0}"/>
              </c:ext>
            </c:extLst>
          </c:dPt>
          <c:dPt>
            <c:idx val="10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3-1BE2-4735-8B30-550F27FA2AE0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5-1BE2-4735-8B30-550F27FA2AE0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7-1BE2-4735-8B30-550F27FA2AE0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9-1BE2-4735-8B30-550F27FA2AE0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B-1BE2-4735-8B30-550F27FA2AE0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C-1BE2-4735-8B30-550F27FA2AE0}"/>
              </c:ext>
            </c:extLst>
          </c:dPt>
          <c:dPt>
            <c:idx val="16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E-1BE2-4735-8B30-550F27FA2AE0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Comité de Supervisión Países</c:v>
                </c:pt>
                <c:pt idx="1">
                  <c:v>Grupo Salinas Guatemala, Honduras, Panamá - Eduardo Tamson Jimenez</c:v>
                </c:pt>
                <c:pt idx="2">
                  <c:v>Soporte Central Países - Eduardo Tamson Jimenez</c:v>
                </c:pt>
                <c:pt idx="3">
                  <c:v>Grupo Salinas Panamá / Icanbank - Sara Soriano De Teresa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75.1</c:v>
                </c:pt>
                <c:pt idx="1">
                  <c:v>75.1</c:v>
                </c:pt>
                <c:pt idx="2">
                  <c:v>76.0</c:v>
                </c:pt>
                <c:pt idx="3">
                  <c:v>60.0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1BE2-4735-8B30-550F27FA2AE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4EA-4DDE-AD66-FC169E5B63CD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4EA-4DDE-AD66-FC169E5B63CD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4EA-4DDE-AD66-FC169E5B63CD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73.6</c:v>
                </c:pt>
                <c:pt idx="1">
                  <c:v>21.5</c:v>
                </c:pt>
                <c:pt idx="2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EA-4DDE-AD66-FC169E5B63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396582843857072"/>
          <c:y val="0"/>
          <c:w val="0.5160341715614292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DCA-498B-BE22-FD884FCAACC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DCA-498B-BE22-FD884FCAACC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DCA-498B-BE22-FD884FCAACC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DCA-498B-BE22-FD884FCAACC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DCA-498B-BE22-FD884FCAACCD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Despachos
Ricardo Benjamin Salinas Pliego</c:v>
                </c:pt>
                <c:pt idx="1">
                  <c:v>Sistemas - Manuel Gonzalez Palomo</c:v>
                </c:pt>
                <c:pt idx="2">
                  <c:v>Administración, Finanzas Y Control - Alfonso Aguilar Zermeño</c:v>
                </c:pt>
                <c:pt idx="3">
                  <c:v>Capital Humano - Karlo Alejandro Mondragon Rodriguez</c:v>
                </c:pt>
                <c:pt idx="4">
                  <c:v>Auditoría - Javier Arturo Ferrer Baez</c:v>
                </c:pt>
                <c:pt idx="5">
                  <c:v>Bienestar, Comunicación E Integración - Adriana De La Puente Martinez De Castro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4.8</c:v>
                </c:pt>
                <c:pt idx="1">
                  <c:v>5.8</c:v>
                </c:pt>
                <c:pt idx="2">
                  <c:v>3.6</c:v>
                </c:pt>
                <c:pt idx="3">
                  <c:v>2.2</c:v>
                </c:pt>
                <c:pt idx="4">
                  <c:v>4.6</c:v>
                </c:pt>
                <c:pt idx="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DCA-498B-BE22-FD884FCAAC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DCA-498B-BE22-FD884FCAACCD}"/>
                </c:ext>
              </c:extLst>
            </c:dLbl>
            <c:dLbl>
              <c:idx val="1"/>
              <c:layout>
                <c:manualLayout>
                  <c:x val="4.5329019823788473E-2"/>
                  <c:y val="1.8824411723015347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DCA-498B-BE22-FD884FCAACCD}"/>
                </c:ext>
              </c:extLst>
            </c:dLbl>
            <c:dLbl>
              <c:idx val="2"/>
              <c:layout>
                <c:manualLayout>
                  <c:x val="3.467771047479197E-2"/>
                  <c:y val="0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DCA-498B-BE22-FD884FCAACCD}"/>
                </c:ext>
              </c:extLst>
            </c:dLbl>
            <c:dLbl>
              <c:idx val="3"/>
              <c:layout>
                <c:manualLayout>
                  <c:x val="5.0698268477728833E-2"/>
                  <c:y val="8.7657997957502243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5DCA-498B-BE22-FD884FCAACCD}"/>
                </c:ext>
              </c:extLst>
            </c:dLbl>
            <c:dLbl>
              <c:idx val="5"/>
              <c:layout>
                <c:manualLayout>
                  <c:x val="3.2574033284385635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5DCA-498B-BE22-FD884FCAACC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DCA-498B-BE22-FD884FCAACC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DCA-498B-BE22-FD884FCAACC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DCA-498B-BE22-FD884FCAACC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DCA-498B-BE22-FD884FCAACCD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Despachos
Ricardo Benjamin Salinas Pliego</c:v>
                </c:pt>
                <c:pt idx="1">
                  <c:v>Sistemas - Manuel Gonzalez Palomo</c:v>
                </c:pt>
                <c:pt idx="2">
                  <c:v>Administración, Finanzas Y Control - Alfonso Aguilar Zermeño</c:v>
                </c:pt>
                <c:pt idx="3">
                  <c:v>Capital Humano - Karlo Alejandro Mondragon Rodriguez</c:v>
                </c:pt>
                <c:pt idx="4">
                  <c:v>Auditoría - Javier Arturo Ferrer Baez</c:v>
                </c:pt>
                <c:pt idx="5">
                  <c:v>Bienestar, Comunicación E Integración - Adriana De La Puente Martinez De Castro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21.5</c:v>
                </c:pt>
                <c:pt idx="1">
                  <c:v>23.4</c:v>
                </c:pt>
                <c:pt idx="2">
                  <c:v>19.3</c:v>
                </c:pt>
                <c:pt idx="3">
                  <c:v>15.8</c:v>
                </c:pt>
                <c:pt idx="4">
                  <c:v>21.0</c:v>
                </c:pt>
                <c:pt idx="5">
                  <c:v>21.3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5DCA-498B-BE22-FD884FCAAC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F-5DCA-498B-BE22-FD884FCAACC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5DCA-498B-BE22-FD884FCAACCD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5DCA-498B-BE22-FD884FCAACCD}"/>
              </c:ext>
            </c:extLst>
          </c:dPt>
          <c:dPt>
            <c:idx val="10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3-5DCA-498B-BE22-FD884FCAACCD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5-5DCA-498B-BE22-FD884FCAACCD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7-5DCA-498B-BE22-FD884FCAACCD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9-5DCA-498B-BE22-FD884FCAACCD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B-5DCA-498B-BE22-FD884FCAACCD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C-5DCA-498B-BE22-FD884FCAACCD}"/>
              </c:ext>
            </c:extLst>
          </c:dPt>
          <c:dPt>
            <c:idx val="16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E-5DCA-498B-BE22-FD884FCAACCD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Despachos
Ricardo Benjamin Salinas Pliego</c:v>
                </c:pt>
                <c:pt idx="1">
                  <c:v>Sistemas - Manuel Gonzalez Palomo</c:v>
                </c:pt>
                <c:pt idx="2">
                  <c:v>Administración, Finanzas Y Control - Alfonso Aguilar Zermeño</c:v>
                </c:pt>
                <c:pt idx="3">
                  <c:v>Capital Humano - Karlo Alejandro Mondragon Rodriguez</c:v>
                </c:pt>
                <c:pt idx="4">
                  <c:v>Auditoría - Javier Arturo Ferrer Baez</c:v>
                </c:pt>
                <c:pt idx="5">
                  <c:v>Bienestar, Comunicación E Integración - Adriana De La Puente Martinez De Castro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73.6</c:v>
                </c:pt>
                <c:pt idx="1">
                  <c:v>70.7</c:v>
                </c:pt>
                <c:pt idx="2">
                  <c:v>77.2</c:v>
                </c:pt>
                <c:pt idx="3">
                  <c:v>82.0</c:v>
                </c:pt>
                <c:pt idx="4">
                  <c:v>74.4</c:v>
                </c:pt>
                <c:pt idx="5">
                  <c:v>76.8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5DCA-498B-BE22-FD884FCAACC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6FF-4BB0-A3BB-18BED12B3928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6FF-4BB0-A3BB-18BED12B3928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6FF-4BB0-A3BB-18BED12B3928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71.8</c:v>
                </c:pt>
                <c:pt idx="1">
                  <c:v>21.2</c:v>
                </c:pt>
                <c:pt idx="2">
                  <c:v>7.0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6FF-4BB0-A3BB-18BED12B39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rgbClr val="FF000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BCB3-42E8-89D7-4B03D0BFBDAF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Sheet1!$A$2:$A$18</c:f>
              <c:strCache>
                <c:ptCount val="17"/>
                <c:pt idx="0">
                  <c:v>Grupo Tv Azteca</c:v>
                </c:pt>
                <c:pt idx="1">
                  <c:v>Contenido - Jose Adrian Ortega Echegollen</c:v>
                </c:pt>
                <c:pt idx="2">
                  <c:v>Locales - Benjamin Mario Mendoza Elizondo</c:v>
                </c:pt>
                <c:pt idx="3">
                  <c:v>Planeación - Guillermo Cueva Sada</c:v>
                </c:pt>
                <c:pt idx="4">
                  <c:v>Agencia Informativa Azteca - Jose Ignacio Suarez Vazquez</c:v>
                </c:pt>
                <c:pt idx="5">
                  <c:v>Azteca 40 - Luciano Nicanor Pascoe Rippey</c:v>
                </c:pt>
                <c:pt idx="6">
                  <c:v>Comercial - Jesus Eduardo De La Vega Bustillos</c:v>
                </c:pt>
                <c:pt idx="7">
                  <c:v>Canal Digital - Emilio Aliaga Arciniega</c:v>
                </c:pt>
                <c:pt idx="8">
                  <c:v>Control De Negocios Y Servicios - Jorge Luis Zuñiga Montiel</c:v>
                </c:pt>
                <c:pt idx="9">
                  <c:v>Dirección General - Sin Responsable</c:v>
                </c:pt>
                <c:pt idx="10">
                  <c:v>Legal Y Operaciones - Rafael Rodriguez Sanchez</c:v>
                </c:pt>
                <c:pt idx="11">
                  <c:v>Operaciones - Victor Acevedo Ayala</c:v>
                </c:pt>
                <c:pt idx="12">
                  <c:v>Gaming Pld - Javier Cuevas Ruiz</c:v>
                </c:pt>
                <c:pt idx="13">
                  <c:v>Apuestas Gaming - Gonzalo Chavez Vera</c:v>
                </c:pt>
                <c:pt idx="14">
                  <c:v>Inversiones - Arturo Manuel Flores Melendez</c:v>
                </c:pt>
                <c:pt idx="15">
                  <c:v>Marketing Gaming - Jose Pablo Padierna Jimenez</c:v>
                </c:pt>
                <c:pt idx="16">
                  <c:v>Sin Etiqueta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7.0</c:v>
                </c:pt>
                <c:pt idx="1">
                  <c:v>8.1</c:v>
                </c:pt>
                <c:pt idx="2">
                  <c:v>6.9</c:v>
                </c:pt>
                <c:pt idx="3">
                  <c:v>5.5</c:v>
                </c:pt>
                <c:pt idx="4">
                  <c:v>9.6</c:v>
                </c:pt>
                <c:pt idx="5">
                  <c:v>8.9</c:v>
                </c:pt>
                <c:pt idx="6">
                  <c:v>1.3</c:v>
                </c:pt>
                <c:pt idx="7">
                  <c:v>9.9</c:v>
                </c:pt>
                <c:pt idx="8">
                  <c:v>3.9</c:v>
                </c:pt>
                <c:pt idx="9">
                  <c:v>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BCB3-42E8-89D7-4B03D0BFBD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Sheet1!$A$2:$A$18</c:f>
              <c:strCache>
                <c:ptCount val="17"/>
                <c:pt idx="0">
                  <c:v>Grupo Tv Azteca</c:v>
                </c:pt>
                <c:pt idx="1">
                  <c:v>Contenido - Jose Adrian Ortega Echegollen</c:v>
                </c:pt>
                <c:pt idx="2">
                  <c:v>Locales - Benjamin Mario Mendoza Elizondo</c:v>
                </c:pt>
                <c:pt idx="3">
                  <c:v>Planeación - Guillermo Cueva Sada</c:v>
                </c:pt>
                <c:pt idx="4">
                  <c:v>Agencia Informativa Azteca - Jose Ignacio Suarez Vazquez</c:v>
                </c:pt>
                <c:pt idx="5">
                  <c:v>Azteca 40 - Luciano Nicanor Pascoe Rippey</c:v>
                </c:pt>
                <c:pt idx="6">
                  <c:v>Comercial - Jesus Eduardo De La Vega Bustillos</c:v>
                </c:pt>
                <c:pt idx="7">
                  <c:v>Canal Digital - Emilio Aliaga Arciniega</c:v>
                </c:pt>
                <c:pt idx="8">
                  <c:v>Control De Negocios Y Servicios - Jorge Luis Zuñiga Montiel</c:v>
                </c:pt>
                <c:pt idx="9">
                  <c:v>Dirección General - Sin Responsable</c:v>
                </c:pt>
                <c:pt idx="10">
                  <c:v>Legal Y Operaciones - Rafael Rodriguez Sanchez</c:v>
                </c:pt>
                <c:pt idx="11">
                  <c:v>Operaciones - Victor Acevedo Ayala</c:v>
                </c:pt>
                <c:pt idx="12">
                  <c:v>Gaming Pld - Javier Cuevas Ruiz</c:v>
                </c:pt>
                <c:pt idx="13">
                  <c:v>Apuestas Gaming - Gonzalo Chavez Vera</c:v>
                </c:pt>
                <c:pt idx="14">
                  <c:v>Inversiones - Arturo Manuel Flores Melendez</c:v>
                </c:pt>
                <c:pt idx="15">
                  <c:v>Marketing Gaming - Jose Pablo Padierna Jimenez</c:v>
                </c:pt>
                <c:pt idx="16">
                  <c:v>Sin Etiqueta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21.2</c:v>
                </c:pt>
                <c:pt idx="1">
                  <c:v>20.9</c:v>
                </c:pt>
                <c:pt idx="2">
                  <c:v>17.9</c:v>
                </c:pt>
                <c:pt idx="3">
                  <c:v>19.7</c:v>
                </c:pt>
                <c:pt idx="4">
                  <c:v>27.4</c:v>
                </c:pt>
                <c:pt idx="5">
                  <c:v>28.5</c:v>
                </c:pt>
                <c:pt idx="6">
                  <c:v>22.7</c:v>
                </c:pt>
                <c:pt idx="7">
                  <c:v>23.5</c:v>
                </c:pt>
                <c:pt idx="8">
                  <c:v>28.9</c:v>
                </c:pt>
                <c:pt idx="9">
                  <c:v>16.7</c:v>
                </c:pt>
                <c:pt idx="10">
                  <c:v>11.1</c:v>
                </c:pt>
                <c:pt idx="12">
                  <c:v>25.0</c:v>
                </c:pt>
                <c:pt idx="14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BCB3-42E8-89D7-4B03D0BFBD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BCB3-42E8-89D7-4B03D0BFBDAF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BCB3-42E8-89D7-4B03D0BFBDAF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BCB3-42E8-89D7-4B03D0BFBDAF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BCB3-42E8-89D7-4B03D0BFBDAF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BCB3-42E8-89D7-4B03D0BFBDAF}"/>
              </c:ext>
            </c:extLst>
          </c:dPt>
          <c:dPt>
            <c:idx val="15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BCB3-42E8-89D7-4B03D0BFBDAF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Sheet1!$A$2:$A$18</c:f>
              <c:strCache>
                <c:ptCount val="17"/>
                <c:pt idx="0">
                  <c:v>Grupo Tv Azteca</c:v>
                </c:pt>
                <c:pt idx="1">
                  <c:v>Contenido - Jose Adrian Ortega Echegollen</c:v>
                </c:pt>
                <c:pt idx="2">
                  <c:v>Locales - Benjamin Mario Mendoza Elizondo</c:v>
                </c:pt>
                <c:pt idx="3">
                  <c:v>Planeación - Guillermo Cueva Sada</c:v>
                </c:pt>
                <c:pt idx="4">
                  <c:v>Agencia Informativa Azteca - Jose Ignacio Suarez Vazquez</c:v>
                </c:pt>
                <c:pt idx="5">
                  <c:v>Azteca 40 - Luciano Nicanor Pascoe Rippey</c:v>
                </c:pt>
                <c:pt idx="6">
                  <c:v>Comercial - Jesus Eduardo De La Vega Bustillos</c:v>
                </c:pt>
                <c:pt idx="7">
                  <c:v>Canal Digital - Emilio Aliaga Arciniega</c:v>
                </c:pt>
                <c:pt idx="8">
                  <c:v>Control De Negocios Y Servicios - Jorge Luis Zuñiga Montiel</c:v>
                </c:pt>
                <c:pt idx="9">
                  <c:v>Dirección General - Sin Responsable</c:v>
                </c:pt>
                <c:pt idx="10">
                  <c:v>Legal Y Operaciones - Rafael Rodriguez Sanchez</c:v>
                </c:pt>
                <c:pt idx="11">
                  <c:v>Operaciones - Victor Acevedo Ayala</c:v>
                </c:pt>
                <c:pt idx="12">
                  <c:v>Gaming Pld - Javier Cuevas Ruiz</c:v>
                </c:pt>
                <c:pt idx="13">
                  <c:v>Apuestas Gaming - Gonzalo Chavez Vera</c:v>
                </c:pt>
                <c:pt idx="14">
                  <c:v>Inversiones - Arturo Manuel Flores Melendez</c:v>
                </c:pt>
                <c:pt idx="15">
                  <c:v>Marketing Gaming - Jose Pablo Padierna Jimenez</c:v>
                </c:pt>
                <c:pt idx="16">
                  <c:v>Sin Etiqueta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71.8</c:v>
                </c:pt>
                <c:pt idx="1">
                  <c:v>71.0</c:v>
                </c:pt>
                <c:pt idx="2">
                  <c:v>75.2</c:v>
                </c:pt>
                <c:pt idx="3">
                  <c:v>74.7</c:v>
                </c:pt>
                <c:pt idx="4">
                  <c:v>63.0</c:v>
                </c:pt>
                <c:pt idx="5">
                  <c:v>62.6</c:v>
                </c:pt>
                <c:pt idx="6">
                  <c:v>76.0</c:v>
                </c:pt>
                <c:pt idx="7">
                  <c:v>66.7</c:v>
                </c:pt>
                <c:pt idx="8">
                  <c:v>67.1</c:v>
                </c:pt>
                <c:pt idx="9">
                  <c:v>76.7</c:v>
                </c:pt>
                <c:pt idx="10">
                  <c:v>88.9</c:v>
                </c:pt>
                <c:pt idx="11">
                  <c:v>100.0</c:v>
                </c:pt>
                <c:pt idx="12">
                  <c:v>75.0</c:v>
                </c:pt>
                <c:pt idx="13">
                  <c:v>100.0</c:v>
                </c:pt>
                <c:pt idx="15">
                  <c:v>100.0</c:v>
                </c:pt>
                <c:pt idx="16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BCB3-42E8-89D7-4B03D0BFBDA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0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F27-4A1B-BD14-E0597144BE98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F27-4A1B-BD14-E0597144BE98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F27-4A1B-BD14-E0597144BE98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68.0</c:v>
                </c:pt>
                <c:pt idx="1">
                  <c:v>23.4</c:v>
                </c:pt>
                <c:pt idx="2">
                  <c:v>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F27-4A1B-BD14-E0597144BE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2049857506205374"/>
          <c:y val="0"/>
          <c:w val="0.57950142493794621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rgbClr val="FF000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AFD9-4D02-AEBF-58505350A960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Sheet1!$A$2:$A$17</c:f>
              <c:strCache>
                <c:ptCount val="16"/>
                <c:pt idx="0">
                  <c:v>Totalplay</c:v>
                </c:pt>
                <c:pt idx="1">
                  <c:v>Residencial - Mario Ramon Fernandez Loperena</c:v>
                </c:pt>
                <c:pt idx="2">
                  <c:v>Operaciones Red - Humberto Elenes Vargas</c:v>
                </c:pt>
                <c:pt idx="3">
                  <c:v>Empresarial - Hector Nava Cortinas</c:v>
                </c:pt>
                <c:pt idx="4">
                  <c:v>Red Central - Jose Luis Rodriguez Lopez</c:v>
                </c:pt>
                <c:pt idx="5">
                  <c:v>Totalplay Sector Gobierno - Oscar David Rojo Cervera</c:v>
                </c:pt>
                <c:pt idx="6">
                  <c:v>Administracion Y Finanzas Totalplay - Alejandro Enrique Rodriguez Sanchez</c:v>
                </c:pt>
                <c:pt idx="7">
                  <c:v>Sistemas Totalplay - Aurelio Saynes Santillan</c:v>
                </c:pt>
                <c:pt idx="8">
                  <c:v>Totalplay Go - Anabel Cruz Martinez</c:v>
                </c:pt>
                <c:pt idx="9">
                  <c:v>Seguridad De La Información - Jose Antonio Goyri Escalona</c:v>
                </c:pt>
                <c:pt idx="10">
                  <c:v>Capital Humano Total Play - Luis Octavio Sanchez Silva</c:v>
                </c:pt>
                <c:pt idx="11">
                  <c:v>Medios Y Nuevos Negocios - Rodrigo Fernandez Capdevielle</c:v>
                </c:pt>
                <c:pt idx="12">
                  <c:v>Producto Iptv - Miguel Angel Nava Espinosa</c:v>
                </c:pt>
                <c:pt idx="13">
                  <c:v>Mercadotecnia - Emilio Salas Fernandez</c:v>
                </c:pt>
                <c:pt idx="14">
                  <c:v>Jurídico - Eduardo Ruiz Vega</c:v>
                </c:pt>
                <c:pt idx="15">
                  <c:v>Sin Etiqueta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8.6</c:v>
                </c:pt>
                <c:pt idx="1">
                  <c:v>6.2</c:v>
                </c:pt>
                <c:pt idx="2">
                  <c:v>10.5</c:v>
                </c:pt>
                <c:pt idx="3">
                  <c:v>7.8</c:v>
                </c:pt>
                <c:pt idx="4">
                  <c:v>9.7</c:v>
                </c:pt>
                <c:pt idx="5">
                  <c:v>15.1</c:v>
                </c:pt>
                <c:pt idx="6">
                  <c:v>5.7</c:v>
                </c:pt>
                <c:pt idx="7">
                  <c:v>15.3</c:v>
                </c:pt>
                <c:pt idx="8">
                  <c:v>19.4</c:v>
                </c:pt>
                <c:pt idx="9">
                  <c:v>3.8</c:v>
                </c:pt>
                <c:pt idx="10">
                  <c:v>1.9</c:v>
                </c:pt>
                <c:pt idx="11">
                  <c:v>2.2</c:v>
                </c:pt>
                <c:pt idx="12">
                  <c:v>15.0</c:v>
                </c:pt>
                <c:pt idx="13">
                  <c:v>11.5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AFD9-4D02-AEBF-58505350A9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>
                    <a:solidFill>
                      <a:schemeClr val="tx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Sheet1!$A$2:$A$17</c:f>
              <c:strCache>
                <c:ptCount val="16"/>
                <c:pt idx="0">
                  <c:v>Totalplay</c:v>
                </c:pt>
                <c:pt idx="1">
                  <c:v>Residencial - Mario Ramon Fernandez Loperena</c:v>
                </c:pt>
                <c:pt idx="2">
                  <c:v>Operaciones Red - Humberto Elenes Vargas</c:v>
                </c:pt>
                <c:pt idx="3">
                  <c:v>Empresarial - Hector Nava Cortinas</c:v>
                </c:pt>
                <c:pt idx="4">
                  <c:v>Red Central - Jose Luis Rodriguez Lopez</c:v>
                </c:pt>
                <c:pt idx="5">
                  <c:v>Totalplay Sector Gobierno - Oscar David Rojo Cervera</c:v>
                </c:pt>
                <c:pt idx="6">
                  <c:v>Administracion Y Finanzas Totalplay - Alejandro Enrique Rodriguez Sanchez</c:v>
                </c:pt>
                <c:pt idx="7">
                  <c:v>Sistemas Totalplay - Aurelio Saynes Santillan</c:v>
                </c:pt>
                <c:pt idx="8">
                  <c:v>Totalplay Go - Anabel Cruz Martinez</c:v>
                </c:pt>
                <c:pt idx="9">
                  <c:v>Seguridad De La Información - Jose Antonio Goyri Escalona</c:v>
                </c:pt>
                <c:pt idx="10">
                  <c:v>Capital Humano Total Play - Luis Octavio Sanchez Silva</c:v>
                </c:pt>
                <c:pt idx="11">
                  <c:v>Medios Y Nuevos Negocios - Rodrigo Fernandez Capdevielle</c:v>
                </c:pt>
                <c:pt idx="12">
                  <c:v>Producto Iptv - Miguel Angel Nava Espinosa</c:v>
                </c:pt>
                <c:pt idx="13">
                  <c:v>Mercadotecnia - Emilio Salas Fernandez</c:v>
                </c:pt>
                <c:pt idx="14">
                  <c:v>Jurídico - Eduardo Ruiz Vega</c:v>
                </c:pt>
                <c:pt idx="15">
                  <c:v>Sin Etiqueta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23.4</c:v>
                </c:pt>
                <c:pt idx="1">
                  <c:v>19.6</c:v>
                </c:pt>
                <c:pt idx="2">
                  <c:v>26.1</c:v>
                </c:pt>
                <c:pt idx="3">
                  <c:v>27.9</c:v>
                </c:pt>
                <c:pt idx="4">
                  <c:v>27.0</c:v>
                </c:pt>
                <c:pt idx="5">
                  <c:v>29.1</c:v>
                </c:pt>
                <c:pt idx="6">
                  <c:v>28.9</c:v>
                </c:pt>
                <c:pt idx="7">
                  <c:v>27.3</c:v>
                </c:pt>
                <c:pt idx="8">
                  <c:v>17.9</c:v>
                </c:pt>
                <c:pt idx="9">
                  <c:v>20.8</c:v>
                </c:pt>
                <c:pt idx="10">
                  <c:v>9.4</c:v>
                </c:pt>
                <c:pt idx="11">
                  <c:v>10.9</c:v>
                </c:pt>
                <c:pt idx="12">
                  <c:v>37.5</c:v>
                </c:pt>
                <c:pt idx="13">
                  <c:v>19.2</c:v>
                </c:pt>
                <c:pt idx="14">
                  <c:v>11.8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AFD9-4D02-AEBF-58505350A9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AFD9-4D02-AEBF-58505350A960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AFD9-4D02-AEBF-58505350A960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AFD9-4D02-AEBF-58505350A960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AFD9-4D02-AEBF-58505350A960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AFD9-4D02-AEBF-58505350A960}"/>
              </c:ext>
            </c:extLst>
          </c:dPt>
          <c:dPt>
            <c:idx val="15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AFD9-4D02-AEBF-58505350A960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Sheet1!$A$2:$A$17</c:f>
              <c:strCache>
                <c:ptCount val="16"/>
                <c:pt idx="0">
                  <c:v>Totalplay</c:v>
                </c:pt>
                <c:pt idx="1">
                  <c:v>Residencial - Mario Ramon Fernandez Loperena</c:v>
                </c:pt>
                <c:pt idx="2">
                  <c:v>Operaciones Red - Humberto Elenes Vargas</c:v>
                </c:pt>
                <c:pt idx="3">
                  <c:v>Empresarial - Hector Nava Cortinas</c:v>
                </c:pt>
                <c:pt idx="4">
                  <c:v>Red Central - Jose Luis Rodriguez Lopez</c:v>
                </c:pt>
                <c:pt idx="5">
                  <c:v>Totalplay Sector Gobierno - Oscar David Rojo Cervera</c:v>
                </c:pt>
                <c:pt idx="6">
                  <c:v>Administracion Y Finanzas Totalplay - Alejandro Enrique Rodriguez Sanchez</c:v>
                </c:pt>
                <c:pt idx="7">
                  <c:v>Sistemas Totalplay - Aurelio Saynes Santillan</c:v>
                </c:pt>
                <c:pt idx="8">
                  <c:v>Totalplay Go - Anabel Cruz Martinez</c:v>
                </c:pt>
                <c:pt idx="9">
                  <c:v>Seguridad De La Información - Jose Antonio Goyri Escalona</c:v>
                </c:pt>
                <c:pt idx="10">
                  <c:v>Capital Humano Total Play - Luis Octavio Sanchez Silva</c:v>
                </c:pt>
                <c:pt idx="11">
                  <c:v>Medios Y Nuevos Negocios - Rodrigo Fernandez Capdevielle</c:v>
                </c:pt>
                <c:pt idx="12">
                  <c:v>Producto Iptv - Miguel Angel Nava Espinosa</c:v>
                </c:pt>
                <c:pt idx="13">
                  <c:v>Mercadotecnia - Emilio Salas Fernandez</c:v>
                </c:pt>
                <c:pt idx="14">
                  <c:v>Jurídico - Eduardo Ruiz Vega</c:v>
                </c:pt>
                <c:pt idx="15">
                  <c:v>Sin Etiqueta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68.0</c:v>
                </c:pt>
                <c:pt idx="1">
                  <c:v>74.2</c:v>
                </c:pt>
                <c:pt idx="2">
                  <c:v>63.4</c:v>
                </c:pt>
                <c:pt idx="3">
                  <c:v>64.2</c:v>
                </c:pt>
                <c:pt idx="4">
                  <c:v>63.3</c:v>
                </c:pt>
                <c:pt idx="5">
                  <c:v>55.8</c:v>
                </c:pt>
                <c:pt idx="6">
                  <c:v>65.5</c:v>
                </c:pt>
                <c:pt idx="7">
                  <c:v>57.4</c:v>
                </c:pt>
                <c:pt idx="8">
                  <c:v>62.7</c:v>
                </c:pt>
                <c:pt idx="9">
                  <c:v>75.5</c:v>
                </c:pt>
                <c:pt idx="10">
                  <c:v>88.7</c:v>
                </c:pt>
                <c:pt idx="11">
                  <c:v>87.0</c:v>
                </c:pt>
                <c:pt idx="12">
                  <c:v>47.5</c:v>
                </c:pt>
                <c:pt idx="13">
                  <c:v>69.2</c:v>
                </c:pt>
                <c:pt idx="14">
                  <c:v>88.2</c:v>
                </c:pt>
                <c:pt idx="15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AFD9-4D02-AEBF-58505350A96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0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AC8-4C1F-BCF1-751E33C40634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AC8-4C1F-BCF1-751E33C40634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AC8-4C1F-BCF1-751E33C40634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73.0</c:v>
                </c:pt>
                <c:pt idx="1">
                  <c:v>21.1</c:v>
                </c:pt>
                <c:pt idx="2">
                  <c:v>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C8-4C1F-BCF1-751E33C406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666C-46E3-BA12-B04801402CB3}"/>
              </c:ext>
            </c:extLst>
          </c:dPt>
          <c:dLbls>
            <c:dLbl>
              <c:idx val="0"/>
              <c:layout>
                <c:manualLayout>
                  <c:x val="1.0276172125883108E-2"/>
                  <c:y val="-2.747036428138790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66C-46E3-BA12-B04801402CB3}"/>
                </c:ext>
              </c:extLst>
            </c:dLbl>
            <c:dLbl>
              <c:idx val="1"/>
              <c:layout>
                <c:manualLayout>
                  <c:x val="1.2845215157353885E-2"/>
                  <c:y val="1.099030890369475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66C-46E3-BA12-B04801402CB3}"/>
                </c:ext>
              </c:extLst>
            </c:dLbl>
            <c:dLbl>
              <c:idx val="2"/>
              <c:layout>
                <c:manualLayout>
                  <c:x val="1.5414258188824569E-2"/>
                  <c:y val="2.748118023708600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66C-46E3-BA12-B04801402CB3}"/>
                </c:ext>
              </c:extLst>
            </c:dLbl>
            <c:dLbl>
              <c:idx val="3"/>
              <c:layout>
                <c:manualLayout>
                  <c:x val="1.0276172125883014E-2"/>
                  <c:y val="2.74811802370857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66C-46E3-BA12-B04801402CB3}"/>
                </c:ext>
              </c:extLst>
            </c:dLbl>
            <c:dLbl>
              <c:idx val="4"/>
              <c:layout>
                <c:manualLayout>
                  <c:x val="1.203762492276245E-2"/>
                  <c:y val="-3.28897331173325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66C-46E3-BA12-B04801402CB3}"/>
                </c:ext>
              </c:extLst>
            </c:dLbl>
            <c:dLbl>
              <c:idx val="5"/>
              <c:layout>
                <c:manualLayout>
                  <c:x val="1.9598396649512219E-2"/>
                  <c:y val="1.09894680600239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66C-46E3-BA12-B04801402CB3}"/>
                </c:ext>
              </c:extLst>
            </c:dLbl>
            <c:dLbl>
              <c:idx val="6"/>
              <c:layout>
                <c:manualLayout>
                  <c:x val="-2.393433452340311E-3"/>
                  <c:y val="3.187960617883952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66C-46E3-BA12-B04801402CB3}"/>
                </c:ext>
              </c:extLst>
            </c:dLbl>
            <c:dLbl>
              <c:idx val="7"/>
              <c:layout>
                <c:manualLayout>
                  <c:x val="2.3053746699125049E-2"/>
                  <c:y val="1.1883846335211931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66C-46E3-BA12-B04801402CB3}"/>
                </c:ext>
              </c:extLst>
            </c:dLbl>
            <c:dLbl>
              <c:idx val="8"/>
              <c:layout>
                <c:manualLayout>
                  <c:x val="2.3636551201183468E-2"/>
                  <c:y val="1.81112194917895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66C-46E3-BA12-B04801402CB3}"/>
                </c:ext>
              </c:extLst>
            </c:dLbl>
            <c:dLbl>
              <c:idx val="9"/>
              <c:layout>
                <c:manualLayout>
                  <c:x val="1.3506600686390558E-2"/>
                  <c:y val="3.018496969143941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66C-46E3-BA12-B04801402CB3}"/>
                </c:ext>
              </c:extLst>
            </c:dLbl>
            <c:dLbl>
              <c:idx val="10"/>
              <c:layout>
                <c:manualLayout>
                  <c:x val="8.7569191296794566E-3"/>
                  <c:y val="9.9826032151872366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66C-46E3-BA12-B04801402CB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66C-46E3-BA12-B04801402CB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66C-46E3-BA12-B04801402CB3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666C-46E3-BA12-B04801402CB3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Negocios Familia
RBS</c:v>
                </c:pt>
                <c:pt idx="1">
                  <c:v>Grupo Dragón - Stephany Barcenas</c:v>
                </c:pt>
                <c:pt idx="2">
                  <c:v>Fundación Azteca - Antonio Dominguez Sagols</c:v>
                </c:pt>
                <c:pt idx="3">
                  <c:v>Dialogus - Arturo Longares Patron</c:v>
                </c:pt>
                <c:pt idx="4">
                  <c:v>Unidad De Género - Martina Jaqueline L Hoist Tapia</c:v>
                </c:pt>
                <c:pt idx="5">
                  <c:v>Consejos Consultivos - Gloria Escobar Garibay</c:v>
                </c:pt>
                <c:pt idx="6">
                  <c:v>Administración Dirección Nss - Aldo Ricardo Zuñiga Olivares</c:v>
                </c:pt>
                <c:pt idx="7">
                  <c:v>Comité De Operadores - Jose Carlos Li Ho Chavez</c:v>
                </c:pt>
                <c:pt idx="8">
                  <c:v>Somos Grandes - Ninfa Clara Salinas Sada</c:v>
                </c:pt>
                <c:pt idx="9">
                  <c:v>Gobierno - Tonatiuh Xiutecuhtli Tetlazohtlaliztli N Gonzalez Schont</c:v>
                </c:pt>
                <c:pt idx="10">
                  <c:v>Sin Etiqueta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5.9</c:v>
                </c:pt>
                <c:pt idx="1">
                  <c:v>10.0</c:v>
                </c:pt>
                <c:pt idx="3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666C-46E3-BA12-B04801402C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0"/>
              <c:layout>
                <c:manualLayout>
                  <c:x val="1.5414258188824663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666C-46E3-BA12-B04801402CB3}"/>
                </c:ext>
              </c:extLst>
            </c:dLbl>
            <c:dLbl>
              <c:idx val="1"/>
              <c:layout>
                <c:manualLayout>
                  <c:x val="1.5414258188824663E-2"/>
                  <c:y val="-5.49428917539151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666C-46E3-BA12-B04801402CB3}"/>
                </c:ext>
              </c:extLst>
            </c:dLbl>
            <c:dLbl>
              <c:idx val="2"/>
              <c:layout>
                <c:manualLayout>
                  <c:x val="1.5414258188824663E-2"/>
                  <c:y val="-2.746387470796919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666C-46E3-BA12-B04801402CB3}"/>
                </c:ext>
              </c:extLst>
            </c:dLbl>
            <c:dLbl>
              <c:idx val="3"/>
              <c:layout>
                <c:manualLayout>
                  <c:x val="2.3121387283236899E-2"/>
                  <c:y val="5.495822741974151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666C-46E3-BA12-B04801402CB3}"/>
                </c:ext>
              </c:extLst>
            </c:dLbl>
            <c:dLbl>
              <c:idx val="4"/>
              <c:layout>
                <c:manualLayout>
                  <c:x val="2.569043031470777E-2"/>
                  <c:y val="5.0377793166197492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666C-46E3-BA12-B04801402CB3}"/>
                </c:ext>
              </c:extLst>
            </c:dLbl>
            <c:dLbl>
              <c:idx val="5"/>
              <c:layout>
                <c:manualLayout>
                  <c:x val="1.7983301220295438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666C-46E3-BA12-B04801402CB3}"/>
                </c:ext>
              </c:extLst>
            </c:dLbl>
            <c:dLbl>
              <c:idx val="6"/>
              <c:layout>
                <c:manualLayout>
                  <c:x val="5.1896188479826778E-2"/>
                  <c:y val="-5.295441926970325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666C-46E3-BA12-B04801402CB3}"/>
                </c:ext>
              </c:extLst>
            </c:dLbl>
            <c:dLbl>
              <c:idx val="7"/>
              <c:layout>
                <c:manualLayout>
                  <c:x val="3.8155861783408636E-2"/>
                  <c:y val="-7.2029923288131697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666C-46E3-BA12-B04801402CB3}"/>
                </c:ext>
              </c:extLst>
            </c:dLbl>
            <c:dLbl>
              <c:idx val="8"/>
              <c:layout>
                <c:manualLayout>
                  <c:x val="2.6351696992707483E-2"/>
                  <c:y val="-1.28851792274167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666C-46E3-BA12-B04801402CB3}"/>
                </c:ext>
              </c:extLst>
            </c:dLbl>
            <c:dLbl>
              <c:idx val="9"/>
              <c:layout>
                <c:manualLayout>
                  <c:x val="1.6834359831279563E-2"/>
                  <c:y val="-5.133989379587418E-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666C-46E3-BA12-B04801402CB3}"/>
                </c:ext>
              </c:extLst>
            </c:dLbl>
            <c:dLbl>
              <c:idx val="10"/>
              <c:layout>
                <c:manualLayout>
                  <c:x val="2.5600715171379629E-2"/>
                  <c:y val="2.4438723972858794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666C-46E3-BA12-B04801402CB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666C-46E3-BA12-B04801402CB3}"/>
                </c:ext>
              </c:extLst>
            </c:dLbl>
            <c:dLbl>
              <c:idx val="12"/>
              <c:layout>
                <c:manualLayout>
                  <c:x val="1.7983301220295438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666C-46E3-BA12-B04801402CB3}"/>
                </c:ext>
              </c:extLst>
            </c:dLbl>
            <c:dLbl>
              <c:idx val="13"/>
              <c:layout>
                <c:manualLayout>
                  <c:x val="1.2845215157353885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666C-46E3-BA12-B04801402CB3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Negocios Familia
RBS</c:v>
                </c:pt>
                <c:pt idx="1">
                  <c:v>Grupo Dragón - Stephany Barcenas</c:v>
                </c:pt>
                <c:pt idx="2">
                  <c:v>Fundación Azteca - Antonio Dominguez Sagols</c:v>
                </c:pt>
                <c:pt idx="3">
                  <c:v>Dialogus - Arturo Longares Patron</c:v>
                </c:pt>
                <c:pt idx="4">
                  <c:v>Unidad De Género - Martina Jaqueline L Hoist Tapia</c:v>
                </c:pt>
                <c:pt idx="5">
                  <c:v>Consejos Consultivos - Gloria Escobar Garibay</c:v>
                </c:pt>
                <c:pt idx="6">
                  <c:v>Administración Dirección Nss - Aldo Ricardo Zuñiga Olivares</c:v>
                </c:pt>
                <c:pt idx="7">
                  <c:v>Comité De Operadores - Jose Carlos Li Ho Chavez</c:v>
                </c:pt>
                <c:pt idx="8">
                  <c:v>Somos Grandes - Ninfa Clara Salinas Sada</c:v>
                </c:pt>
                <c:pt idx="9">
                  <c:v>Gobierno - Tonatiuh Xiutecuhtli Tetlazohtlaliztli N Gonzalez Schont</c:v>
                </c:pt>
                <c:pt idx="10">
                  <c:v>Sin Etiqueta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21.1</c:v>
                </c:pt>
                <c:pt idx="1">
                  <c:v>22.9</c:v>
                </c:pt>
                <c:pt idx="2">
                  <c:v>17.5</c:v>
                </c:pt>
                <c:pt idx="3">
                  <c:v>43.5</c:v>
                </c:pt>
                <c:pt idx="4">
                  <c:v>8.3</c:v>
                </c:pt>
                <c:pt idx="7">
                  <c:v>25.0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666C-46E3-BA12-B04801402C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666C-46E3-BA12-B04801402CB3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666C-46E3-BA12-B04801402CB3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666C-46E3-BA12-B04801402CB3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666C-46E3-BA12-B04801402CB3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666C-46E3-BA12-B04801402CB3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666C-46E3-BA12-B04801402CB3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666C-46E3-BA12-B04801402CB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666C-46E3-BA12-B04801402CB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666C-46E3-BA12-B04801402CB3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666C-46E3-BA12-B04801402CB3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666C-46E3-BA12-B04801402CB3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666C-46E3-BA12-B04801402CB3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Negocios Familia
RBS</c:v>
                </c:pt>
                <c:pt idx="1">
                  <c:v>Grupo Dragón - Stephany Barcenas</c:v>
                </c:pt>
                <c:pt idx="2">
                  <c:v>Fundación Azteca - Antonio Dominguez Sagols</c:v>
                </c:pt>
                <c:pt idx="3">
                  <c:v>Dialogus - Arturo Longares Patron</c:v>
                </c:pt>
                <c:pt idx="4">
                  <c:v>Unidad De Género - Martina Jaqueline L Hoist Tapia</c:v>
                </c:pt>
                <c:pt idx="5">
                  <c:v>Consejos Consultivos - Gloria Escobar Garibay</c:v>
                </c:pt>
                <c:pt idx="6">
                  <c:v>Administración Dirección Nss - Aldo Ricardo Zuñiga Olivares</c:v>
                </c:pt>
                <c:pt idx="7">
                  <c:v>Comité De Operadores - Jose Carlos Li Ho Chavez</c:v>
                </c:pt>
                <c:pt idx="8">
                  <c:v>Somos Grandes - Ninfa Clara Salinas Sada</c:v>
                </c:pt>
                <c:pt idx="9">
                  <c:v>Gobierno - Tonatiuh Xiutecuhtli Tetlazohtlaliztli N Gonzalez Schont</c:v>
                </c:pt>
                <c:pt idx="10">
                  <c:v>Sin Etiqueta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73.0</c:v>
                </c:pt>
                <c:pt idx="1">
                  <c:v>67.1</c:v>
                </c:pt>
                <c:pt idx="2">
                  <c:v>82.5</c:v>
                </c:pt>
                <c:pt idx="3">
                  <c:v>52.2</c:v>
                </c:pt>
                <c:pt idx="4">
                  <c:v>91.7</c:v>
                </c:pt>
                <c:pt idx="5">
                  <c:v>100.0</c:v>
                </c:pt>
                <c:pt idx="6">
                  <c:v>100.0</c:v>
                </c:pt>
                <c:pt idx="7">
                  <c:v>75.0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666C-46E3-BA12-B04801402C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05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24E-4401-AA75-5C3F4D3F6D1B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24E-4401-AA75-5C3F4D3F6D1B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24E-4401-AA75-5C3F4D3F6D1B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60.2</c:v>
                </c:pt>
                <c:pt idx="1">
                  <c:v>29.9</c:v>
                </c:pt>
                <c:pt idx="2">
                  <c:v>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24E-4401-AA75-5C3F4D3F6D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2957277900146845"/>
          <c:y val="0"/>
          <c:w val="0.5704272209985316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6D7-42A1-BEEF-D764A684AAD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6D7-42A1-BEEF-D764A684AAD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6D7-42A1-BEEF-D764A684AADB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6D7-42A1-BEEF-D764A684AADB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6D7-42A1-BEEF-D764A684AADB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Otros Negocios
RBS</c:v>
                </c:pt>
                <c:pt idx="1">
                  <c:v>Upax - Cecilia Laura Fallabrino</c:v>
                </c:pt>
                <c:pt idx="2">
                  <c:v>Total Protect - Moshe Arel Xxx</c:v>
                </c:pt>
                <c:pt idx="3">
                  <c:v>Inversiones - Adrian Georges Steckel Pflaum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9.8</c:v>
                </c:pt>
                <c:pt idx="1">
                  <c:v>10.1</c:v>
                </c:pt>
                <c:pt idx="2">
                  <c:v>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6D7-42A1-BEEF-D764A684AA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6D7-42A1-BEEF-D764A684AADB}"/>
                </c:ext>
              </c:extLst>
            </c:dLbl>
            <c:dLbl>
              <c:idx val="1"/>
              <c:layout>
                <c:manualLayout>
                  <c:x val="4.5329019823788473E-2"/>
                  <c:y val="1.8824411723015347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6D7-42A1-BEEF-D764A684AADB}"/>
                </c:ext>
              </c:extLst>
            </c:dLbl>
            <c:dLbl>
              <c:idx val="2"/>
              <c:layout>
                <c:manualLayout>
                  <c:x val="3.467771047479197E-2"/>
                  <c:y val="0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6D7-42A1-BEEF-D764A684AADB}"/>
                </c:ext>
              </c:extLst>
            </c:dLbl>
            <c:dLbl>
              <c:idx val="3"/>
              <c:layout>
                <c:manualLayout>
                  <c:x val="5.0698268477728833E-2"/>
                  <c:y val="8.7657997957502243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6D7-42A1-BEEF-D764A684AADB}"/>
                </c:ext>
              </c:extLst>
            </c:dLbl>
            <c:dLbl>
              <c:idx val="5"/>
              <c:layout>
                <c:manualLayout>
                  <c:x val="3.2574033284385635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6D7-42A1-BEEF-D764A684AAD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6D7-42A1-BEEF-D764A684AAD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6D7-42A1-BEEF-D764A684AADB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6D7-42A1-BEEF-D764A684AADB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86D7-42A1-BEEF-D764A684AADB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Otros Negocios
RBS</c:v>
                </c:pt>
                <c:pt idx="1">
                  <c:v>Upax - Cecilia Laura Fallabrino</c:v>
                </c:pt>
                <c:pt idx="2">
                  <c:v>Total Protect - Moshe Arel Xxx</c:v>
                </c:pt>
                <c:pt idx="3">
                  <c:v>Inversiones - Adrian Georges Steckel Pflaum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29.9</c:v>
                </c:pt>
                <c:pt idx="1">
                  <c:v>31.1</c:v>
                </c:pt>
                <c:pt idx="2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86D7-42A1-BEEF-D764A684AAD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1-86D7-42A1-BEEF-D764A684AADB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2-86D7-42A1-BEEF-D764A684AADB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86D7-42A1-BEEF-D764A684AADB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5-86D7-42A1-BEEF-D764A684AADB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86D7-42A1-BEEF-D764A684AADB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9-86D7-42A1-BEEF-D764A684AADB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B-86D7-42A1-BEEF-D764A684AADB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D-86D7-42A1-BEEF-D764A684AADB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E-86D7-42A1-BEEF-D764A684AADB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20-86D7-42A1-BEEF-D764A684AADB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Otros Negocios
RBS</c:v>
                </c:pt>
                <c:pt idx="1">
                  <c:v>Upax - Cecilia Laura Fallabrino</c:v>
                </c:pt>
                <c:pt idx="2">
                  <c:v>Total Protect - Moshe Arel Xxx</c:v>
                </c:pt>
                <c:pt idx="3">
                  <c:v>Inversiones - Adrian Georges Steckel Pflaum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60.2</c:v>
                </c:pt>
                <c:pt idx="1">
                  <c:v>58.8</c:v>
                </c:pt>
                <c:pt idx="2">
                  <c:v>81.2</c:v>
                </c:pt>
                <c:pt idx="3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1-86D7-42A1-BEEF-D764A684AAD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17B-44A7-AE66-EB32ED0AA711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17B-44A7-AE66-EB32ED0AA711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17B-44A7-AE66-EB32ED0AA711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79.6</c:v>
                </c:pt>
                <c:pt idx="1">
                  <c:v>17.2</c:v>
                </c:pt>
                <c:pt idx="2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17B-44A7-AE66-EB32ED0AA7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2957277900146845"/>
          <c:y val="0"/>
          <c:w val="0.5704272209985316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elete val="1"/>
            <c:numFmt formatCode="0.0&quot;%&quot;" sourceLinked="0"/>
            <c:txPr>
              <a:bodyPr/>
              <a:lstStyle/>
              <a:p>
                <a:pPr>
                  <a:defRPr sz="900" b="1">
                    <a:latin typeface="Montserrat"/>
                  </a:defRPr>
                </a:pPr>
              </a:p>
            </c:txPr>
          </c:dLbls>
          <c:cat>
            <c:strRef>
              <c:f>Sheet1!$A$2:$A$6</c:f>
              <c:strCache>
                <c:ptCount val="5"/>
                <c:pt idx="0">
                  <c:v>Soporte Estratégico
RBS</c:v>
                </c:pt>
                <c:pt idx="1">
                  <c:v>Grupo Salinas - Pedro Padilla Longoria</c:v>
                </c:pt>
                <c:pt idx="2">
                  <c:v>Estrategias E Iniciativas Financieras - Rodrigo Pliego Abraham</c:v>
                </c:pt>
                <c:pt idx="3">
                  <c:v>Información Y Asuntos Públicos - Jorge Mendoza Garza</c:v>
                </c:pt>
                <c:pt idx="4">
                  <c:v>Relación Con Inversionistas - Luis Jorge Echarte Fernandez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3.3</c:v>
                </c:pt>
                <c:pt idx="1">
                  <c:v>3.6</c:v>
                </c:pt>
                <c:pt idx="2">
                  <c:v>1.4</c:v>
                </c:pt>
                <c:pt idx="3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BB6-4556-9DFF-BD3F37238A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BB6-4556-9DFF-BD3F37238A81}"/>
                </c:ext>
              </c:extLst>
            </c:dLbl>
            <c:dLbl>
              <c:idx val="1"/>
              <c:layout>
                <c:manualLayout>
                  <c:x val="4.5329019823788473E-2"/>
                  <c:y val="1.8824411723015347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BB6-4556-9DFF-BD3F37238A81}"/>
                </c:ext>
              </c:extLst>
            </c:dLbl>
            <c:dLbl>
              <c:idx val="2"/>
              <c:layout>
                <c:manualLayout>
                  <c:x val="3.467771047479197E-2"/>
                  <c:y val="0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BB6-4556-9DFF-BD3F37238A81}"/>
                </c:ext>
              </c:extLst>
            </c:dLbl>
            <c:dLbl>
              <c:idx val="3"/>
              <c:layout>
                <c:manualLayout>
                  <c:x val="5.0698268477728833E-2"/>
                  <c:y val="8.7657997957502243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BB6-4556-9DFF-BD3F37238A81}"/>
                </c:ext>
              </c:extLst>
            </c:dLbl>
            <c:dLbl>
              <c:idx val="5"/>
              <c:layout>
                <c:manualLayout>
                  <c:x val="3.2574033284385635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BB6-4556-9DFF-BD3F37238A8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BB6-4556-9DFF-BD3F37238A8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BB6-4556-9DFF-BD3F37238A81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BB6-4556-9DFF-BD3F37238A8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BB6-4556-9DFF-BD3F37238A8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Soporte Estratégico
RBS</c:v>
                </c:pt>
                <c:pt idx="1">
                  <c:v>Grupo Salinas - Pedro Padilla Longoria</c:v>
                </c:pt>
                <c:pt idx="2">
                  <c:v>Estrategias E Iniciativas Financieras - Rodrigo Pliego Abraham</c:v>
                </c:pt>
                <c:pt idx="3">
                  <c:v>Información Y Asuntos Públicos - Jorge Mendoza Garza</c:v>
                </c:pt>
                <c:pt idx="4">
                  <c:v>Relación Con Inversionistas - Luis Jorge Echarte Fernandez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17.2</c:v>
                </c:pt>
                <c:pt idx="1">
                  <c:v>17.8</c:v>
                </c:pt>
                <c:pt idx="2">
                  <c:v>14.1</c:v>
                </c:pt>
                <c:pt idx="3">
                  <c:v>14.1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3BB6-4556-9DFF-BD3F37238A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1-3BB6-4556-9DFF-BD3F37238A81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2-3BB6-4556-9DFF-BD3F37238A81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3BB6-4556-9DFF-BD3F37238A81}"/>
              </c:ext>
            </c:extLst>
          </c:dPt>
          <c:dPt>
            <c:idx val="10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5-3BB6-4556-9DFF-BD3F37238A81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7-3BB6-4556-9DFF-BD3F37238A81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9-3BB6-4556-9DFF-BD3F37238A81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B-3BB6-4556-9DFF-BD3F37238A81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D-3BB6-4556-9DFF-BD3F37238A81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E-3BB6-4556-9DFF-BD3F37238A81}"/>
              </c:ext>
            </c:extLst>
          </c:dPt>
          <c:dPt>
            <c:idx val="16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20-3BB6-4556-9DFF-BD3F37238A81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Soporte Estratégico
RBS</c:v>
                </c:pt>
                <c:pt idx="1">
                  <c:v>Grupo Salinas - Pedro Padilla Longoria</c:v>
                </c:pt>
                <c:pt idx="2">
                  <c:v>Estrategias E Iniciativas Financieras - Rodrigo Pliego Abraham</c:v>
                </c:pt>
                <c:pt idx="3">
                  <c:v>Información Y Asuntos Públicos - Jorge Mendoza Garza</c:v>
                </c:pt>
                <c:pt idx="4">
                  <c:v>Relación Con Inversionistas - Luis Jorge Echarte Fernandez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79.6</c:v>
                </c:pt>
                <c:pt idx="1">
                  <c:v>78.6</c:v>
                </c:pt>
                <c:pt idx="2">
                  <c:v>84.5</c:v>
                </c:pt>
                <c:pt idx="3">
                  <c:v>84.5</c:v>
                </c:pt>
                <c:pt idx="4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1-3BB6-4556-9DFF-BD3F37238A8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CD9-4015-9288-E1EE2208B274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CD9-4015-9288-E1EE2208B274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CD9-4015-9288-E1EE2208B274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73.3</c:v>
                </c:pt>
                <c:pt idx="1">
                  <c:v>26.7</c:v>
                </c:pt>
                <c:pt idx="2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CD9-4015-9288-E1EE2208B2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2957277900146845"/>
          <c:y val="0"/>
          <c:w val="0.5704272209985316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elete val="1"/>
            <c:numFmt formatCode="0.0&quot;%&quot;" sourceLinked="0"/>
            <c:txPr>
              <a:bodyPr/>
              <a:lstStyle/>
              <a:p>
                <a:pPr>
                  <a:defRPr sz="900" b="1">
                    <a:latin typeface="Montserrat"/>
                  </a:defRPr>
                </a:pPr>
              </a:p>
            </c:txPr>
          </c:dLbls>
          <c:cat>
            <c:strRef>
              <c:f>Sheet1!$A$2:$A$4</c:f>
              <c:strCache>
                <c:ptCount val="3"/>
                <c:pt idx="0">
                  <c:v>Educación</c:v>
                </c:pt>
                <c:pt idx="1">
                  <c:v>Universidad De La Libertad - Jorge Carlos Diaz Cuervo</c:v>
                </c:pt>
                <c:pt idx="2">
                  <c:v>Caminos A La Libertad - Sergio Antonio Sarmiento Fernandez De Lara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0-FCB8-4DE8-9A75-5459B77662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CB8-4DE8-9A75-5459B7766285}"/>
                </c:ext>
              </c:extLst>
            </c:dLbl>
            <c:dLbl>
              <c:idx val="1"/>
              <c:layout>
                <c:manualLayout>
                  <c:x val="4.5329019823788473E-2"/>
                  <c:y val="1.8824411723015347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CB8-4DE8-9A75-5459B7766285}"/>
                </c:ext>
              </c:extLst>
            </c:dLbl>
            <c:dLbl>
              <c:idx val="2"/>
              <c:layout>
                <c:manualLayout>
                  <c:x val="3.467771047479197E-2"/>
                  <c:y val="0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CB8-4DE8-9A75-5459B7766285}"/>
                </c:ext>
              </c:extLst>
            </c:dLbl>
            <c:dLbl>
              <c:idx val="3"/>
              <c:layout>
                <c:manualLayout>
                  <c:x val="5.0698268477728833E-2"/>
                  <c:y val="8.7657997957502243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CB8-4DE8-9A75-5459B7766285}"/>
                </c:ext>
              </c:extLst>
            </c:dLbl>
            <c:dLbl>
              <c:idx val="5"/>
              <c:layout>
                <c:manualLayout>
                  <c:x val="3.2574033284385635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CB8-4DE8-9A75-5459B7766285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CB8-4DE8-9A75-5459B7766285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CB8-4DE8-9A75-5459B7766285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CB8-4DE8-9A75-5459B7766285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CB8-4DE8-9A75-5459B7766285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Educación</c:v>
                </c:pt>
                <c:pt idx="1">
                  <c:v>Universidad De La Libertad - Jorge Carlos Diaz Cuervo</c:v>
                </c:pt>
                <c:pt idx="2">
                  <c:v>Caminos A La Libertad - Sergio Antonio Sarmiento Fernandez De Lara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26.7</c:v>
                </c:pt>
                <c:pt idx="1">
                  <c:v>23.1</c:v>
                </c:pt>
                <c:pt idx="2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CB8-4DE8-9A75-5459B77662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C-FCB8-4DE8-9A75-5459B7766285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FCB8-4DE8-9A75-5459B7766285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E-FCB8-4DE8-9A75-5459B7766285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0-FCB8-4DE8-9A75-5459B7766285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2-FCB8-4DE8-9A75-5459B7766285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4-FCB8-4DE8-9A75-5459B7766285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6-FCB8-4DE8-9A75-5459B7766285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8-FCB8-4DE8-9A75-5459B7766285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FCB8-4DE8-9A75-5459B7766285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B-FCB8-4DE8-9A75-5459B7766285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Educación</c:v>
                </c:pt>
                <c:pt idx="1">
                  <c:v>Universidad De La Libertad - Jorge Carlos Diaz Cuervo</c:v>
                </c:pt>
                <c:pt idx="2">
                  <c:v>Caminos A La Libertad - Sergio Antonio Sarmiento Fernandez De Lara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73.3</c:v>
                </c:pt>
                <c:pt idx="1">
                  <c:v>76.9</c:v>
                </c:pt>
                <c:pt idx="2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FCB8-4DE8-9A75-5459B776628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145-4FAF-8C91-3DBD468CC943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145-4FAF-8C91-3DBD468CC943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145-4FAF-8C91-3DBD468CC943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145-4FAF-8C91-3DBD468CC9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2828210706953085"/>
          <c:y val="0"/>
          <c:w val="0.57171789293046915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C44A-46B6-8848-7D1448282A8F}"/>
              </c:ext>
            </c:extLst>
          </c:dPt>
          <c:dLbls>
            <c:dLbl>
              <c:idx val="0"/>
              <c:layout>
                <c:manualLayout>
                  <c:x val="1.0276172125883108E-2"/>
                  <c:y val="-2.747036428138790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44A-46B6-8848-7D1448282A8F}"/>
                </c:ext>
              </c:extLst>
            </c:dLbl>
            <c:dLbl>
              <c:idx val="1"/>
              <c:layout>
                <c:manualLayout>
                  <c:x val="1.2845215157353885E-2"/>
                  <c:y val="1.099030890369475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44A-46B6-8848-7D1448282A8F}"/>
                </c:ext>
              </c:extLst>
            </c:dLbl>
            <c:dLbl>
              <c:idx val="2"/>
              <c:layout>
                <c:manualLayout>
                  <c:x val="1.5414258188824569E-2"/>
                  <c:y val="2.748118023708600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44A-46B6-8848-7D1448282A8F}"/>
                </c:ext>
              </c:extLst>
            </c:dLbl>
            <c:dLbl>
              <c:idx val="3"/>
              <c:layout>
                <c:manualLayout>
                  <c:x val="1.0276172125883014E-2"/>
                  <c:y val="2.74811802370857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44A-46B6-8848-7D1448282A8F}"/>
                </c:ext>
              </c:extLst>
            </c:dLbl>
            <c:dLbl>
              <c:idx val="4"/>
              <c:layout>
                <c:manualLayout>
                  <c:x val="1.203762492276245E-2"/>
                  <c:y val="-3.28897331173325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44A-46B6-8848-7D1448282A8F}"/>
                </c:ext>
              </c:extLst>
            </c:dLbl>
            <c:dLbl>
              <c:idx val="5"/>
              <c:layout>
                <c:manualLayout>
                  <c:x val="1.9598396649512219E-2"/>
                  <c:y val="1.09894680600239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44A-46B6-8848-7D1448282A8F}"/>
                </c:ext>
              </c:extLst>
            </c:dLbl>
            <c:dLbl>
              <c:idx val="6"/>
              <c:layout>
                <c:manualLayout>
                  <c:x val="-2.393433452340311E-3"/>
                  <c:y val="3.187960617883952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44A-46B6-8848-7D1448282A8F}"/>
                </c:ext>
              </c:extLst>
            </c:dLbl>
            <c:dLbl>
              <c:idx val="7"/>
              <c:layout>
                <c:manualLayout>
                  <c:x val="2.3053746699125049E-2"/>
                  <c:y val="1.1883846335211931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44A-46B6-8848-7D1448282A8F}"/>
                </c:ext>
              </c:extLst>
            </c:dLbl>
            <c:dLbl>
              <c:idx val="8"/>
              <c:layout>
                <c:manualLayout>
                  <c:x val="2.3636551201183468E-2"/>
                  <c:y val="1.81112194917895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44A-46B6-8848-7D1448282A8F}"/>
                </c:ext>
              </c:extLst>
            </c:dLbl>
            <c:dLbl>
              <c:idx val="9"/>
              <c:layout>
                <c:manualLayout>
                  <c:x val="1.3506600686390558E-2"/>
                  <c:y val="3.018496969143941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44A-46B6-8848-7D1448282A8F}"/>
                </c:ext>
              </c:extLst>
            </c:dLbl>
            <c:dLbl>
              <c:idx val="10"/>
              <c:layout>
                <c:manualLayout>
                  <c:x val="8.7569191296794566E-3"/>
                  <c:y val="9.9826032151872366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C44A-46B6-8848-7D1448282A8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44A-46B6-8848-7D1448282A8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C44A-46B6-8848-7D1448282A8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44A-46B6-8848-7D1448282A8F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Oficina de la Presidencia</c:v>
                </c:pt>
                <c:pt idx="1">
                  <c:v>Administración - Bernardo Perez Suarez</c:v>
                </c:pt>
                <c:pt idx="2">
                  <c:v>Operación Oficina - Julio Antonio Saldana Torres</c:v>
                </c:pt>
                <c:pt idx="3">
                  <c:v>Servicios De Biblioteca Rbs - Jose Miguel Gutierrez Martinez</c:v>
                </c:pt>
                <c:pt idx="4">
                  <c:v>Taxi Aereo - Alan Giovanni Zavala Acosta</c:v>
                </c:pt>
                <c:pt idx="5">
                  <c:v>Proyecto Cgh - Bernardo Perez Suarez</c:v>
                </c:pt>
                <c:pt idx="6">
                  <c:v>Recepción - Eduardo Alberto Quero Ortiz</c:v>
                </c:pt>
                <c:pt idx="7">
                  <c:v>Sin Etiqueta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0F-C44A-46B6-8848-7D1448282A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0"/>
              <c:layout>
                <c:manualLayout>
                  <c:x val="1.5414258188824663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C44A-46B6-8848-7D1448282A8F}"/>
                </c:ext>
              </c:extLst>
            </c:dLbl>
            <c:dLbl>
              <c:idx val="1"/>
              <c:layout>
                <c:manualLayout>
                  <c:x val="1.5414258188824663E-2"/>
                  <c:y val="-5.49428917539151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C44A-46B6-8848-7D1448282A8F}"/>
                </c:ext>
              </c:extLst>
            </c:dLbl>
            <c:dLbl>
              <c:idx val="2"/>
              <c:layout>
                <c:manualLayout>
                  <c:x val="1.5414258188824663E-2"/>
                  <c:y val="-2.746387470796919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C44A-46B6-8848-7D1448282A8F}"/>
                </c:ext>
              </c:extLst>
            </c:dLbl>
            <c:dLbl>
              <c:idx val="3"/>
              <c:layout>
                <c:manualLayout>
                  <c:x val="2.3121387283236899E-2"/>
                  <c:y val="5.495822741974151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C44A-46B6-8848-7D1448282A8F}"/>
                </c:ext>
              </c:extLst>
            </c:dLbl>
            <c:dLbl>
              <c:idx val="4"/>
              <c:layout>
                <c:manualLayout>
                  <c:x val="2.569043031470777E-2"/>
                  <c:y val="5.0377793166197492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C44A-46B6-8848-7D1448282A8F}"/>
                </c:ext>
              </c:extLst>
            </c:dLbl>
            <c:dLbl>
              <c:idx val="5"/>
              <c:layout>
                <c:manualLayout>
                  <c:x val="1.7983301220295438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C44A-46B6-8848-7D1448282A8F}"/>
                </c:ext>
              </c:extLst>
            </c:dLbl>
            <c:dLbl>
              <c:idx val="6"/>
              <c:layout>
                <c:manualLayout>
                  <c:x val="5.1896188479826778E-2"/>
                  <c:y val="-5.295441926970325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C44A-46B6-8848-7D1448282A8F}"/>
                </c:ext>
              </c:extLst>
            </c:dLbl>
            <c:dLbl>
              <c:idx val="7"/>
              <c:layout>
                <c:manualLayout>
                  <c:x val="3.8155861783408636E-2"/>
                  <c:y val="-7.2029923288131697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C44A-46B6-8848-7D1448282A8F}"/>
                </c:ext>
              </c:extLst>
            </c:dLbl>
            <c:dLbl>
              <c:idx val="8"/>
              <c:layout>
                <c:manualLayout>
                  <c:x val="2.6351696992707483E-2"/>
                  <c:y val="-1.28851792274167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C44A-46B6-8848-7D1448282A8F}"/>
                </c:ext>
              </c:extLst>
            </c:dLbl>
            <c:dLbl>
              <c:idx val="9"/>
              <c:layout>
                <c:manualLayout>
                  <c:x val="1.6834359831279563E-2"/>
                  <c:y val="-5.133989379587418E-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C44A-46B6-8848-7D1448282A8F}"/>
                </c:ext>
              </c:extLst>
            </c:dLbl>
            <c:dLbl>
              <c:idx val="10"/>
              <c:layout>
                <c:manualLayout>
                  <c:x val="2.5600715171379629E-2"/>
                  <c:y val="2.4438723972858794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C44A-46B6-8848-7D1448282A8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C44A-46B6-8848-7D1448282A8F}"/>
                </c:ext>
              </c:extLst>
            </c:dLbl>
            <c:dLbl>
              <c:idx val="12"/>
              <c:layout>
                <c:manualLayout>
                  <c:x val="1.7983301220295438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C44A-46B6-8848-7D1448282A8F}"/>
                </c:ext>
              </c:extLst>
            </c:dLbl>
            <c:dLbl>
              <c:idx val="13"/>
              <c:layout>
                <c:manualLayout>
                  <c:x val="1.2845215157353885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C44A-46B6-8848-7D1448282A8F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Oficina de la Presidencia</c:v>
                </c:pt>
                <c:pt idx="1">
                  <c:v>Administración - Bernardo Perez Suarez</c:v>
                </c:pt>
                <c:pt idx="2">
                  <c:v>Operación Oficina - Julio Antonio Saldana Torres</c:v>
                </c:pt>
                <c:pt idx="3">
                  <c:v>Servicios De Biblioteca Rbs - Jose Miguel Gutierrez Martinez</c:v>
                </c:pt>
                <c:pt idx="4">
                  <c:v>Taxi Aereo - Alan Giovanni Zavala Acosta</c:v>
                </c:pt>
                <c:pt idx="5">
                  <c:v>Proyecto Cgh - Bernardo Perez Suarez</c:v>
                </c:pt>
                <c:pt idx="6">
                  <c:v>Recepción - Eduardo Alberto Quero Ortiz</c:v>
                </c:pt>
                <c:pt idx="7">
                  <c:v>Sin Etiqueta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1E-C44A-46B6-8848-7D1448282A8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C44A-46B6-8848-7D1448282A8F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C44A-46B6-8848-7D1448282A8F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C44A-46B6-8848-7D1448282A8F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C44A-46B6-8848-7D1448282A8F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C44A-46B6-8848-7D1448282A8F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C44A-46B6-8848-7D1448282A8F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C44A-46B6-8848-7D1448282A8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C44A-46B6-8848-7D1448282A8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C44A-46B6-8848-7D1448282A8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C44A-46B6-8848-7D1448282A8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C44A-46B6-8848-7D1448282A8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C44A-46B6-8848-7D1448282A8F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Oficina de la Presidencia</c:v>
                </c:pt>
                <c:pt idx="1">
                  <c:v>Administración - Bernardo Perez Suarez</c:v>
                </c:pt>
                <c:pt idx="2">
                  <c:v>Operación Oficina - Julio Antonio Saldana Torres</c:v>
                </c:pt>
                <c:pt idx="3">
                  <c:v>Servicios De Biblioteca Rbs - Jose Miguel Gutierrez Martinez</c:v>
                </c:pt>
                <c:pt idx="4">
                  <c:v>Taxi Aereo - Alan Giovanni Zavala Acosta</c:v>
                </c:pt>
                <c:pt idx="5">
                  <c:v>Proyecto Cgh - Bernardo Perez Suarez</c:v>
                </c:pt>
                <c:pt idx="6">
                  <c:v>Recepción - Eduardo Alberto Quero Ortiz</c:v>
                </c:pt>
                <c:pt idx="7">
                  <c:v>Sin Etiqueta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C44A-46B6-8848-7D1448282A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1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3F2355-9528-434A-8440-396DA0C4DF06}" type="doc">
      <dgm:prSet loTypeId="urn:microsoft.com/office/officeart/2005/8/layout/orgChart1" loCatId="hierarchy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s-MX"/>
        </a:p>
      </dgm:t>
    </dgm:pt>
    <dgm:pt modelId="{DD948D88-A8C6-4D72-9479-5EAB36D48AB9}">
      <dgm:prSet phldrT="[Texto]" custT="1"/>
      <dgm:spPr>
        <a:noFill/>
        <a:ln>
          <a:noFill/>
        </a:ln>
      </dgm:spPr>
      <dgm:t>
        <a:bodyPr/>
        <a:lstStyle/>
        <a:p>
          <a:endParaRPr lang="es-MX" sz="1400" dirty="0">
            <a:solidFill>
              <a:schemeClr val="tx1"/>
            </a:solidFill>
            <a:latin typeface="Montserrat" panose="00000500000000000000" pitchFamily="2" charset="0"/>
          </a:endParaRPr>
        </a:p>
      </dgm:t>
    </dgm:pt>
    <dgm:pt modelId="{F186FBF3-E484-46AB-A4D4-07AAB253DAD8}" type="parTrans" cxnId="{D9B0A4C1-C588-47B4-A4AA-56CCAC456BA2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82897637-2921-4110-9DD8-6E252E7CF005}" type="sibTrans" cxnId="{D9B0A4C1-C588-47B4-A4AA-56CCAC456BA2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5B724657-04FD-47D8-9600-37FDD023DFB9}">
      <dgm:prSet phldrT="[Texto]" custT="1"/>
      <dgm:spPr>
        <a:gradFill rotWithShape="0">
          <a:gsLst>
            <a:gs pos="0">
              <a:srgbClr val="E42322"/>
            </a:gs>
            <a:gs pos="100000">
              <a:srgbClr val="C22020"/>
            </a:gs>
          </a:gsLst>
          <a:lin ang="5400000" scaled="1"/>
        </a:gradFill>
      </dgm:spPr>
      <dgm:t>
        <a:bodyPr/>
        <a:lstStyle/>
        <a:p>
          <a:pPr>
            <a:buFontTx/>
            <a:buNone/>
          </a:pPr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GRUPO ELEKTRA</a:t>
          </a:r>
          <a:endParaRPr lang="es-MX" sz="1400" dirty="0">
            <a:latin typeface="Montserrat" panose="00000500000000000000" pitchFamily="2" charset="0"/>
          </a:endParaRPr>
        </a:p>
      </dgm:t>
    </dgm:pt>
    <dgm:pt modelId="{1846946C-55D9-4C35-A002-C7A135C40504}" type="parTrans" cxnId="{48BC27D9-4D31-4995-9170-095599E93C28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881F665B-D5DC-4719-B1E4-08D4C446E03A}" type="sibTrans" cxnId="{48BC27D9-4D31-4995-9170-095599E93C28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581674F1-FE6E-446E-8FCC-84FF7EB19975}">
      <dgm:prSet phldrT="[Texto]" custT="1"/>
      <dgm:spPr>
        <a:gradFill rotWithShape="0">
          <a:gsLst>
            <a:gs pos="0">
              <a:srgbClr val="FFC000"/>
            </a:gs>
            <a:gs pos="100000">
              <a:srgbClr val="DFB623"/>
            </a:gs>
          </a:gsLst>
          <a:lin ang="5400000" scaled="1"/>
        </a:gradFill>
      </dgm:spPr>
      <dgm:t>
        <a:bodyPr/>
        <a:lstStyle/>
        <a:p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DESPACHOS</a:t>
          </a:r>
          <a:endParaRPr lang="es-MX" sz="1400" dirty="0">
            <a:latin typeface="Montserrat" panose="00000500000000000000" pitchFamily="2" charset="0"/>
          </a:endParaRPr>
        </a:p>
      </dgm:t>
    </dgm:pt>
    <dgm:pt modelId="{E0EFE30D-C4F0-4746-BBD7-E9420B38290C}" type="parTrans" cxnId="{0AB8829F-8238-4450-AA72-D990794C10F7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049448D4-1B94-4124-9ECD-A51E1D2770F2}" type="sibTrans" cxnId="{0AB8829F-8238-4450-AA72-D990794C10F7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D3FF70DB-94DB-494B-8727-AB0C38FCB3FD}">
      <dgm:prSet phldrT="[Texto]" custT="1"/>
      <dgm:spPr>
        <a:gradFill rotWithShape="0">
          <a:gsLst>
            <a:gs pos="1000">
              <a:srgbClr val="9853AC"/>
            </a:gs>
            <a:gs pos="100000">
              <a:srgbClr val="7A4494"/>
            </a:gs>
          </a:gsLst>
          <a:lin ang="5400000" scaled="1"/>
        </a:gradFill>
      </dgm:spPr>
      <dgm:t>
        <a:bodyPr/>
        <a:lstStyle/>
        <a:p>
          <a:pPr>
            <a:buFontTx/>
            <a:buNone/>
          </a:pPr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GRUPO TOTALPLAY</a:t>
          </a:r>
          <a:endParaRPr lang="es-MX" sz="1400" dirty="0">
            <a:latin typeface="Montserrat" panose="00000500000000000000" pitchFamily="2" charset="0"/>
          </a:endParaRPr>
        </a:p>
      </dgm:t>
    </dgm:pt>
    <dgm:pt modelId="{EFEB1C7B-92FD-40A8-9E9F-5BE076B5E1EC}" type="parTrans" cxnId="{8DD31A4B-6018-42BE-8E34-6FCEEF8FA91F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16B72A9E-4326-4FDB-BDAB-A5573101850A}" type="sibTrans" cxnId="{8DD31A4B-6018-42BE-8E34-6FCEEF8FA91F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83ED49D5-1A20-40EF-A70A-EFA1A472F82D}">
      <dgm:prSet phldrT="[Texto]" custT="1"/>
      <dgm:spPr>
        <a:gradFill rotWithShape="0">
          <a:gsLst>
            <a:gs pos="1000">
              <a:srgbClr val="2B94F0"/>
            </a:gs>
            <a:gs pos="100000">
              <a:srgbClr val="002060"/>
            </a:gs>
          </a:gsLst>
          <a:lin ang="5400000" scaled="1"/>
        </a:gradFill>
      </dgm:spPr>
      <dgm:t>
        <a:bodyPr/>
        <a:lstStyle/>
        <a:p>
          <a:r>
            <a:rPr lang="es-ES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OTROS NEGOCIOS</a:t>
          </a:r>
          <a:endParaRPr lang="es-MX" sz="1400" dirty="0"/>
        </a:p>
      </dgm:t>
    </dgm:pt>
    <dgm:pt modelId="{96C1AE25-F2FB-42D2-89C0-740B2B7DE232}" type="parTrans" cxnId="{08B5C2A5-3341-44DA-9712-C79671B94D6C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/>
        </a:p>
      </dgm:t>
    </dgm:pt>
    <dgm:pt modelId="{A4F2273E-991C-4BB1-8819-A68F6CF92381}" type="sibTrans" cxnId="{08B5C2A5-3341-44DA-9712-C79671B94D6C}">
      <dgm:prSet/>
      <dgm:spPr/>
      <dgm:t>
        <a:bodyPr/>
        <a:lstStyle/>
        <a:p>
          <a:endParaRPr lang="es-MX" sz="1400"/>
        </a:p>
      </dgm:t>
    </dgm:pt>
    <dgm:pt modelId="{4E656220-5FBF-478C-A13F-8E5A0BA082DE}">
      <dgm:prSet phldrT="[Texto]" custT="1"/>
      <dgm:spPr>
        <a:gradFill rotWithShape="0">
          <a:gsLst>
            <a:gs pos="1000">
              <a:srgbClr val="AC2E6B"/>
            </a:gs>
            <a:gs pos="100000">
              <a:srgbClr val="C22EA2"/>
            </a:gs>
          </a:gsLst>
          <a:lin ang="5400000" scaled="1"/>
        </a:gradFill>
      </dgm:spPr>
      <dgm:t>
        <a:bodyPr/>
        <a:lstStyle/>
        <a:p>
          <a:pPr>
            <a:buFontTx/>
            <a:buNone/>
          </a:pPr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TV AZTECA</a:t>
          </a:r>
          <a:endParaRPr lang="es-MX" sz="1400" dirty="0"/>
        </a:p>
      </dgm:t>
    </dgm:pt>
    <dgm:pt modelId="{E70EC9AC-A02E-4457-B0DB-413D2CE845C6}" type="parTrans" cxnId="{2D4B637E-A6B3-4302-B18D-DED810FE2DB5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/>
        </a:p>
      </dgm:t>
    </dgm:pt>
    <dgm:pt modelId="{0AB6B31D-6631-4D77-A3DC-0A5D5F6DC2EB}" type="sibTrans" cxnId="{2D4B637E-A6B3-4302-B18D-DED810FE2DB5}">
      <dgm:prSet/>
      <dgm:spPr/>
      <dgm:t>
        <a:bodyPr/>
        <a:lstStyle/>
        <a:p>
          <a:endParaRPr lang="es-MX" sz="1400"/>
        </a:p>
      </dgm:t>
    </dgm:pt>
    <dgm:pt modelId="{942FC9D6-DBF3-47F5-A51F-F3748696C38E}" type="pres">
      <dgm:prSet presAssocID="{E23F2355-9528-434A-8440-396DA0C4DF0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9BE1D2A-7D63-4A4B-B173-C51D9A0773F6}" type="pres">
      <dgm:prSet presAssocID="{DD948D88-A8C6-4D72-9479-5EAB36D48AB9}" presName="hierRoot1" presStyleCnt="0">
        <dgm:presLayoutVars>
          <dgm:hierBranch/>
        </dgm:presLayoutVars>
      </dgm:prSet>
      <dgm:spPr/>
    </dgm:pt>
    <dgm:pt modelId="{0CECD744-5F72-430D-A388-743AF9A858F9}" type="pres">
      <dgm:prSet presAssocID="{DD948D88-A8C6-4D72-9479-5EAB36D48AB9}" presName="rootComposite1" presStyleCnt="0"/>
      <dgm:spPr/>
    </dgm:pt>
    <dgm:pt modelId="{45A222A0-579D-479E-9D1B-22F74CA19AA7}" type="pres">
      <dgm:prSet presAssocID="{DD948D88-A8C6-4D72-9479-5EAB36D48AB9}" presName="rootText1" presStyleLbl="node0" presStyleIdx="0" presStyleCnt="1" custScaleX="141901" custScaleY="61272">
        <dgm:presLayoutVars>
          <dgm:chPref val="3"/>
        </dgm:presLayoutVars>
      </dgm:prSet>
      <dgm:spPr/>
    </dgm:pt>
    <dgm:pt modelId="{F3452A05-71FA-4C72-A798-B1B607C8A80E}" type="pres">
      <dgm:prSet presAssocID="{DD948D88-A8C6-4D72-9479-5EAB36D48AB9}" presName="rootConnector1" presStyleLbl="node1" presStyleIdx="0" presStyleCnt="0"/>
      <dgm:spPr/>
    </dgm:pt>
    <dgm:pt modelId="{C21BCCC3-F8DA-4E98-B8CD-2F898E37A9EF}" type="pres">
      <dgm:prSet presAssocID="{DD948D88-A8C6-4D72-9479-5EAB36D48AB9}" presName="hierChild2" presStyleCnt="0"/>
      <dgm:spPr/>
    </dgm:pt>
    <dgm:pt modelId="{4A81E75C-74F7-47A9-9170-57464CA81483}" type="pres">
      <dgm:prSet presAssocID="{1846946C-55D9-4C35-A002-C7A135C40504}" presName="Name35" presStyleLbl="parChTrans1D2" presStyleIdx="0" presStyleCnt="5"/>
      <dgm:spPr/>
    </dgm:pt>
    <dgm:pt modelId="{67D25C3C-1F43-4FAC-846D-FF9736A92FC3}" type="pres">
      <dgm:prSet presAssocID="{5B724657-04FD-47D8-9600-37FDD023DFB9}" presName="hierRoot2" presStyleCnt="0">
        <dgm:presLayoutVars>
          <dgm:hierBranch val="init"/>
        </dgm:presLayoutVars>
      </dgm:prSet>
      <dgm:spPr/>
    </dgm:pt>
    <dgm:pt modelId="{33BC35E9-6B67-4905-93AD-34629F7478BB}" type="pres">
      <dgm:prSet presAssocID="{5B724657-04FD-47D8-9600-37FDD023DFB9}" presName="rootComposite" presStyleCnt="0"/>
      <dgm:spPr/>
    </dgm:pt>
    <dgm:pt modelId="{69890B47-3E0B-4069-A0E1-60474B21C9D6}" type="pres">
      <dgm:prSet presAssocID="{5B724657-04FD-47D8-9600-37FDD023DFB9}" presName="rootText" presStyleLbl="node2" presStyleIdx="0" presStyleCnt="5" custScaleY="46385">
        <dgm:presLayoutVars>
          <dgm:chPref val="3"/>
        </dgm:presLayoutVars>
      </dgm:prSet>
      <dgm:spPr/>
    </dgm:pt>
    <dgm:pt modelId="{671A3F64-C079-48FB-982A-7594B9683A40}" type="pres">
      <dgm:prSet presAssocID="{5B724657-04FD-47D8-9600-37FDD023DFB9}" presName="rootConnector" presStyleLbl="node2" presStyleIdx="0" presStyleCnt="5"/>
      <dgm:spPr/>
    </dgm:pt>
    <dgm:pt modelId="{940E1A42-0874-4F09-94CB-78BB62E62022}" type="pres">
      <dgm:prSet presAssocID="{5B724657-04FD-47D8-9600-37FDD023DFB9}" presName="hierChild4" presStyleCnt="0"/>
      <dgm:spPr/>
    </dgm:pt>
    <dgm:pt modelId="{2B75B868-FD3F-4ACF-91A0-170C722F91D0}" type="pres">
      <dgm:prSet presAssocID="{5B724657-04FD-47D8-9600-37FDD023DFB9}" presName="hierChild5" presStyleCnt="0"/>
      <dgm:spPr/>
    </dgm:pt>
    <dgm:pt modelId="{B89F6891-F7B2-4E0D-A3B9-1510F9C64515}" type="pres">
      <dgm:prSet presAssocID="{E0EFE30D-C4F0-4746-BBD7-E9420B38290C}" presName="Name35" presStyleLbl="parChTrans1D2" presStyleIdx="1" presStyleCnt="5"/>
      <dgm:spPr/>
    </dgm:pt>
    <dgm:pt modelId="{9111D454-0000-462B-B8F5-A53294D05411}" type="pres">
      <dgm:prSet presAssocID="{581674F1-FE6E-446E-8FCC-84FF7EB19975}" presName="hierRoot2" presStyleCnt="0">
        <dgm:presLayoutVars>
          <dgm:hierBranch val="init"/>
        </dgm:presLayoutVars>
      </dgm:prSet>
      <dgm:spPr/>
    </dgm:pt>
    <dgm:pt modelId="{C48EBC12-6366-42E3-94DF-B54039F91BB4}" type="pres">
      <dgm:prSet presAssocID="{581674F1-FE6E-446E-8FCC-84FF7EB19975}" presName="rootComposite" presStyleCnt="0"/>
      <dgm:spPr/>
    </dgm:pt>
    <dgm:pt modelId="{9D219876-469B-4ED5-B356-AB9250F9C3A7}" type="pres">
      <dgm:prSet presAssocID="{581674F1-FE6E-446E-8FCC-84FF7EB19975}" presName="rootText" presStyleLbl="node2" presStyleIdx="1" presStyleCnt="5" custScaleY="46244">
        <dgm:presLayoutVars>
          <dgm:chPref val="3"/>
        </dgm:presLayoutVars>
      </dgm:prSet>
      <dgm:spPr/>
    </dgm:pt>
    <dgm:pt modelId="{50E24EA7-10AE-4EA4-8B14-014955C48B41}" type="pres">
      <dgm:prSet presAssocID="{581674F1-FE6E-446E-8FCC-84FF7EB19975}" presName="rootConnector" presStyleLbl="node2" presStyleIdx="1" presStyleCnt="5"/>
      <dgm:spPr/>
    </dgm:pt>
    <dgm:pt modelId="{17498907-CD8F-4F25-8B24-D9476EA8B8F9}" type="pres">
      <dgm:prSet presAssocID="{581674F1-FE6E-446E-8FCC-84FF7EB19975}" presName="hierChild4" presStyleCnt="0"/>
      <dgm:spPr/>
    </dgm:pt>
    <dgm:pt modelId="{5F324F75-A24D-4EC1-BAAD-5C4429A22492}" type="pres">
      <dgm:prSet presAssocID="{581674F1-FE6E-446E-8FCC-84FF7EB19975}" presName="hierChild5" presStyleCnt="0"/>
      <dgm:spPr/>
    </dgm:pt>
    <dgm:pt modelId="{E60F5830-1D88-40E3-A8DC-8C16AB65BD67}" type="pres">
      <dgm:prSet presAssocID="{EFEB1C7B-92FD-40A8-9E9F-5BE076B5E1EC}" presName="Name35" presStyleLbl="parChTrans1D2" presStyleIdx="2" presStyleCnt="5"/>
      <dgm:spPr/>
    </dgm:pt>
    <dgm:pt modelId="{9D382FA5-B9E7-45FB-815C-84582D3DF473}" type="pres">
      <dgm:prSet presAssocID="{D3FF70DB-94DB-494B-8727-AB0C38FCB3FD}" presName="hierRoot2" presStyleCnt="0">
        <dgm:presLayoutVars>
          <dgm:hierBranch val="l"/>
        </dgm:presLayoutVars>
      </dgm:prSet>
      <dgm:spPr/>
    </dgm:pt>
    <dgm:pt modelId="{4D9CC299-F432-4949-A5AB-8EF7BE11D895}" type="pres">
      <dgm:prSet presAssocID="{D3FF70DB-94DB-494B-8727-AB0C38FCB3FD}" presName="rootComposite" presStyleCnt="0"/>
      <dgm:spPr/>
    </dgm:pt>
    <dgm:pt modelId="{F3DF066B-E467-4A70-98D0-3055D08D3957}" type="pres">
      <dgm:prSet presAssocID="{D3FF70DB-94DB-494B-8727-AB0C38FCB3FD}" presName="rootText" presStyleLbl="node2" presStyleIdx="2" presStyleCnt="5" custScaleY="46244">
        <dgm:presLayoutVars>
          <dgm:chPref val="3"/>
        </dgm:presLayoutVars>
      </dgm:prSet>
      <dgm:spPr/>
    </dgm:pt>
    <dgm:pt modelId="{02FE51DF-368C-44A2-88B8-BCDD98C47C2B}" type="pres">
      <dgm:prSet presAssocID="{D3FF70DB-94DB-494B-8727-AB0C38FCB3FD}" presName="rootConnector" presStyleLbl="node2" presStyleIdx="2" presStyleCnt="5"/>
      <dgm:spPr/>
    </dgm:pt>
    <dgm:pt modelId="{623F83EF-808F-4210-80E4-BE64610301AE}" type="pres">
      <dgm:prSet presAssocID="{D3FF70DB-94DB-494B-8727-AB0C38FCB3FD}" presName="hierChild4" presStyleCnt="0"/>
      <dgm:spPr/>
    </dgm:pt>
    <dgm:pt modelId="{E26285C6-C58F-4696-9CB6-1605304AF72E}" type="pres">
      <dgm:prSet presAssocID="{D3FF70DB-94DB-494B-8727-AB0C38FCB3FD}" presName="hierChild5" presStyleCnt="0"/>
      <dgm:spPr/>
    </dgm:pt>
    <dgm:pt modelId="{35140371-F1B6-4788-B3DA-4E6FEE999B85}" type="pres">
      <dgm:prSet presAssocID="{96C1AE25-F2FB-42D2-89C0-740B2B7DE232}" presName="Name35" presStyleLbl="parChTrans1D2" presStyleIdx="3" presStyleCnt="5"/>
      <dgm:spPr/>
    </dgm:pt>
    <dgm:pt modelId="{D482E6B2-5539-465A-83C7-A57942F5EEF4}" type="pres">
      <dgm:prSet presAssocID="{83ED49D5-1A20-40EF-A70A-EFA1A472F82D}" presName="hierRoot2" presStyleCnt="0">
        <dgm:presLayoutVars>
          <dgm:hierBranch val="init"/>
        </dgm:presLayoutVars>
      </dgm:prSet>
      <dgm:spPr/>
    </dgm:pt>
    <dgm:pt modelId="{605ED9DC-F542-4810-AB3C-97599E2C3B56}" type="pres">
      <dgm:prSet presAssocID="{83ED49D5-1A20-40EF-A70A-EFA1A472F82D}" presName="rootComposite" presStyleCnt="0"/>
      <dgm:spPr/>
    </dgm:pt>
    <dgm:pt modelId="{D48EF3A3-AC21-4A0B-9B51-8DBA5D324329}" type="pres">
      <dgm:prSet presAssocID="{83ED49D5-1A20-40EF-A70A-EFA1A472F82D}" presName="rootText" presStyleLbl="node2" presStyleIdx="3" presStyleCnt="5" custScaleY="46244">
        <dgm:presLayoutVars>
          <dgm:chPref val="3"/>
        </dgm:presLayoutVars>
      </dgm:prSet>
      <dgm:spPr/>
    </dgm:pt>
    <dgm:pt modelId="{A3263319-3A3B-4520-B9F9-3ED7D1B86C2D}" type="pres">
      <dgm:prSet presAssocID="{83ED49D5-1A20-40EF-A70A-EFA1A472F82D}" presName="rootConnector" presStyleLbl="node2" presStyleIdx="3" presStyleCnt="5"/>
      <dgm:spPr/>
    </dgm:pt>
    <dgm:pt modelId="{FE2ED09C-26CE-40C5-AF1D-9F975324BE17}" type="pres">
      <dgm:prSet presAssocID="{83ED49D5-1A20-40EF-A70A-EFA1A472F82D}" presName="hierChild4" presStyleCnt="0"/>
      <dgm:spPr/>
    </dgm:pt>
    <dgm:pt modelId="{84B5EF54-9C56-4DBD-A002-0650EFEFBCB0}" type="pres">
      <dgm:prSet presAssocID="{83ED49D5-1A20-40EF-A70A-EFA1A472F82D}" presName="hierChild5" presStyleCnt="0"/>
      <dgm:spPr/>
    </dgm:pt>
    <dgm:pt modelId="{D0F955B5-562C-45E2-9A84-0296CCB27E3D}" type="pres">
      <dgm:prSet presAssocID="{E70EC9AC-A02E-4457-B0DB-413D2CE845C6}" presName="Name35" presStyleLbl="parChTrans1D2" presStyleIdx="4" presStyleCnt="5"/>
      <dgm:spPr/>
    </dgm:pt>
    <dgm:pt modelId="{6A7C236C-448D-4AB8-BC75-961995F6BFD9}" type="pres">
      <dgm:prSet presAssocID="{4E656220-5FBF-478C-A13F-8E5A0BA082DE}" presName="hierRoot2" presStyleCnt="0">
        <dgm:presLayoutVars>
          <dgm:hierBranch val="init"/>
        </dgm:presLayoutVars>
      </dgm:prSet>
      <dgm:spPr/>
    </dgm:pt>
    <dgm:pt modelId="{D32C02F4-CFB0-4C2C-B9B8-EC154776415E}" type="pres">
      <dgm:prSet presAssocID="{4E656220-5FBF-478C-A13F-8E5A0BA082DE}" presName="rootComposite" presStyleCnt="0"/>
      <dgm:spPr/>
    </dgm:pt>
    <dgm:pt modelId="{F633C52D-8D2D-43B0-A4E1-FE647530426F}" type="pres">
      <dgm:prSet presAssocID="{4E656220-5FBF-478C-A13F-8E5A0BA082DE}" presName="rootText" presStyleLbl="node2" presStyleIdx="4" presStyleCnt="5" custScaleY="46244">
        <dgm:presLayoutVars>
          <dgm:chPref val="3"/>
        </dgm:presLayoutVars>
      </dgm:prSet>
      <dgm:spPr/>
    </dgm:pt>
    <dgm:pt modelId="{376DA408-2CDD-4CB8-8FEE-521C7F68A88D}" type="pres">
      <dgm:prSet presAssocID="{4E656220-5FBF-478C-A13F-8E5A0BA082DE}" presName="rootConnector" presStyleLbl="node2" presStyleIdx="4" presStyleCnt="5"/>
      <dgm:spPr/>
    </dgm:pt>
    <dgm:pt modelId="{7ECDABD5-2B44-4513-83C3-4C0BD73EFC8B}" type="pres">
      <dgm:prSet presAssocID="{4E656220-5FBF-478C-A13F-8E5A0BA082DE}" presName="hierChild4" presStyleCnt="0"/>
      <dgm:spPr/>
    </dgm:pt>
    <dgm:pt modelId="{38EC8FC5-F2F0-40EA-8E75-3C13C3D3AA93}" type="pres">
      <dgm:prSet presAssocID="{4E656220-5FBF-478C-A13F-8E5A0BA082DE}" presName="hierChild5" presStyleCnt="0"/>
      <dgm:spPr/>
    </dgm:pt>
    <dgm:pt modelId="{BC7CFF03-82B4-446D-B37F-FC751759C387}" type="pres">
      <dgm:prSet presAssocID="{DD948D88-A8C6-4D72-9479-5EAB36D48AB9}" presName="hierChild3" presStyleCnt="0"/>
      <dgm:spPr/>
    </dgm:pt>
  </dgm:ptLst>
  <dgm:cxnLst>
    <dgm:cxn modelId="{2AD8700B-9860-4646-850C-5673ECCA7F72}" type="presOf" srcId="{581674F1-FE6E-446E-8FCC-84FF7EB19975}" destId="{9D219876-469B-4ED5-B356-AB9250F9C3A7}" srcOrd="0" destOrd="0" presId="urn:microsoft.com/office/officeart/2005/8/layout/orgChart1"/>
    <dgm:cxn modelId="{C7B0EA1C-BF52-4105-BFCB-4DA63E565CC9}" type="presOf" srcId="{1846946C-55D9-4C35-A002-C7A135C40504}" destId="{4A81E75C-74F7-47A9-9170-57464CA81483}" srcOrd="0" destOrd="0" presId="urn:microsoft.com/office/officeart/2005/8/layout/orgChart1"/>
    <dgm:cxn modelId="{A102A724-A82F-4780-8660-F0B06A83A3BB}" type="presOf" srcId="{96C1AE25-F2FB-42D2-89C0-740B2B7DE232}" destId="{35140371-F1B6-4788-B3DA-4E6FEE999B85}" srcOrd="0" destOrd="0" presId="urn:microsoft.com/office/officeart/2005/8/layout/orgChart1"/>
    <dgm:cxn modelId="{CF042729-A600-41DD-9B06-B6EA4467301C}" type="presOf" srcId="{EFEB1C7B-92FD-40A8-9E9F-5BE076B5E1EC}" destId="{E60F5830-1D88-40E3-A8DC-8C16AB65BD67}" srcOrd="0" destOrd="0" presId="urn:microsoft.com/office/officeart/2005/8/layout/orgChart1"/>
    <dgm:cxn modelId="{5F57E43D-B60A-4DDA-B78D-9669620CF037}" type="presOf" srcId="{4E656220-5FBF-478C-A13F-8E5A0BA082DE}" destId="{F633C52D-8D2D-43B0-A4E1-FE647530426F}" srcOrd="0" destOrd="0" presId="urn:microsoft.com/office/officeart/2005/8/layout/orgChart1"/>
    <dgm:cxn modelId="{EE27F15C-8190-4819-9C75-E6B2642AA59C}" type="presOf" srcId="{E70EC9AC-A02E-4457-B0DB-413D2CE845C6}" destId="{D0F955B5-562C-45E2-9A84-0296CCB27E3D}" srcOrd="0" destOrd="0" presId="urn:microsoft.com/office/officeart/2005/8/layout/orgChart1"/>
    <dgm:cxn modelId="{BDB15D48-C332-45D7-8762-59B6D8F54EDF}" type="presOf" srcId="{4E656220-5FBF-478C-A13F-8E5A0BA082DE}" destId="{376DA408-2CDD-4CB8-8FEE-521C7F68A88D}" srcOrd="1" destOrd="0" presId="urn:microsoft.com/office/officeart/2005/8/layout/orgChart1"/>
    <dgm:cxn modelId="{32A6694A-5D2E-40BC-8C46-0411313BCB97}" type="presOf" srcId="{83ED49D5-1A20-40EF-A70A-EFA1A472F82D}" destId="{D48EF3A3-AC21-4A0B-9B51-8DBA5D324329}" srcOrd="0" destOrd="0" presId="urn:microsoft.com/office/officeart/2005/8/layout/orgChart1"/>
    <dgm:cxn modelId="{8DD31A4B-6018-42BE-8E34-6FCEEF8FA91F}" srcId="{DD948D88-A8C6-4D72-9479-5EAB36D48AB9}" destId="{D3FF70DB-94DB-494B-8727-AB0C38FCB3FD}" srcOrd="2" destOrd="0" parTransId="{EFEB1C7B-92FD-40A8-9E9F-5BE076B5E1EC}" sibTransId="{16B72A9E-4326-4FDB-BDAB-A5573101850A}"/>
    <dgm:cxn modelId="{853C7377-53F1-480D-B4EB-F8D62409EC03}" type="presOf" srcId="{5B724657-04FD-47D8-9600-37FDD023DFB9}" destId="{69890B47-3E0B-4069-A0E1-60474B21C9D6}" srcOrd="0" destOrd="0" presId="urn:microsoft.com/office/officeart/2005/8/layout/orgChart1"/>
    <dgm:cxn modelId="{B9957977-68B6-496E-81FF-77C350653C2D}" type="presOf" srcId="{DD948D88-A8C6-4D72-9479-5EAB36D48AB9}" destId="{F3452A05-71FA-4C72-A798-B1B607C8A80E}" srcOrd="1" destOrd="0" presId="urn:microsoft.com/office/officeart/2005/8/layout/orgChart1"/>
    <dgm:cxn modelId="{7FDA6779-82ED-4B48-AB24-F389BF4D53EB}" type="presOf" srcId="{D3FF70DB-94DB-494B-8727-AB0C38FCB3FD}" destId="{02FE51DF-368C-44A2-88B8-BCDD98C47C2B}" srcOrd="1" destOrd="0" presId="urn:microsoft.com/office/officeart/2005/8/layout/orgChart1"/>
    <dgm:cxn modelId="{2D4B637E-A6B3-4302-B18D-DED810FE2DB5}" srcId="{DD948D88-A8C6-4D72-9479-5EAB36D48AB9}" destId="{4E656220-5FBF-478C-A13F-8E5A0BA082DE}" srcOrd="4" destOrd="0" parTransId="{E70EC9AC-A02E-4457-B0DB-413D2CE845C6}" sibTransId="{0AB6B31D-6631-4D77-A3DC-0A5D5F6DC2EB}"/>
    <dgm:cxn modelId="{0AB8829F-8238-4450-AA72-D990794C10F7}" srcId="{DD948D88-A8C6-4D72-9479-5EAB36D48AB9}" destId="{581674F1-FE6E-446E-8FCC-84FF7EB19975}" srcOrd="1" destOrd="0" parTransId="{E0EFE30D-C4F0-4746-BBD7-E9420B38290C}" sibTransId="{049448D4-1B94-4124-9ECD-A51E1D2770F2}"/>
    <dgm:cxn modelId="{08B5C2A5-3341-44DA-9712-C79671B94D6C}" srcId="{DD948D88-A8C6-4D72-9479-5EAB36D48AB9}" destId="{83ED49D5-1A20-40EF-A70A-EFA1A472F82D}" srcOrd="3" destOrd="0" parTransId="{96C1AE25-F2FB-42D2-89C0-740B2B7DE232}" sibTransId="{A4F2273E-991C-4BB1-8819-A68F6CF92381}"/>
    <dgm:cxn modelId="{C845DFB5-D4F2-4AFA-89D9-BEF3BC571F6D}" type="presOf" srcId="{D3FF70DB-94DB-494B-8727-AB0C38FCB3FD}" destId="{F3DF066B-E467-4A70-98D0-3055D08D3957}" srcOrd="0" destOrd="0" presId="urn:microsoft.com/office/officeart/2005/8/layout/orgChart1"/>
    <dgm:cxn modelId="{D9B0A4C1-C588-47B4-A4AA-56CCAC456BA2}" srcId="{E23F2355-9528-434A-8440-396DA0C4DF06}" destId="{DD948D88-A8C6-4D72-9479-5EAB36D48AB9}" srcOrd="0" destOrd="0" parTransId="{F186FBF3-E484-46AB-A4D4-07AAB253DAD8}" sibTransId="{82897637-2921-4110-9DD8-6E252E7CF005}"/>
    <dgm:cxn modelId="{F1E994CB-C8DC-4278-91CE-7E1F93A07E17}" type="presOf" srcId="{DD948D88-A8C6-4D72-9479-5EAB36D48AB9}" destId="{45A222A0-579D-479E-9D1B-22F74CA19AA7}" srcOrd="0" destOrd="0" presId="urn:microsoft.com/office/officeart/2005/8/layout/orgChart1"/>
    <dgm:cxn modelId="{424D42D1-EF05-4C5B-8015-60652128BEBC}" type="presOf" srcId="{E23F2355-9528-434A-8440-396DA0C4DF06}" destId="{942FC9D6-DBF3-47F5-A51F-F3748696C38E}" srcOrd="0" destOrd="0" presId="urn:microsoft.com/office/officeart/2005/8/layout/orgChart1"/>
    <dgm:cxn modelId="{48BC27D9-4D31-4995-9170-095599E93C28}" srcId="{DD948D88-A8C6-4D72-9479-5EAB36D48AB9}" destId="{5B724657-04FD-47D8-9600-37FDD023DFB9}" srcOrd="0" destOrd="0" parTransId="{1846946C-55D9-4C35-A002-C7A135C40504}" sibTransId="{881F665B-D5DC-4719-B1E4-08D4C446E03A}"/>
    <dgm:cxn modelId="{D5A13DE9-A3F6-40A3-B944-3EFB17F256B9}" type="presOf" srcId="{5B724657-04FD-47D8-9600-37FDD023DFB9}" destId="{671A3F64-C079-48FB-982A-7594B9683A40}" srcOrd="1" destOrd="0" presId="urn:microsoft.com/office/officeart/2005/8/layout/orgChart1"/>
    <dgm:cxn modelId="{1BC18EEB-55B4-4C6B-822D-1BCF06BB1348}" type="presOf" srcId="{581674F1-FE6E-446E-8FCC-84FF7EB19975}" destId="{50E24EA7-10AE-4EA4-8B14-014955C48B41}" srcOrd="1" destOrd="0" presId="urn:microsoft.com/office/officeart/2005/8/layout/orgChart1"/>
    <dgm:cxn modelId="{D4707BEC-1814-4178-BF18-345DF335E793}" type="presOf" srcId="{E0EFE30D-C4F0-4746-BBD7-E9420B38290C}" destId="{B89F6891-F7B2-4E0D-A3B9-1510F9C64515}" srcOrd="0" destOrd="0" presId="urn:microsoft.com/office/officeart/2005/8/layout/orgChart1"/>
    <dgm:cxn modelId="{6836ABEE-390D-4A67-99D5-5371CB5D6824}" type="presOf" srcId="{83ED49D5-1A20-40EF-A70A-EFA1A472F82D}" destId="{A3263319-3A3B-4520-B9F9-3ED7D1B86C2D}" srcOrd="1" destOrd="0" presId="urn:microsoft.com/office/officeart/2005/8/layout/orgChart1"/>
    <dgm:cxn modelId="{60303C3C-3BA5-495D-B8E0-B0BEC1E92EE4}" type="presParOf" srcId="{942FC9D6-DBF3-47F5-A51F-F3748696C38E}" destId="{C9BE1D2A-7D63-4A4B-B173-C51D9A0773F6}" srcOrd="0" destOrd="0" presId="urn:microsoft.com/office/officeart/2005/8/layout/orgChart1"/>
    <dgm:cxn modelId="{2723E032-6ABC-4544-B1CB-D855A6412A65}" type="presParOf" srcId="{C9BE1D2A-7D63-4A4B-B173-C51D9A0773F6}" destId="{0CECD744-5F72-430D-A388-743AF9A858F9}" srcOrd="0" destOrd="0" presId="urn:microsoft.com/office/officeart/2005/8/layout/orgChart1"/>
    <dgm:cxn modelId="{2632A0EE-7609-4F9A-B515-A15F22041A9F}" type="presParOf" srcId="{0CECD744-5F72-430D-A388-743AF9A858F9}" destId="{45A222A0-579D-479E-9D1B-22F74CA19AA7}" srcOrd="0" destOrd="0" presId="urn:microsoft.com/office/officeart/2005/8/layout/orgChart1"/>
    <dgm:cxn modelId="{CC4A7EA6-927A-41B9-9397-819EAD457594}" type="presParOf" srcId="{0CECD744-5F72-430D-A388-743AF9A858F9}" destId="{F3452A05-71FA-4C72-A798-B1B607C8A80E}" srcOrd="1" destOrd="0" presId="urn:microsoft.com/office/officeart/2005/8/layout/orgChart1"/>
    <dgm:cxn modelId="{4ADCD73E-E99F-41C2-869B-965F06BCB634}" type="presParOf" srcId="{C9BE1D2A-7D63-4A4B-B173-C51D9A0773F6}" destId="{C21BCCC3-F8DA-4E98-B8CD-2F898E37A9EF}" srcOrd="1" destOrd="0" presId="urn:microsoft.com/office/officeart/2005/8/layout/orgChart1"/>
    <dgm:cxn modelId="{D0DEF081-393D-43F8-A1AC-61E28C93620E}" type="presParOf" srcId="{C21BCCC3-F8DA-4E98-B8CD-2F898E37A9EF}" destId="{4A81E75C-74F7-47A9-9170-57464CA81483}" srcOrd="0" destOrd="0" presId="urn:microsoft.com/office/officeart/2005/8/layout/orgChart1"/>
    <dgm:cxn modelId="{9B3A1CFC-9C20-47B2-9F87-A65146B37DAC}" type="presParOf" srcId="{C21BCCC3-F8DA-4E98-B8CD-2F898E37A9EF}" destId="{67D25C3C-1F43-4FAC-846D-FF9736A92FC3}" srcOrd="1" destOrd="0" presId="urn:microsoft.com/office/officeart/2005/8/layout/orgChart1"/>
    <dgm:cxn modelId="{ECF2C474-0971-4CF1-9521-840F078E12CC}" type="presParOf" srcId="{67D25C3C-1F43-4FAC-846D-FF9736A92FC3}" destId="{33BC35E9-6B67-4905-93AD-34629F7478BB}" srcOrd="0" destOrd="0" presId="urn:microsoft.com/office/officeart/2005/8/layout/orgChart1"/>
    <dgm:cxn modelId="{4238D99F-42B4-4BD3-B4D4-97D7EE1C68AE}" type="presParOf" srcId="{33BC35E9-6B67-4905-93AD-34629F7478BB}" destId="{69890B47-3E0B-4069-A0E1-60474B21C9D6}" srcOrd="0" destOrd="0" presId="urn:microsoft.com/office/officeart/2005/8/layout/orgChart1"/>
    <dgm:cxn modelId="{FE4C973B-DDC0-4F98-A444-2C08D2008E75}" type="presParOf" srcId="{33BC35E9-6B67-4905-93AD-34629F7478BB}" destId="{671A3F64-C079-48FB-982A-7594B9683A40}" srcOrd="1" destOrd="0" presId="urn:microsoft.com/office/officeart/2005/8/layout/orgChart1"/>
    <dgm:cxn modelId="{3B63C66B-5A17-42C5-B210-DA0D2CC3C65D}" type="presParOf" srcId="{67D25C3C-1F43-4FAC-846D-FF9736A92FC3}" destId="{940E1A42-0874-4F09-94CB-78BB62E62022}" srcOrd="1" destOrd="0" presId="urn:microsoft.com/office/officeart/2005/8/layout/orgChart1"/>
    <dgm:cxn modelId="{5F545F05-BFB1-4E95-9F42-1F028D06A0CA}" type="presParOf" srcId="{67D25C3C-1F43-4FAC-846D-FF9736A92FC3}" destId="{2B75B868-FD3F-4ACF-91A0-170C722F91D0}" srcOrd="2" destOrd="0" presId="urn:microsoft.com/office/officeart/2005/8/layout/orgChart1"/>
    <dgm:cxn modelId="{B098C862-237F-4956-8D89-1B7C913F87F5}" type="presParOf" srcId="{C21BCCC3-F8DA-4E98-B8CD-2F898E37A9EF}" destId="{B89F6891-F7B2-4E0D-A3B9-1510F9C64515}" srcOrd="2" destOrd="0" presId="urn:microsoft.com/office/officeart/2005/8/layout/orgChart1"/>
    <dgm:cxn modelId="{6716678E-B9C7-4622-A6DF-ABBB1FD0C00F}" type="presParOf" srcId="{C21BCCC3-F8DA-4E98-B8CD-2F898E37A9EF}" destId="{9111D454-0000-462B-B8F5-A53294D05411}" srcOrd="3" destOrd="0" presId="urn:microsoft.com/office/officeart/2005/8/layout/orgChart1"/>
    <dgm:cxn modelId="{EA9581EF-90D2-4C2B-857A-7D1A61827479}" type="presParOf" srcId="{9111D454-0000-462B-B8F5-A53294D05411}" destId="{C48EBC12-6366-42E3-94DF-B54039F91BB4}" srcOrd="0" destOrd="0" presId="urn:microsoft.com/office/officeart/2005/8/layout/orgChart1"/>
    <dgm:cxn modelId="{577576D1-49EA-49A5-9380-B6A5BC30265C}" type="presParOf" srcId="{C48EBC12-6366-42E3-94DF-B54039F91BB4}" destId="{9D219876-469B-4ED5-B356-AB9250F9C3A7}" srcOrd="0" destOrd="0" presId="urn:microsoft.com/office/officeart/2005/8/layout/orgChart1"/>
    <dgm:cxn modelId="{A4191DAD-4B22-4601-971F-3CD745724829}" type="presParOf" srcId="{C48EBC12-6366-42E3-94DF-B54039F91BB4}" destId="{50E24EA7-10AE-4EA4-8B14-014955C48B41}" srcOrd="1" destOrd="0" presId="urn:microsoft.com/office/officeart/2005/8/layout/orgChart1"/>
    <dgm:cxn modelId="{13296768-35DB-440C-93DD-343AD73DE941}" type="presParOf" srcId="{9111D454-0000-462B-B8F5-A53294D05411}" destId="{17498907-CD8F-4F25-8B24-D9476EA8B8F9}" srcOrd="1" destOrd="0" presId="urn:microsoft.com/office/officeart/2005/8/layout/orgChart1"/>
    <dgm:cxn modelId="{E5835F71-02DD-4025-8664-AB2152DD588E}" type="presParOf" srcId="{9111D454-0000-462B-B8F5-A53294D05411}" destId="{5F324F75-A24D-4EC1-BAAD-5C4429A22492}" srcOrd="2" destOrd="0" presId="urn:microsoft.com/office/officeart/2005/8/layout/orgChart1"/>
    <dgm:cxn modelId="{48E2D24B-6D33-40A0-BF86-051137493E82}" type="presParOf" srcId="{C21BCCC3-F8DA-4E98-B8CD-2F898E37A9EF}" destId="{E60F5830-1D88-40E3-A8DC-8C16AB65BD67}" srcOrd="4" destOrd="0" presId="urn:microsoft.com/office/officeart/2005/8/layout/orgChart1"/>
    <dgm:cxn modelId="{6B3ED70B-4487-405F-AC83-E6C7E881CD07}" type="presParOf" srcId="{C21BCCC3-F8DA-4E98-B8CD-2F898E37A9EF}" destId="{9D382FA5-B9E7-45FB-815C-84582D3DF473}" srcOrd="5" destOrd="0" presId="urn:microsoft.com/office/officeart/2005/8/layout/orgChart1"/>
    <dgm:cxn modelId="{D51E49CD-5394-4179-94CD-13AD0BC46D7B}" type="presParOf" srcId="{9D382FA5-B9E7-45FB-815C-84582D3DF473}" destId="{4D9CC299-F432-4949-A5AB-8EF7BE11D895}" srcOrd="0" destOrd="0" presId="urn:microsoft.com/office/officeart/2005/8/layout/orgChart1"/>
    <dgm:cxn modelId="{A167032C-3A89-47D2-B4C7-BF9105CDBF1F}" type="presParOf" srcId="{4D9CC299-F432-4949-A5AB-8EF7BE11D895}" destId="{F3DF066B-E467-4A70-98D0-3055D08D3957}" srcOrd="0" destOrd="0" presId="urn:microsoft.com/office/officeart/2005/8/layout/orgChart1"/>
    <dgm:cxn modelId="{4F79E9D1-3857-428A-9176-275D4C55D572}" type="presParOf" srcId="{4D9CC299-F432-4949-A5AB-8EF7BE11D895}" destId="{02FE51DF-368C-44A2-88B8-BCDD98C47C2B}" srcOrd="1" destOrd="0" presId="urn:microsoft.com/office/officeart/2005/8/layout/orgChart1"/>
    <dgm:cxn modelId="{01398593-124B-41F5-96D1-21B4825B5172}" type="presParOf" srcId="{9D382FA5-B9E7-45FB-815C-84582D3DF473}" destId="{623F83EF-808F-4210-80E4-BE64610301AE}" srcOrd="1" destOrd="0" presId="urn:microsoft.com/office/officeart/2005/8/layout/orgChart1"/>
    <dgm:cxn modelId="{33675C0C-684E-4E07-8790-337A606B753E}" type="presParOf" srcId="{9D382FA5-B9E7-45FB-815C-84582D3DF473}" destId="{E26285C6-C58F-4696-9CB6-1605304AF72E}" srcOrd="2" destOrd="0" presId="urn:microsoft.com/office/officeart/2005/8/layout/orgChart1"/>
    <dgm:cxn modelId="{828279A3-9FFE-417D-BAC1-79297C0CC665}" type="presParOf" srcId="{C21BCCC3-F8DA-4E98-B8CD-2F898E37A9EF}" destId="{35140371-F1B6-4788-B3DA-4E6FEE999B85}" srcOrd="6" destOrd="0" presId="urn:microsoft.com/office/officeart/2005/8/layout/orgChart1"/>
    <dgm:cxn modelId="{C8492AAE-5AF8-4DE5-97B4-D15ECE756885}" type="presParOf" srcId="{C21BCCC3-F8DA-4E98-B8CD-2F898E37A9EF}" destId="{D482E6B2-5539-465A-83C7-A57942F5EEF4}" srcOrd="7" destOrd="0" presId="urn:microsoft.com/office/officeart/2005/8/layout/orgChart1"/>
    <dgm:cxn modelId="{130B59A7-2639-4E06-9F60-7867B212FA07}" type="presParOf" srcId="{D482E6B2-5539-465A-83C7-A57942F5EEF4}" destId="{605ED9DC-F542-4810-AB3C-97599E2C3B56}" srcOrd="0" destOrd="0" presId="urn:microsoft.com/office/officeart/2005/8/layout/orgChart1"/>
    <dgm:cxn modelId="{506309EE-CFC0-415D-83D3-013F814F0C36}" type="presParOf" srcId="{605ED9DC-F542-4810-AB3C-97599E2C3B56}" destId="{D48EF3A3-AC21-4A0B-9B51-8DBA5D324329}" srcOrd="0" destOrd="0" presId="urn:microsoft.com/office/officeart/2005/8/layout/orgChart1"/>
    <dgm:cxn modelId="{A7358334-BFA8-4D6C-A8F6-BF07A9B8849E}" type="presParOf" srcId="{605ED9DC-F542-4810-AB3C-97599E2C3B56}" destId="{A3263319-3A3B-4520-B9F9-3ED7D1B86C2D}" srcOrd="1" destOrd="0" presId="urn:microsoft.com/office/officeart/2005/8/layout/orgChart1"/>
    <dgm:cxn modelId="{290AF341-4DA3-4EAD-9A54-EA8672470A26}" type="presParOf" srcId="{D482E6B2-5539-465A-83C7-A57942F5EEF4}" destId="{FE2ED09C-26CE-40C5-AF1D-9F975324BE17}" srcOrd="1" destOrd="0" presId="urn:microsoft.com/office/officeart/2005/8/layout/orgChart1"/>
    <dgm:cxn modelId="{FB1CF880-A1D6-48ED-95F8-7ED091B542DE}" type="presParOf" srcId="{D482E6B2-5539-465A-83C7-A57942F5EEF4}" destId="{84B5EF54-9C56-4DBD-A002-0650EFEFBCB0}" srcOrd="2" destOrd="0" presId="urn:microsoft.com/office/officeart/2005/8/layout/orgChart1"/>
    <dgm:cxn modelId="{170C9CDB-A294-4163-8121-673169A4F42E}" type="presParOf" srcId="{C21BCCC3-F8DA-4E98-B8CD-2F898E37A9EF}" destId="{D0F955B5-562C-45E2-9A84-0296CCB27E3D}" srcOrd="8" destOrd="0" presId="urn:microsoft.com/office/officeart/2005/8/layout/orgChart1"/>
    <dgm:cxn modelId="{D4D2ED0D-D0CB-48CB-9132-79EC8B382315}" type="presParOf" srcId="{C21BCCC3-F8DA-4E98-B8CD-2F898E37A9EF}" destId="{6A7C236C-448D-4AB8-BC75-961995F6BFD9}" srcOrd="9" destOrd="0" presId="urn:microsoft.com/office/officeart/2005/8/layout/orgChart1"/>
    <dgm:cxn modelId="{F18FC571-0F37-45C4-933F-21A8C4869A36}" type="presParOf" srcId="{6A7C236C-448D-4AB8-BC75-961995F6BFD9}" destId="{D32C02F4-CFB0-4C2C-B9B8-EC154776415E}" srcOrd="0" destOrd="0" presId="urn:microsoft.com/office/officeart/2005/8/layout/orgChart1"/>
    <dgm:cxn modelId="{4A2EB24C-186E-4317-AB53-4E7B6FE409E5}" type="presParOf" srcId="{D32C02F4-CFB0-4C2C-B9B8-EC154776415E}" destId="{F633C52D-8D2D-43B0-A4E1-FE647530426F}" srcOrd="0" destOrd="0" presId="urn:microsoft.com/office/officeart/2005/8/layout/orgChart1"/>
    <dgm:cxn modelId="{8D4C4E29-7C5D-4D7C-B8F1-DB6ED66F8A2A}" type="presParOf" srcId="{D32C02F4-CFB0-4C2C-B9B8-EC154776415E}" destId="{376DA408-2CDD-4CB8-8FEE-521C7F68A88D}" srcOrd="1" destOrd="0" presId="urn:microsoft.com/office/officeart/2005/8/layout/orgChart1"/>
    <dgm:cxn modelId="{7E93E5B5-9A23-4682-94ED-D50E690B88A1}" type="presParOf" srcId="{6A7C236C-448D-4AB8-BC75-961995F6BFD9}" destId="{7ECDABD5-2B44-4513-83C3-4C0BD73EFC8B}" srcOrd="1" destOrd="0" presId="urn:microsoft.com/office/officeart/2005/8/layout/orgChart1"/>
    <dgm:cxn modelId="{D11D2B2D-186D-46DD-890B-4D2D26226F52}" type="presParOf" srcId="{6A7C236C-448D-4AB8-BC75-961995F6BFD9}" destId="{38EC8FC5-F2F0-40EA-8E75-3C13C3D3AA93}" srcOrd="2" destOrd="0" presId="urn:microsoft.com/office/officeart/2005/8/layout/orgChart1"/>
    <dgm:cxn modelId="{0AA98ADC-9C06-4A85-8ED9-EA1845FF997C}" type="presParOf" srcId="{C9BE1D2A-7D63-4A4B-B173-C51D9A0773F6}" destId="{BC7CFF03-82B4-446D-B37F-FC751759C38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3F2355-9528-434A-8440-396DA0C4DF06}" type="doc">
      <dgm:prSet loTypeId="urn:microsoft.com/office/officeart/2005/8/layout/orgChart1" loCatId="hierarchy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s-MX"/>
        </a:p>
      </dgm:t>
    </dgm:pt>
    <dgm:pt modelId="{DD948D88-A8C6-4D72-9479-5EAB36D48AB9}">
      <dgm:prSet phldrT="[Texto]" custT="1"/>
      <dgm:spPr>
        <a:noFill/>
        <a:ln>
          <a:noFill/>
        </a:ln>
      </dgm:spPr>
      <dgm:t>
        <a:bodyPr/>
        <a:lstStyle/>
        <a:p>
          <a:endParaRPr lang="es-MX" sz="1400" dirty="0">
            <a:solidFill>
              <a:schemeClr val="tx1"/>
            </a:solidFill>
            <a:latin typeface="Montserrat" panose="00000500000000000000" pitchFamily="2" charset="0"/>
          </a:endParaRPr>
        </a:p>
      </dgm:t>
    </dgm:pt>
    <dgm:pt modelId="{F186FBF3-E484-46AB-A4D4-07AAB253DAD8}" type="parTrans" cxnId="{D9B0A4C1-C588-47B4-A4AA-56CCAC456BA2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82897637-2921-4110-9DD8-6E252E7CF005}" type="sibTrans" cxnId="{D9B0A4C1-C588-47B4-A4AA-56CCAC456BA2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5B724657-04FD-47D8-9600-37FDD023DFB9}">
      <dgm:prSet phldrT="[Texto]" custT="1"/>
      <dgm:spPr>
        <a:gradFill rotWithShape="0">
          <a:gsLst>
            <a:gs pos="0">
              <a:srgbClr val="E42322"/>
            </a:gs>
            <a:gs pos="100000">
              <a:srgbClr val="C22020"/>
            </a:gs>
          </a:gsLst>
          <a:lin ang="5400000" scaled="1"/>
        </a:gradFill>
      </dgm:spPr>
      <dgm:t>
        <a:bodyPr/>
        <a:lstStyle/>
        <a:p>
          <a:pPr>
            <a:buFontTx/>
            <a:buNone/>
          </a:pPr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NEGOCIOS FAMILIA</a:t>
          </a:r>
          <a:endParaRPr lang="es-MX" sz="1400" dirty="0">
            <a:latin typeface="Montserrat" panose="00000500000000000000" pitchFamily="2" charset="0"/>
          </a:endParaRPr>
        </a:p>
      </dgm:t>
    </dgm:pt>
    <dgm:pt modelId="{1846946C-55D9-4C35-A002-C7A135C40504}" type="parTrans" cxnId="{48BC27D9-4D31-4995-9170-095599E93C28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881F665B-D5DC-4719-B1E4-08D4C446E03A}" type="sibTrans" cxnId="{48BC27D9-4D31-4995-9170-095599E93C28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581674F1-FE6E-446E-8FCC-84FF7EB19975}">
      <dgm:prSet phldrT="[Texto]" custT="1"/>
      <dgm:spPr>
        <a:gradFill rotWithShape="0">
          <a:gsLst>
            <a:gs pos="0">
              <a:srgbClr val="FFC000"/>
            </a:gs>
            <a:gs pos="100000">
              <a:srgbClr val="DFB623"/>
            </a:gs>
          </a:gsLst>
          <a:lin ang="5400000" scaled="1"/>
        </a:gradFill>
      </dgm:spPr>
      <dgm:t>
        <a:bodyPr/>
        <a:lstStyle/>
        <a:p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SOPORTE ESTRATÉGICO</a:t>
          </a:r>
          <a:endParaRPr lang="es-MX" sz="1400" dirty="0">
            <a:latin typeface="Montserrat" panose="00000500000000000000" pitchFamily="2" charset="0"/>
          </a:endParaRPr>
        </a:p>
      </dgm:t>
    </dgm:pt>
    <dgm:pt modelId="{E0EFE30D-C4F0-4746-BBD7-E9420B38290C}" type="parTrans" cxnId="{0AB8829F-8238-4450-AA72-D990794C10F7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049448D4-1B94-4124-9ECD-A51E1D2770F2}" type="sibTrans" cxnId="{0AB8829F-8238-4450-AA72-D990794C10F7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D3FF70DB-94DB-494B-8727-AB0C38FCB3FD}">
      <dgm:prSet phldrT="[Texto]" custT="1"/>
      <dgm:spPr>
        <a:gradFill rotWithShape="0">
          <a:gsLst>
            <a:gs pos="1000">
              <a:srgbClr val="9853AC"/>
            </a:gs>
            <a:gs pos="100000">
              <a:srgbClr val="7A4494"/>
            </a:gs>
          </a:gsLst>
          <a:lin ang="5400000" scaled="1"/>
        </a:gradFill>
      </dgm:spPr>
      <dgm:t>
        <a:bodyPr/>
        <a:lstStyle/>
        <a:p>
          <a:pPr>
            <a:buFontTx/>
            <a:buNone/>
          </a:pPr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EDUCACIÓN</a:t>
          </a:r>
          <a:endParaRPr lang="es-MX" sz="1400" dirty="0">
            <a:latin typeface="Montserrat" panose="00000500000000000000" pitchFamily="2" charset="0"/>
          </a:endParaRPr>
        </a:p>
      </dgm:t>
    </dgm:pt>
    <dgm:pt modelId="{EFEB1C7B-92FD-40A8-9E9F-5BE076B5E1EC}" type="parTrans" cxnId="{8DD31A4B-6018-42BE-8E34-6FCEEF8FA91F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16B72A9E-4326-4FDB-BDAB-A5573101850A}" type="sibTrans" cxnId="{8DD31A4B-6018-42BE-8E34-6FCEEF8FA91F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83ED49D5-1A20-40EF-A70A-EFA1A472F82D}">
      <dgm:prSet phldrT="[Texto]" custT="1"/>
      <dgm:spPr>
        <a:gradFill rotWithShape="0">
          <a:gsLst>
            <a:gs pos="1000">
              <a:srgbClr val="2B94F0"/>
            </a:gs>
            <a:gs pos="100000">
              <a:srgbClr val="002060"/>
            </a:gs>
          </a:gsLst>
          <a:lin ang="5400000" scaled="1"/>
        </a:gradFill>
      </dgm:spPr>
      <dgm:t>
        <a:bodyPr/>
        <a:lstStyle/>
        <a:p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OFICINA DE LA PRESIDENCIA</a:t>
          </a:r>
          <a:endParaRPr lang="es-MX" sz="1400" dirty="0"/>
        </a:p>
      </dgm:t>
    </dgm:pt>
    <dgm:pt modelId="{96C1AE25-F2FB-42D2-89C0-740B2B7DE232}" type="parTrans" cxnId="{08B5C2A5-3341-44DA-9712-C79671B94D6C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/>
        </a:p>
      </dgm:t>
    </dgm:pt>
    <dgm:pt modelId="{A4F2273E-991C-4BB1-8819-A68F6CF92381}" type="sibTrans" cxnId="{08B5C2A5-3341-44DA-9712-C79671B94D6C}">
      <dgm:prSet/>
      <dgm:spPr/>
      <dgm:t>
        <a:bodyPr/>
        <a:lstStyle/>
        <a:p>
          <a:endParaRPr lang="es-MX" sz="1400"/>
        </a:p>
      </dgm:t>
    </dgm:pt>
    <dgm:pt modelId="{942FC9D6-DBF3-47F5-A51F-F3748696C38E}" type="pres">
      <dgm:prSet presAssocID="{E23F2355-9528-434A-8440-396DA0C4DF0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9BE1D2A-7D63-4A4B-B173-C51D9A0773F6}" type="pres">
      <dgm:prSet presAssocID="{DD948D88-A8C6-4D72-9479-5EAB36D48AB9}" presName="hierRoot1" presStyleCnt="0">
        <dgm:presLayoutVars>
          <dgm:hierBranch/>
        </dgm:presLayoutVars>
      </dgm:prSet>
      <dgm:spPr/>
    </dgm:pt>
    <dgm:pt modelId="{0CECD744-5F72-430D-A388-743AF9A858F9}" type="pres">
      <dgm:prSet presAssocID="{DD948D88-A8C6-4D72-9479-5EAB36D48AB9}" presName="rootComposite1" presStyleCnt="0"/>
      <dgm:spPr/>
    </dgm:pt>
    <dgm:pt modelId="{45A222A0-579D-479E-9D1B-22F74CA19AA7}" type="pres">
      <dgm:prSet presAssocID="{DD948D88-A8C6-4D72-9479-5EAB36D48AB9}" presName="rootText1" presStyleLbl="node0" presStyleIdx="0" presStyleCnt="1" custScaleX="141901" custScaleY="58621">
        <dgm:presLayoutVars>
          <dgm:chPref val="3"/>
        </dgm:presLayoutVars>
      </dgm:prSet>
      <dgm:spPr/>
    </dgm:pt>
    <dgm:pt modelId="{F3452A05-71FA-4C72-A798-B1B607C8A80E}" type="pres">
      <dgm:prSet presAssocID="{DD948D88-A8C6-4D72-9479-5EAB36D48AB9}" presName="rootConnector1" presStyleLbl="node1" presStyleIdx="0" presStyleCnt="0"/>
      <dgm:spPr/>
    </dgm:pt>
    <dgm:pt modelId="{C21BCCC3-F8DA-4E98-B8CD-2F898E37A9EF}" type="pres">
      <dgm:prSet presAssocID="{DD948D88-A8C6-4D72-9479-5EAB36D48AB9}" presName="hierChild2" presStyleCnt="0"/>
      <dgm:spPr/>
    </dgm:pt>
    <dgm:pt modelId="{4A81E75C-74F7-47A9-9170-57464CA81483}" type="pres">
      <dgm:prSet presAssocID="{1846946C-55D9-4C35-A002-C7A135C40504}" presName="Name35" presStyleLbl="parChTrans1D2" presStyleIdx="0" presStyleCnt="4"/>
      <dgm:spPr/>
    </dgm:pt>
    <dgm:pt modelId="{67D25C3C-1F43-4FAC-846D-FF9736A92FC3}" type="pres">
      <dgm:prSet presAssocID="{5B724657-04FD-47D8-9600-37FDD023DFB9}" presName="hierRoot2" presStyleCnt="0">
        <dgm:presLayoutVars>
          <dgm:hierBranch val="init"/>
        </dgm:presLayoutVars>
      </dgm:prSet>
      <dgm:spPr/>
    </dgm:pt>
    <dgm:pt modelId="{33BC35E9-6B67-4905-93AD-34629F7478BB}" type="pres">
      <dgm:prSet presAssocID="{5B724657-04FD-47D8-9600-37FDD023DFB9}" presName="rootComposite" presStyleCnt="0"/>
      <dgm:spPr/>
    </dgm:pt>
    <dgm:pt modelId="{69890B47-3E0B-4069-A0E1-60474B21C9D6}" type="pres">
      <dgm:prSet presAssocID="{5B724657-04FD-47D8-9600-37FDD023DFB9}" presName="rootText" presStyleLbl="node2" presStyleIdx="0" presStyleCnt="4" custScaleY="42880">
        <dgm:presLayoutVars>
          <dgm:chPref val="3"/>
        </dgm:presLayoutVars>
      </dgm:prSet>
      <dgm:spPr/>
    </dgm:pt>
    <dgm:pt modelId="{671A3F64-C079-48FB-982A-7594B9683A40}" type="pres">
      <dgm:prSet presAssocID="{5B724657-04FD-47D8-9600-37FDD023DFB9}" presName="rootConnector" presStyleLbl="node2" presStyleIdx="0" presStyleCnt="4"/>
      <dgm:spPr/>
    </dgm:pt>
    <dgm:pt modelId="{940E1A42-0874-4F09-94CB-78BB62E62022}" type="pres">
      <dgm:prSet presAssocID="{5B724657-04FD-47D8-9600-37FDD023DFB9}" presName="hierChild4" presStyleCnt="0"/>
      <dgm:spPr/>
    </dgm:pt>
    <dgm:pt modelId="{2B75B868-FD3F-4ACF-91A0-170C722F91D0}" type="pres">
      <dgm:prSet presAssocID="{5B724657-04FD-47D8-9600-37FDD023DFB9}" presName="hierChild5" presStyleCnt="0"/>
      <dgm:spPr/>
    </dgm:pt>
    <dgm:pt modelId="{B89F6891-F7B2-4E0D-A3B9-1510F9C64515}" type="pres">
      <dgm:prSet presAssocID="{E0EFE30D-C4F0-4746-BBD7-E9420B38290C}" presName="Name35" presStyleLbl="parChTrans1D2" presStyleIdx="1" presStyleCnt="4"/>
      <dgm:spPr/>
    </dgm:pt>
    <dgm:pt modelId="{9111D454-0000-462B-B8F5-A53294D05411}" type="pres">
      <dgm:prSet presAssocID="{581674F1-FE6E-446E-8FCC-84FF7EB19975}" presName="hierRoot2" presStyleCnt="0">
        <dgm:presLayoutVars>
          <dgm:hierBranch val="init"/>
        </dgm:presLayoutVars>
      </dgm:prSet>
      <dgm:spPr/>
    </dgm:pt>
    <dgm:pt modelId="{C48EBC12-6366-42E3-94DF-B54039F91BB4}" type="pres">
      <dgm:prSet presAssocID="{581674F1-FE6E-446E-8FCC-84FF7EB19975}" presName="rootComposite" presStyleCnt="0"/>
      <dgm:spPr/>
    </dgm:pt>
    <dgm:pt modelId="{9D219876-469B-4ED5-B356-AB9250F9C3A7}" type="pres">
      <dgm:prSet presAssocID="{581674F1-FE6E-446E-8FCC-84FF7EB19975}" presName="rootText" presStyleLbl="node2" presStyleIdx="1" presStyleCnt="4" custScaleY="42880">
        <dgm:presLayoutVars>
          <dgm:chPref val="3"/>
        </dgm:presLayoutVars>
      </dgm:prSet>
      <dgm:spPr/>
    </dgm:pt>
    <dgm:pt modelId="{50E24EA7-10AE-4EA4-8B14-014955C48B41}" type="pres">
      <dgm:prSet presAssocID="{581674F1-FE6E-446E-8FCC-84FF7EB19975}" presName="rootConnector" presStyleLbl="node2" presStyleIdx="1" presStyleCnt="4"/>
      <dgm:spPr/>
    </dgm:pt>
    <dgm:pt modelId="{17498907-CD8F-4F25-8B24-D9476EA8B8F9}" type="pres">
      <dgm:prSet presAssocID="{581674F1-FE6E-446E-8FCC-84FF7EB19975}" presName="hierChild4" presStyleCnt="0"/>
      <dgm:spPr/>
    </dgm:pt>
    <dgm:pt modelId="{5F324F75-A24D-4EC1-BAAD-5C4429A22492}" type="pres">
      <dgm:prSet presAssocID="{581674F1-FE6E-446E-8FCC-84FF7EB19975}" presName="hierChild5" presStyleCnt="0"/>
      <dgm:spPr/>
    </dgm:pt>
    <dgm:pt modelId="{E60F5830-1D88-40E3-A8DC-8C16AB65BD67}" type="pres">
      <dgm:prSet presAssocID="{EFEB1C7B-92FD-40A8-9E9F-5BE076B5E1EC}" presName="Name35" presStyleLbl="parChTrans1D2" presStyleIdx="2" presStyleCnt="4"/>
      <dgm:spPr/>
    </dgm:pt>
    <dgm:pt modelId="{9D382FA5-B9E7-45FB-815C-84582D3DF473}" type="pres">
      <dgm:prSet presAssocID="{D3FF70DB-94DB-494B-8727-AB0C38FCB3FD}" presName="hierRoot2" presStyleCnt="0">
        <dgm:presLayoutVars>
          <dgm:hierBranch val="l"/>
        </dgm:presLayoutVars>
      </dgm:prSet>
      <dgm:spPr/>
    </dgm:pt>
    <dgm:pt modelId="{4D9CC299-F432-4949-A5AB-8EF7BE11D895}" type="pres">
      <dgm:prSet presAssocID="{D3FF70DB-94DB-494B-8727-AB0C38FCB3FD}" presName="rootComposite" presStyleCnt="0"/>
      <dgm:spPr/>
    </dgm:pt>
    <dgm:pt modelId="{F3DF066B-E467-4A70-98D0-3055D08D3957}" type="pres">
      <dgm:prSet presAssocID="{D3FF70DB-94DB-494B-8727-AB0C38FCB3FD}" presName="rootText" presStyleLbl="node2" presStyleIdx="2" presStyleCnt="4" custScaleY="42880">
        <dgm:presLayoutVars>
          <dgm:chPref val="3"/>
        </dgm:presLayoutVars>
      </dgm:prSet>
      <dgm:spPr/>
    </dgm:pt>
    <dgm:pt modelId="{02FE51DF-368C-44A2-88B8-BCDD98C47C2B}" type="pres">
      <dgm:prSet presAssocID="{D3FF70DB-94DB-494B-8727-AB0C38FCB3FD}" presName="rootConnector" presStyleLbl="node2" presStyleIdx="2" presStyleCnt="4"/>
      <dgm:spPr/>
    </dgm:pt>
    <dgm:pt modelId="{623F83EF-808F-4210-80E4-BE64610301AE}" type="pres">
      <dgm:prSet presAssocID="{D3FF70DB-94DB-494B-8727-AB0C38FCB3FD}" presName="hierChild4" presStyleCnt="0"/>
      <dgm:spPr/>
    </dgm:pt>
    <dgm:pt modelId="{E26285C6-C58F-4696-9CB6-1605304AF72E}" type="pres">
      <dgm:prSet presAssocID="{D3FF70DB-94DB-494B-8727-AB0C38FCB3FD}" presName="hierChild5" presStyleCnt="0"/>
      <dgm:spPr/>
    </dgm:pt>
    <dgm:pt modelId="{35140371-F1B6-4788-B3DA-4E6FEE999B85}" type="pres">
      <dgm:prSet presAssocID="{96C1AE25-F2FB-42D2-89C0-740B2B7DE232}" presName="Name35" presStyleLbl="parChTrans1D2" presStyleIdx="3" presStyleCnt="4"/>
      <dgm:spPr/>
    </dgm:pt>
    <dgm:pt modelId="{D482E6B2-5539-465A-83C7-A57942F5EEF4}" type="pres">
      <dgm:prSet presAssocID="{83ED49D5-1A20-40EF-A70A-EFA1A472F82D}" presName="hierRoot2" presStyleCnt="0">
        <dgm:presLayoutVars>
          <dgm:hierBranch val="init"/>
        </dgm:presLayoutVars>
      </dgm:prSet>
      <dgm:spPr/>
    </dgm:pt>
    <dgm:pt modelId="{605ED9DC-F542-4810-AB3C-97599E2C3B56}" type="pres">
      <dgm:prSet presAssocID="{83ED49D5-1A20-40EF-A70A-EFA1A472F82D}" presName="rootComposite" presStyleCnt="0"/>
      <dgm:spPr/>
    </dgm:pt>
    <dgm:pt modelId="{D48EF3A3-AC21-4A0B-9B51-8DBA5D324329}" type="pres">
      <dgm:prSet presAssocID="{83ED49D5-1A20-40EF-A70A-EFA1A472F82D}" presName="rootText" presStyleLbl="node2" presStyleIdx="3" presStyleCnt="4" custScaleY="42880">
        <dgm:presLayoutVars>
          <dgm:chPref val="3"/>
        </dgm:presLayoutVars>
      </dgm:prSet>
      <dgm:spPr/>
    </dgm:pt>
    <dgm:pt modelId="{A3263319-3A3B-4520-B9F9-3ED7D1B86C2D}" type="pres">
      <dgm:prSet presAssocID="{83ED49D5-1A20-40EF-A70A-EFA1A472F82D}" presName="rootConnector" presStyleLbl="node2" presStyleIdx="3" presStyleCnt="4"/>
      <dgm:spPr/>
    </dgm:pt>
    <dgm:pt modelId="{FE2ED09C-26CE-40C5-AF1D-9F975324BE17}" type="pres">
      <dgm:prSet presAssocID="{83ED49D5-1A20-40EF-A70A-EFA1A472F82D}" presName="hierChild4" presStyleCnt="0"/>
      <dgm:spPr/>
    </dgm:pt>
    <dgm:pt modelId="{84B5EF54-9C56-4DBD-A002-0650EFEFBCB0}" type="pres">
      <dgm:prSet presAssocID="{83ED49D5-1A20-40EF-A70A-EFA1A472F82D}" presName="hierChild5" presStyleCnt="0"/>
      <dgm:spPr/>
    </dgm:pt>
    <dgm:pt modelId="{BC7CFF03-82B4-446D-B37F-FC751759C387}" type="pres">
      <dgm:prSet presAssocID="{DD948D88-A8C6-4D72-9479-5EAB36D48AB9}" presName="hierChild3" presStyleCnt="0"/>
      <dgm:spPr/>
    </dgm:pt>
  </dgm:ptLst>
  <dgm:cxnLst>
    <dgm:cxn modelId="{2AD8700B-9860-4646-850C-5673ECCA7F72}" type="presOf" srcId="{581674F1-FE6E-446E-8FCC-84FF7EB19975}" destId="{9D219876-469B-4ED5-B356-AB9250F9C3A7}" srcOrd="0" destOrd="0" presId="urn:microsoft.com/office/officeart/2005/8/layout/orgChart1"/>
    <dgm:cxn modelId="{C7B0EA1C-BF52-4105-BFCB-4DA63E565CC9}" type="presOf" srcId="{1846946C-55D9-4C35-A002-C7A135C40504}" destId="{4A81E75C-74F7-47A9-9170-57464CA81483}" srcOrd="0" destOrd="0" presId="urn:microsoft.com/office/officeart/2005/8/layout/orgChart1"/>
    <dgm:cxn modelId="{A102A724-A82F-4780-8660-F0B06A83A3BB}" type="presOf" srcId="{96C1AE25-F2FB-42D2-89C0-740B2B7DE232}" destId="{35140371-F1B6-4788-B3DA-4E6FEE999B85}" srcOrd="0" destOrd="0" presId="urn:microsoft.com/office/officeart/2005/8/layout/orgChart1"/>
    <dgm:cxn modelId="{CF042729-A600-41DD-9B06-B6EA4467301C}" type="presOf" srcId="{EFEB1C7B-92FD-40A8-9E9F-5BE076B5E1EC}" destId="{E60F5830-1D88-40E3-A8DC-8C16AB65BD67}" srcOrd="0" destOrd="0" presId="urn:microsoft.com/office/officeart/2005/8/layout/orgChart1"/>
    <dgm:cxn modelId="{32A6694A-5D2E-40BC-8C46-0411313BCB97}" type="presOf" srcId="{83ED49D5-1A20-40EF-A70A-EFA1A472F82D}" destId="{D48EF3A3-AC21-4A0B-9B51-8DBA5D324329}" srcOrd="0" destOrd="0" presId="urn:microsoft.com/office/officeart/2005/8/layout/orgChart1"/>
    <dgm:cxn modelId="{8DD31A4B-6018-42BE-8E34-6FCEEF8FA91F}" srcId="{DD948D88-A8C6-4D72-9479-5EAB36D48AB9}" destId="{D3FF70DB-94DB-494B-8727-AB0C38FCB3FD}" srcOrd="2" destOrd="0" parTransId="{EFEB1C7B-92FD-40A8-9E9F-5BE076B5E1EC}" sibTransId="{16B72A9E-4326-4FDB-BDAB-A5573101850A}"/>
    <dgm:cxn modelId="{853C7377-53F1-480D-B4EB-F8D62409EC03}" type="presOf" srcId="{5B724657-04FD-47D8-9600-37FDD023DFB9}" destId="{69890B47-3E0B-4069-A0E1-60474B21C9D6}" srcOrd="0" destOrd="0" presId="urn:microsoft.com/office/officeart/2005/8/layout/orgChart1"/>
    <dgm:cxn modelId="{B9957977-68B6-496E-81FF-77C350653C2D}" type="presOf" srcId="{DD948D88-A8C6-4D72-9479-5EAB36D48AB9}" destId="{F3452A05-71FA-4C72-A798-B1B607C8A80E}" srcOrd="1" destOrd="0" presId="urn:microsoft.com/office/officeart/2005/8/layout/orgChart1"/>
    <dgm:cxn modelId="{7FDA6779-82ED-4B48-AB24-F389BF4D53EB}" type="presOf" srcId="{D3FF70DB-94DB-494B-8727-AB0C38FCB3FD}" destId="{02FE51DF-368C-44A2-88B8-BCDD98C47C2B}" srcOrd="1" destOrd="0" presId="urn:microsoft.com/office/officeart/2005/8/layout/orgChart1"/>
    <dgm:cxn modelId="{0AB8829F-8238-4450-AA72-D990794C10F7}" srcId="{DD948D88-A8C6-4D72-9479-5EAB36D48AB9}" destId="{581674F1-FE6E-446E-8FCC-84FF7EB19975}" srcOrd="1" destOrd="0" parTransId="{E0EFE30D-C4F0-4746-BBD7-E9420B38290C}" sibTransId="{049448D4-1B94-4124-9ECD-A51E1D2770F2}"/>
    <dgm:cxn modelId="{08B5C2A5-3341-44DA-9712-C79671B94D6C}" srcId="{DD948D88-A8C6-4D72-9479-5EAB36D48AB9}" destId="{83ED49D5-1A20-40EF-A70A-EFA1A472F82D}" srcOrd="3" destOrd="0" parTransId="{96C1AE25-F2FB-42D2-89C0-740B2B7DE232}" sibTransId="{A4F2273E-991C-4BB1-8819-A68F6CF92381}"/>
    <dgm:cxn modelId="{C845DFB5-D4F2-4AFA-89D9-BEF3BC571F6D}" type="presOf" srcId="{D3FF70DB-94DB-494B-8727-AB0C38FCB3FD}" destId="{F3DF066B-E467-4A70-98D0-3055D08D3957}" srcOrd="0" destOrd="0" presId="urn:microsoft.com/office/officeart/2005/8/layout/orgChart1"/>
    <dgm:cxn modelId="{D9B0A4C1-C588-47B4-A4AA-56CCAC456BA2}" srcId="{E23F2355-9528-434A-8440-396DA0C4DF06}" destId="{DD948D88-A8C6-4D72-9479-5EAB36D48AB9}" srcOrd="0" destOrd="0" parTransId="{F186FBF3-E484-46AB-A4D4-07AAB253DAD8}" sibTransId="{82897637-2921-4110-9DD8-6E252E7CF005}"/>
    <dgm:cxn modelId="{F1E994CB-C8DC-4278-91CE-7E1F93A07E17}" type="presOf" srcId="{DD948D88-A8C6-4D72-9479-5EAB36D48AB9}" destId="{45A222A0-579D-479E-9D1B-22F74CA19AA7}" srcOrd="0" destOrd="0" presId="urn:microsoft.com/office/officeart/2005/8/layout/orgChart1"/>
    <dgm:cxn modelId="{424D42D1-EF05-4C5B-8015-60652128BEBC}" type="presOf" srcId="{E23F2355-9528-434A-8440-396DA0C4DF06}" destId="{942FC9D6-DBF3-47F5-A51F-F3748696C38E}" srcOrd="0" destOrd="0" presId="urn:microsoft.com/office/officeart/2005/8/layout/orgChart1"/>
    <dgm:cxn modelId="{48BC27D9-4D31-4995-9170-095599E93C28}" srcId="{DD948D88-A8C6-4D72-9479-5EAB36D48AB9}" destId="{5B724657-04FD-47D8-9600-37FDD023DFB9}" srcOrd="0" destOrd="0" parTransId="{1846946C-55D9-4C35-A002-C7A135C40504}" sibTransId="{881F665B-D5DC-4719-B1E4-08D4C446E03A}"/>
    <dgm:cxn modelId="{D5A13DE9-A3F6-40A3-B944-3EFB17F256B9}" type="presOf" srcId="{5B724657-04FD-47D8-9600-37FDD023DFB9}" destId="{671A3F64-C079-48FB-982A-7594B9683A40}" srcOrd="1" destOrd="0" presId="urn:microsoft.com/office/officeart/2005/8/layout/orgChart1"/>
    <dgm:cxn modelId="{1BC18EEB-55B4-4C6B-822D-1BCF06BB1348}" type="presOf" srcId="{581674F1-FE6E-446E-8FCC-84FF7EB19975}" destId="{50E24EA7-10AE-4EA4-8B14-014955C48B41}" srcOrd="1" destOrd="0" presId="urn:microsoft.com/office/officeart/2005/8/layout/orgChart1"/>
    <dgm:cxn modelId="{D4707BEC-1814-4178-BF18-345DF335E793}" type="presOf" srcId="{E0EFE30D-C4F0-4746-BBD7-E9420B38290C}" destId="{B89F6891-F7B2-4E0D-A3B9-1510F9C64515}" srcOrd="0" destOrd="0" presId="urn:microsoft.com/office/officeart/2005/8/layout/orgChart1"/>
    <dgm:cxn modelId="{6836ABEE-390D-4A67-99D5-5371CB5D6824}" type="presOf" srcId="{83ED49D5-1A20-40EF-A70A-EFA1A472F82D}" destId="{A3263319-3A3B-4520-B9F9-3ED7D1B86C2D}" srcOrd="1" destOrd="0" presId="urn:microsoft.com/office/officeart/2005/8/layout/orgChart1"/>
    <dgm:cxn modelId="{60303C3C-3BA5-495D-B8E0-B0BEC1E92EE4}" type="presParOf" srcId="{942FC9D6-DBF3-47F5-A51F-F3748696C38E}" destId="{C9BE1D2A-7D63-4A4B-B173-C51D9A0773F6}" srcOrd="0" destOrd="0" presId="urn:microsoft.com/office/officeart/2005/8/layout/orgChart1"/>
    <dgm:cxn modelId="{2723E032-6ABC-4544-B1CB-D855A6412A65}" type="presParOf" srcId="{C9BE1D2A-7D63-4A4B-B173-C51D9A0773F6}" destId="{0CECD744-5F72-430D-A388-743AF9A858F9}" srcOrd="0" destOrd="0" presId="urn:microsoft.com/office/officeart/2005/8/layout/orgChart1"/>
    <dgm:cxn modelId="{2632A0EE-7609-4F9A-B515-A15F22041A9F}" type="presParOf" srcId="{0CECD744-5F72-430D-A388-743AF9A858F9}" destId="{45A222A0-579D-479E-9D1B-22F74CA19AA7}" srcOrd="0" destOrd="0" presId="urn:microsoft.com/office/officeart/2005/8/layout/orgChart1"/>
    <dgm:cxn modelId="{CC4A7EA6-927A-41B9-9397-819EAD457594}" type="presParOf" srcId="{0CECD744-5F72-430D-A388-743AF9A858F9}" destId="{F3452A05-71FA-4C72-A798-B1B607C8A80E}" srcOrd="1" destOrd="0" presId="urn:microsoft.com/office/officeart/2005/8/layout/orgChart1"/>
    <dgm:cxn modelId="{4ADCD73E-E99F-41C2-869B-965F06BCB634}" type="presParOf" srcId="{C9BE1D2A-7D63-4A4B-B173-C51D9A0773F6}" destId="{C21BCCC3-F8DA-4E98-B8CD-2F898E37A9EF}" srcOrd="1" destOrd="0" presId="urn:microsoft.com/office/officeart/2005/8/layout/orgChart1"/>
    <dgm:cxn modelId="{D0DEF081-393D-43F8-A1AC-61E28C93620E}" type="presParOf" srcId="{C21BCCC3-F8DA-4E98-B8CD-2F898E37A9EF}" destId="{4A81E75C-74F7-47A9-9170-57464CA81483}" srcOrd="0" destOrd="0" presId="urn:microsoft.com/office/officeart/2005/8/layout/orgChart1"/>
    <dgm:cxn modelId="{9B3A1CFC-9C20-47B2-9F87-A65146B37DAC}" type="presParOf" srcId="{C21BCCC3-F8DA-4E98-B8CD-2F898E37A9EF}" destId="{67D25C3C-1F43-4FAC-846D-FF9736A92FC3}" srcOrd="1" destOrd="0" presId="urn:microsoft.com/office/officeart/2005/8/layout/orgChart1"/>
    <dgm:cxn modelId="{ECF2C474-0971-4CF1-9521-840F078E12CC}" type="presParOf" srcId="{67D25C3C-1F43-4FAC-846D-FF9736A92FC3}" destId="{33BC35E9-6B67-4905-93AD-34629F7478BB}" srcOrd="0" destOrd="0" presId="urn:microsoft.com/office/officeart/2005/8/layout/orgChart1"/>
    <dgm:cxn modelId="{4238D99F-42B4-4BD3-B4D4-97D7EE1C68AE}" type="presParOf" srcId="{33BC35E9-6B67-4905-93AD-34629F7478BB}" destId="{69890B47-3E0B-4069-A0E1-60474B21C9D6}" srcOrd="0" destOrd="0" presId="urn:microsoft.com/office/officeart/2005/8/layout/orgChart1"/>
    <dgm:cxn modelId="{FE4C973B-DDC0-4F98-A444-2C08D2008E75}" type="presParOf" srcId="{33BC35E9-6B67-4905-93AD-34629F7478BB}" destId="{671A3F64-C079-48FB-982A-7594B9683A40}" srcOrd="1" destOrd="0" presId="urn:microsoft.com/office/officeart/2005/8/layout/orgChart1"/>
    <dgm:cxn modelId="{3B63C66B-5A17-42C5-B210-DA0D2CC3C65D}" type="presParOf" srcId="{67D25C3C-1F43-4FAC-846D-FF9736A92FC3}" destId="{940E1A42-0874-4F09-94CB-78BB62E62022}" srcOrd="1" destOrd="0" presId="urn:microsoft.com/office/officeart/2005/8/layout/orgChart1"/>
    <dgm:cxn modelId="{5F545F05-BFB1-4E95-9F42-1F028D06A0CA}" type="presParOf" srcId="{67D25C3C-1F43-4FAC-846D-FF9736A92FC3}" destId="{2B75B868-FD3F-4ACF-91A0-170C722F91D0}" srcOrd="2" destOrd="0" presId="urn:microsoft.com/office/officeart/2005/8/layout/orgChart1"/>
    <dgm:cxn modelId="{B098C862-237F-4956-8D89-1B7C913F87F5}" type="presParOf" srcId="{C21BCCC3-F8DA-4E98-B8CD-2F898E37A9EF}" destId="{B89F6891-F7B2-4E0D-A3B9-1510F9C64515}" srcOrd="2" destOrd="0" presId="urn:microsoft.com/office/officeart/2005/8/layout/orgChart1"/>
    <dgm:cxn modelId="{6716678E-B9C7-4622-A6DF-ABBB1FD0C00F}" type="presParOf" srcId="{C21BCCC3-F8DA-4E98-B8CD-2F898E37A9EF}" destId="{9111D454-0000-462B-B8F5-A53294D05411}" srcOrd="3" destOrd="0" presId="urn:microsoft.com/office/officeart/2005/8/layout/orgChart1"/>
    <dgm:cxn modelId="{EA9581EF-90D2-4C2B-857A-7D1A61827479}" type="presParOf" srcId="{9111D454-0000-462B-B8F5-A53294D05411}" destId="{C48EBC12-6366-42E3-94DF-B54039F91BB4}" srcOrd="0" destOrd="0" presId="urn:microsoft.com/office/officeart/2005/8/layout/orgChart1"/>
    <dgm:cxn modelId="{577576D1-49EA-49A5-9380-B6A5BC30265C}" type="presParOf" srcId="{C48EBC12-6366-42E3-94DF-B54039F91BB4}" destId="{9D219876-469B-4ED5-B356-AB9250F9C3A7}" srcOrd="0" destOrd="0" presId="urn:microsoft.com/office/officeart/2005/8/layout/orgChart1"/>
    <dgm:cxn modelId="{A4191DAD-4B22-4601-971F-3CD745724829}" type="presParOf" srcId="{C48EBC12-6366-42E3-94DF-B54039F91BB4}" destId="{50E24EA7-10AE-4EA4-8B14-014955C48B41}" srcOrd="1" destOrd="0" presId="urn:microsoft.com/office/officeart/2005/8/layout/orgChart1"/>
    <dgm:cxn modelId="{13296768-35DB-440C-93DD-343AD73DE941}" type="presParOf" srcId="{9111D454-0000-462B-B8F5-A53294D05411}" destId="{17498907-CD8F-4F25-8B24-D9476EA8B8F9}" srcOrd="1" destOrd="0" presId="urn:microsoft.com/office/officeart/2005/8/layout/orgChart1"/>
    <dgm:cxn modelId="{E5835F71-02DD-4025-8664-AB2152DD588E}" type="presParOf" srcId="{9111D454-0000-462B-B8F5-A53294D05411}" destId="{5F324F75-A24D-4EC1-BAAD-5C4429A22492}" srcOrd="2" destOrd="0" presId="urn:microsoft.com/office/officeart/2005/8/layout/orgChart1"/>
    <dgm:cxn modelId="{48E2D24B-6D33-40A0-BF86-051137493E82}" type="presParOf" srcId="{C21BCCC3-F8DA-4E98-B8CD-2F898E37A9EF}" destId="{E60F5830-1D88-40E3-A8DC-8C16AB65BD67}" srcOrd="4" destOrd="0" presId="urn:microsoft.com/office/officeart/2005/8/layout/orgChart1"/>
    <dgm:cxn modelId="{6B3ED70B-4487-405F-AC83-E6C7E881CD07}" type="presParOf" srcId="{C21BCCC3-F8DA-4E98-B8CD-2F898E37A9EF}" destId="{9D382FA5-B9E7-45FB-815C-84582D3DF473}" srcOrd="5" destOrd="0" presId="urn:microsoft.com/office/officeart/2005/8/layout/orgChart1"/>
    <dgm:cxn modelId="{D51E49CD-5394-4179-94CD-13AD0BC46D7B}" type="presParOf" srcId="{9D382FA5-B9E7-45FB-815C-84582D3DF473}" destId="{4D9CC299-F432-4949-A5AB-8EF7BE11D895}" srcOrd="0" destOrd="0" presId="urn:microsoft.com/office/officeart/2005/8/layout/orgChart1"/>
    <dgm:cxn modelId="{A167032C-3A89-47D2-B4C7-BF9105CDBF1F}" type="presParOf" srcId="{4D9CC299-F432-4949-A5AB-8EF7BE11D895}" destId="{F3DF066B-E467-4A70-98D0-3055D08D3957}" srcOrd="0" destOrd="0" presId="urn:microsoft.com/office/officeart/2005/8/layout/orgChart1"/>
    <dgm:cxn modelId="{4F79E9D1-3857-428A-9176-275D4C55D572}" type="presParOf" srcId="{4D9CC299-F432-4949-A5AB-8EF7BE11D895}" destId="{02FE51DF-368C-44A2-88B8-BCDD98C47C2B}" srcOrd="1" destOrd="0" presId="urn:microsoft.com/office/officeart/2005/8/layout/orgChart1"/>
    <dgm:cxn modelId="{01398593-124B-41F5-96D1-21B4825B5172}" type="presParOf" srcId="{9D382FA5-B9E7-45FB-815C-84582D3DF473}" destId="{623F83EF-808F-4210-80E4-BE64610301AE}" srcOrd="1" destOrd="0" presId="urn:microsoft.com/office/officeart/2005/8/layout/orgChart1"/>
    <dgm:cxn modelId="{33675C0C-684E-4E07-8790-337A606B753E}" type="presParOf" srcId="{9D382FA5-B9E7-45FB-815C-84582D3DF473}" destId="{E26285C6-C58F-4696-9CB6-1605304AF72E}" srcOrd="2" destOrd="0" presId="urn:microsoft.com/office/officeart/2005/8/layout/orgChart1"/>
    <dgm:cxn modelId="{828279A3-9FFE-417D-BAC1-79297C0CC665}" type="presParOf" srcId="{C21BCCC3-F8DA-4E98-B8CD-2F898E37A9EF}" destId="{35140371-F1B6-4788-B3DA-4E6FEE999B85}" srcOrd="6" destOrd="0" presId="urn:microsoft.com/office/officeart/2005/8/layout/orgChart1"/>
    <dgm:cxn modelId="{C8492AAE-5AF8-4DE5-97B4-D15ECE756885}" type="presParOf" srcId="{C21BCCC3-F8DA-4E98-B8CD-2F898E37A9EF}" destId="{D482E6B2-5539-465A-83C7-A57942F5EEF4}" srcOrd="7" destOrd="0" presId="urn:microsoft.com/office/officeart/2005/8/layout/orgChart1"/>
    <dgm:cxn modelId="{130B59A7-2639-4E06-9F60-7867B212FA07}" type="presParOf" srcId="{D482E6B2-5539-465A-83C7-A57942F5EEF4}" destId="{605ED9DC-F542-4810-AB3C-97599E2C3B56}" srcOrd="0" destOrd="0" presId="urn:microsoft.com/office/officeart/2005/8/layout/orgChart1"/>
    <dgm:cxn modelId="{506309EE-CFC0-415D-83D3-013F814F0C36}" type="presParOf" srcId="{605ED9DC-F542-4810-AB3C-97599E2C3B56}" destId="{D48EF3A3-AC21-4A0B-9B51-8DBA5D324329}" srcOrd="0" destOrd="0" presId="urn:microsoft.com/office/officeart/2005/8/layout/orgChart1"/>
    <dgm:cxn modelId="{A7358334-BFA8-4D6C-A8F6-BF07A9B8849E}" type="presParOf" srcId="{605ED9DC-F542-4810-AB3C-97599E2C3B56}" destId="{A3263319-3A3B-4520-B9F9-3ED7D1B86C2D}" srcOrd="1" destOrd="0" presId="urn:microsoft.com/office/officeart/2005/8/layout/orgChart1"/>
    <dgm:cxn modelId="{290AF341-4DA3-4EAD-9A54-EA8672470A26}" type="presParOf" srcId="{D482E6B2-5539-465A-83C7-A57942F5EEF4}" destId="{FE2ED09C-26CE-40C5-AF1D-9F975324BE17}" srcOrd="1" destOrd="0" presId="urn:microsoft.com/office/officeart/2005/8/layout/orgChart1"/>
    <dgm:cxn modelId="{FB1CF880-A1D6-48ED-95F8-7ED091B542DE}" type="presParOf" srcId="{D482E6B2-5539-465A-83C7-A57942F5EEF4}" destId="{84B5EF54-9C56-4DBD-A002-0650EFEFBCB0}" srcOrd="2" destOrd="0" presId="urn:microsoft.com/office/officeart/2005/8/layout/orgChart1"/>
    <dgm:cxn modelId="{0AA98ADC-9C06-4A85-8ED9-EA1845FF997C}" type="presParOf" srcId="{C9BE1D2A-7D63-4A4B-B173-C51D9A0773F6}" destId="{BC7CFF03-82B4-446D-B37F-FC751759C38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955B5-562C-45E2-9A84-0296CCB27E3D}">
      <dsp:nvSpPr>
        <dsp:cNvPr id="0" name=""/>
        <dsp:cNvSpPr/>
      </dsp:nvSpPr>
      <dsp:spPr>
        <a:xfrm>
          <a:off x="6502397" y="713084"/>
          <a:ext cx="5388051" cy="4675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3779"/>
              </a:lnTo>
              <a:lnTo>
                <a:pt x="5388051" y="233779"/>
              </a:lnTo>
              <a:lnTo>
                <a:pt x="5388051" y="467558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140371-F1B6-4788-B3DA-4E6FEE999B85}">
      <dsp:nvSpPr>
        <dsp:cNvPr id="0" name=""/>
        <dsp:cNvSpPr/>
      </dsp:nvSpPr>
      <dsp:spPr>
        <a:xfrm>
          <a:off x="6502397" y="713084"/>
          <a:ext cx="2694025" cy="4675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3779"/>
              </a:lnTo>
              <a:lnTo>
                <a:pt x="2694025" y="233779"/>
              </a:lnTo>
              <a:lnTo>
                <a:pt x="2694025" y="467558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0F5830-1D88-40E3-A8DC-8C16AB65BD67}">
      <dsp:nvSpPr>
        <dsp:cNvPr id="0" name=""/>
        <dsp:cNvSpPr/>
      </dsp:nvSpPr>
      <dsp:spPr>
        <a:xfrm>
          <a:off x="6456676" y="713084"/>
          <a:ext cx="91440" cy="4675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7558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9F6891-F7B2-4E0D-A3B9-1510F9C64515}">
      <dsp:nvSpPr>
        <dsp:cNvPr id="0" name=""/>
        <dsp:cNvSpPr/>
      </dsp:nvSpPr>
      <dsp:spPr>
        <a:xfrm>
          <a:off x="3808371" y="713084"/>
          <a:ext cx="2694025" cy="467558"/>
        </a:xfrm>
        <a:custGeom>
          <a:avLst/>
          <a:gdLst/>
          <a:ahLst/>
          <a:cxnLst/>
          <a:rect l="0" t="0" r="0" b="0"/>
          <a:pathLst>
            <a:path>
              <a:moveTo>
                <a:pt x="2694025" y="0"/>
              </a:moveTo>
              <a:lnTo>
                <a:pt x="2694025" y="233779"/>
              </a:lnTo>
              <a:lnTo>
                <a:pt x="0" y="233779"/>
              </a:lnTo>
              <a:lnTo>
                <a:pt x="0" y="467558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81E75C-74F7-47A9-9170-57464CA81483}">
      <dsp:nvSpPr>
        <dsp:cNvPr id="0" name=""/>
        <dsp:cNvSpPr/>
      </dsp:nvSpPr>
      <dsp:spPr>
        <a:xfrm>
          <a:off x="1114345" y="713084"/>
          <a:ext cx="5388051" cy="467558"/>
        </a:xfrm>
        <a:custGeom>
          <a:avLst/>
          <a:gdLst/>
          <a:ahLst/>
          <a:cxnLst/>
          <a:rect l="0" t="0" r="0" b="0"/>
          <a:pathLst>
            <a:path>
              <a:moveTo>
                <a:pt x="5388051" y="0"/>
              </a:moveTo>
              <a:lnTo>
                <a:pt x="5388051" y="233779"/>
              </a:lnTo>
              <a:lnTo>
                <a:pt x="0" y="233779"/>
              </a:lnTo>
              <a:lnTo>
                <a:pt x="0" y="467558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A222A0-579D-479E-9D1B-22F74CA19AA7}">
      <dsp:nvSpPr>
        <dsp:cNvPr id="0" name=""/>
        <dsp:cNvSpPr/>
      </dsp:nvSpPr>
      <dsp:spPr>
        <a:xfrm>
          <a:off x="4922707" y="30983"/>
          <a:ext cx="3159379" cy="68210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 dirty="0">
            <a:solidFill>
              <a:schemeClr val="tx1"/>
            </a:solidFill>
            <a:latin typeface="Montserrat" panose="00000500000000000000" pitchFamily="2" charset="0"/>
          </a:endParaRPr>
        </a:p>
      </dsp:txBody>
      <dsp:txXfrm>
        <a:off x="4922707" y="30983"/>
        <a:ext cx="3159379" cy="682100"/>
      </dsp:txXfrm>
    </dsp:sp>
    <dsp:sp modelId="{69890B47-3E0B-4069-A0E1-60474B21C9D6}">
      <dsp:nvSpPr>
        <dsp:cNvPr id="0" name=""/>
        <dsp:cNvSpPr/>
      </dsp:nvSpPr>
      <dsp:spPr>
        <a:xfrm>
          <a:off x="1111" y="1180642"/>
          <a:ext cx="2226467" cy="516373"/>
        </a:xfrm>
        <a:prstGeom prst="rect">
          <a:avLst/>
        </a:prstGeom>
        <a:gradFill rotWithShape="0">
          <a:gsLst>
            <a:gs pos="0">
              <a:srgbClr val="E42322"/>
            </a:gs>
            <a:gs pos="100000">
              <a:srgbClr val="C22020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GRUPO ELEKTRA</a:t>
          </a:r>
          <a:endParaRPr lang="es-MX" sz="1400" kern="1200" dirty="0">
            <a:latin typeface="Montserrat" panose="00000500000000000000" pitchFamily="2" charset="0"/>
          </a:endParaRPr>
        </a:p>
      </dsp:txBody>
      <dsp:txXfrm>
        <a:off x="1111" y="1180642"/>
        <a:ext cx="2226467" cy="516373"/>
      </dsp:txXfrm>
    </dsp:sp>
    <dsp:sp modelId="{9D219876-469B-4ED5-B356-AB9250F9C3A7}">
      <dsp:nvSpPr>
        <dsp:cNvPr id="0" name=""/>
        <dsp:cNvSpPr/>
      </dsp:nvSpPr>
      <dsp:spPr>
        <a:xfrm>
          <a:off x="2695137" y="1180642"/>
          <a:ext cx="2226467" cy="514803"/>
        </a:xfrm>
        <a:prstGeom prst="rect">
          <a:avLst/>
        </a:prstGeom>
        <a:gradFill rotWithShape="0">
          <a:gsLst>
            <a:gs pos="0">
              <a:srgbClr val="FFC000"/>
            </a:gs>
            <a:gs pos="100000">
              <a:srgbClr val="DFB623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DESPACHOS</a:t>
          </a:r>
          <a:endParaRPr lang="es-MX" sz="1400" kern="1200" dirty="0">
            <a:latin typeface="Montserrat" panose="00000500000000000000" pitchFamily="2" charset="0"/>
          </a:endParaRPr>
        </a:p>
      </dsp:txBody>
      <dsp:txXfrm>
        <a:off x="2695137" y="1180642"/>
        <a:ext cx="2226467" cy="514803"/>
      </dsp:txXfrm>
    </dsp:sp>
    <dsp:sp modelId="{F3DF066B-E467-4A70-98D0-3055D08D3957}">
      <dsp:nvSpPr>
        <dsp:cNvPr id="0" name=""/>
        <dsp:cNvSpPr/>
      </dsp:nvSpPr>
      <dsp:spPr>
        <a:xfrm>
          <a:off x="5389163" y="1180642"/>
          <a:ext cx="2226467" cy="514803"/>
        </a:xfrm>
        <a:prstGeom prst="rect">
          <a:avLst/>
        </a:prstGeom>
        <a:gradFill rotWithShape="0">
          <a:gsLst>
            <a:gs pos="1000">
              <a:srgbClr val="9853AC"/>
            </a:gs>
            <a:gs pos="100000">
              <a:srgbClr val="7A4494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GRUPO TOTALPLAY</a:t>
          </a:r>
          <a:endParaRPr lang="es-MX" sz="1400" kern="1200" dirty="0">
            <a:latin typeface="Montserrat" panose="00000500000000000000" pitchFamily="2" charset="0"/>
          </a:endParaRPr>
        </a:p>
      </dsp:txBody>
      <dsp:txXfrm>
        <a:off x="5389163" y="1180642"/>
        <a:ext cx="2226467" cy="514803"/>
      </dsp:txXfrm>
    </dsp:sp>
    <dsp:sp modelId="{D48EF3A3-AC21-4A0B-9B51-8DBA5D324329}">
      <dsp:nvSpPr>
        <dsp:cNvPr id="0" name=""/>
        <dsp:cNvSpPr/>
      </dsp:nvSpPr>
      <dsp:spPr>
        <a:xfrm>
          <a:off x="8083189" y="1180642"/>
          <a:ext cx="2226467" cy="514803"/>
        </a:xfrm>
        <a:prstGeom prst="rect">
          <a:avLst/>
        </a:prstGeom>
        <a:gradFill rotWithShape="0">
          <a:gsLst>
            <a:gs pos="1000">
              <a:srgbClr val="2B94F0"/>
            </a:gs>
            <a:gs pos="100000">
              <a:srgbClr val="002060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OTROS NEGOCIOS</a:t>
          </a:r>
          <a:endParaRPr lang="es-MX" sz="1400" kern="1200" dirty="0"/>
        </a:p>
      </dsp:txBody>
      <dsp:txXfrm>
        <a:off x="8083189" y="1180642"/>
        <a:ext cx="2226467" cy="514803"/>
      </dsp:txXfrm>
    </dsp:sp>
    <dsp:sp modelId="{F633C52D-8D2D-43B0-A4E1-FE647530426F}">
      <dsp:nvSpPr>
        <dsp:cNvPr id="0" name=""/>
        <dsp:cNvSpPr/>
      </dsp:nvSpPr>
      <dsp:spPr>
        <a:xfrm>
          <a:off x="10777215" y="1180642"/>
          <a:ext cx="2226467" cy="514803"/>
        </a:xfrm>
        <a:prstGeom prst="rect">
          <a:avLst/>
        </a:prstGeom>
        <a:gradFill rotWithShape="0">
          <a:gsLst>
            <a:gs pos="1000">
              <a:srgbClr val="AC2E6B"/>
            </a:gs>
            <a:gs pos="100000">
              <a:srgbClr val="C22EA2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TV AZTECA</a:t>
          </a:r>
          <a:endParaRPr lang="es-MX" sz="1400" kern="1200" dirty="0"/>
        </a:p>
      </dsp:txBody>
      <dsp:txXfrm>
        <a:off x="10777215" y="1180642"/>
        <a:ext cx="2226467" cy="5148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140371-F1B6-4788-B3DA-4E6FEE999B85}">
      <dsp:nvSpPr>
        <dsp:cNvPr id="0" name=""/>
        <dsp:cNvSpPr/>
      </dsp:nvSpPr>
      <dsp:spPr>
        <a:xfrm>
          <a:off x="6502397" y="706113"/>
          <a:ext cx="4365186" cy="5050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531"/>
              </a:lnTo>
              <a:lnTo>
                <a:pt x="4365186" y="252531"/>
              </a:lnTo>
              <a:lnTo>
                <a:pt x="4365186" y="505062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0F5830-1D88-40E3-A8DC-8C16AB65BD67}">
      <dsp:nvSpPr>
        <dsp:cNvPr id="0" name=""/>
        <dsp:cNvSpPr/>
      </dsp:nvSpPr>
      <dsp:spPr>
        <a:xfrm>
          <a:off x="6502397" y="706113"/>
          <a:ext cx="1455062" cy="5050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531"/>
              </a:lnTo>
              <a:lnTo>
                <a:pt x="1455062" y="252531"/>
              </a:lnTo>
              <a:lnTo>
                <a:pt x="1455062" y="505062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9F6891-F7B2-4E0D-A3B9-1510F9C64515}">
      <dsp:nvSpPr>
        <dsp:cNvPr id="0" name=""/>
        <dsp:cNvSpPr/>
      </dsp:nvSpPr>
      <dsp:spPr>
        <a:xfrm>
          <a:off x="5047334" y="706113"/>
          <a:ext cx="1455062" cy="505062"/>
        </a:xfrm>
        <a:custGeom>
          <a:avLst/>
          <a:gdLst/>
          <a:ahLst/>
          <a:cxnLst/>
          <a:rect l="0" t="0" r="0" b="0"/>
          <a:pathLst>
            <a:path>
              <a:moveTo>
                <a:pt x="1455062" y="0"/>
              </a:moveTo>
              <a:lnTo>
                <a:pt x="1455062" y="252531"/>
              </a:lnTo>
              <a:lnTo>
                <a:pt x="0" y="252531"/>
              </a:lnTo>
              <a:lnTo>
                <a:pt x="0" y="505062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81E75C-74F7-47A9-9170-57464CA81483}">
      <dsp:nvSpPr>
        <dsp:cNvPr id="0" name=""/>
        <dsp:cNvSpPr/>
      </dsp:nvSpPr>
      <dsp:spPr>
        <a:xfrm>
          <a:off x="2137210" y="706113"/>
          <a:ext cx="4365186" cy="505062"/>
        </a:xfrm>
        <a:custGeom>
          <a:avLst/>
          <a:gdLst/>
          <a:ahLst/>
          <a:cxnLst/>
          <a:rect l="0" t="0" r="0" b="0"/>
          <a:pathLst>
            <a:path>
              <a:moveTo>
                <a:pt x="4365186" y="0"/>
              </a:moveTo>
              <a:lnTo>
                <a:pt x="4365186" y="252531"/>
              </a:lnTo>
              <a:lnTo>
                <a:pt x="0" y="252531"/>
              </a:lnTo>
              <a:lnTo>
                <a:pt x="0" y="505062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A222A0-579D-479E-9D1B-22F74CA19AA7}">
      <dsp:nvSpPr>
        <dsp:cNvPr id="0" name=""/>
        <dsp:cNvSpPr/>
      </dsp:nvSpPr>
      <dsp:spPr>
        <a:xfrm>
          <a:off x="4795993" y="1178"/>
          <a:ext cx="3412806" cy="70493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 dirty="0">
            <a:solidFill>
              <a:schemeClr val="tx1"/>
            </a:solidFill>
            <a:latin typeface="Montserrat" panose="00000500000000000000" pitchFamily="2" charset="0"/>
          </a:endParaRPr>
        </a:p>
      </dsp:txBody>
      <dsp:txXfrm>
        <a:off x="4795993" y="1178"/>
        <a:ext cx="3412806" cy="704935"/>
      </dsp:txXfrm>
    </dsp:sp>
    <dsp:sp modelId="{69890B47-3E0B-4069-A0E1-60474B21C9D6}">
      <dsp:nvSpPr>
        <dsp:cNvPr id="0" name=""/>
        <dsp:cNvSpPr/>
      </dsp:nvSpPr>
      <dsp:spPr>
        <a:xfrm>
          <a:off x="934679" y="1211176"/>
          <a:ext cx="2405061" cy="515645"/>
        </a:xfrm>
        <a:prstGeom prst="rect">
          <a:avLst/>
        </a:prstGeom>
        <a:gradFill rotWithShape="0">
          <a:gsLst>
            <a:gs pos="0">
              <a:srgbClr val="E42322"/>
            </a:gs>
            <a:gs pos="100000">
              <a:srgbClr val="C22020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NEGOCIOS FAMILIA</a:t>
          </a:r>
          <a:endParaRPr lang="es-MX" sz="1400" kern="1200" dirty="0">
            <a:latin typeface="Montserrat" panose="00000500000000000000" pitchFamily="2" charset="0"/>
          </a:endParaRPr>
        </a:p>
      </dsp:txBody>
      <dsp:txXfrm>
        <a:off x="934679" y="1211176"/>
        <a:ext cx="2405061" cy="515645"/>
      </dsp:txXfrm>
    </dsp:sp>
    <dsp:sp modelId="{9D219876-469B-4ED5-B356-AB9250F9C3A7}">
      <dsp:nvSpPr>
        <dsp:cNvPr id="0" name=""/>
        <dsp:cNvSpPr/>
      </dsp:nvSpPr>
      <dsp:spPr>
        <a:xfrm>
          <a:off x="3844804" y="1211176"/>
          <a:ext cx="2405061" cy="515645"/>
        </a:xfrm>
        <a:prstGeom prst="rect">
          <a:avLst/>
        </a:prstGeom>
        <a:gradFill rotWithShape="0">
          <a:gsLst>
            <a:gs pos="0">
              <a:srgbClr val="FFC000"/>
            </a:gs>
            <a:gs pos="100000">
              <a:srgbClr val="DFB623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SOPORTE ESTRATÉGICO</a:t>
          </a:r>
          <a:endParaRPr lang="es-MX" sz="1400" kern="1200" dirty="0">
            <a:latin typeface="Montserrat" panose="00000500000000000000" pitchFamily="2" charset="0"/>
          </a:endParaRPr>
        </a:p>
      </dsp:txBody>
      <dsp:txXfrm>
        <a:off x="3844804" y="1211176"/>
        <a:ext cx="2405061" cy="515645"/>
      </dsp:txXfrm>
    </dsp:sp>
    <dsp:sp modelId="{F3DF066B-E467-4A70-98D0-3055D08D3957}">
      <dsp:nvSpPr>
        <dsp:cNvPr id="0" name=""/>
        <dsp:cNvSpPr/>
      </dsp:nvSpPr>
      <dsp:spPr>
        <a:xfrm>
          <a:off x="6754928" y="1211176"/>
          <a:ext cx="2405061" cy="515645"/>
        </a:xfrm>
        <a:prstGeom prst="rect">
          <a:avLst/>
        </a:prstGeom>
        <a:gradFill rotWithShape="0">
          <a:gsLst>
            <a:gs pos="1000">
              <a:srgbClr val="9853AC"/>
            </a:gs>
            <a:gs pos="100000">
              <a:srgbClr val="7A4494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EDUCACIÓN</a:t>
          </a:r>
          <a:endParaRPr lang="es-MX" sz="1400" kern="1200" dirty="0">
            <a:latin typeface="Montserrat" panose="00000500000000000000" pitchFamily="2" charset="0"/>
          </a:endParaRPr>
        </a:p>
      </dsp:txBody>
      <dsp:txXfrm>
        <a:off x="6754928" y="1211176"/>
        <a:ext cx="2405061" cy="515645"/>
      </dsp:txXfrm>
    </dsp:sp>
    <dsp:sp modelId="{D48EF3A3-AC21-4A0B-9B51-8DBA5D324329}">
      <dsp:nvSpPr>
        <dsp:cNvPr id="0" name=""/>
        <dsp:cNvSpPr/>
      </dsp:nvSpPr>
      <dsp:spPr>
        <a:xfrm>
          <a:off x="9665052" y="1211176"/>
          <a:ext cx="2405061" cy="515645"/>
        </a:xfrm>
        <a:prstGeom prst="rect">
          <a:avLst/>
        </a:prstGeom>
        <a:gradFill rotWithShape="0">
          <a:gsLst>
            <a:gs pos="1000">
              <a:srgbClr val="2B94F0"/>
            </a:gs>
            <a:gs pos="100000">
              <a:srgbClr val="002060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OFICINA DE LA PRESIDENCIA</a:t>
          </a:r>
          <a:endParaRPr lang="es-MX" sz="1400" kern="1200" dirty="0"/>
        </a:p>
      </dsp:txBody>
      <dsp:txXfrm>
        <a:off x="9665052" y="1211176"/>
        <a:ext cx="2405061" cy="5156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2FA1C3F9-63E1-2168-61AD-CC0A49642C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5F34C61-0E78-65B4-EBBE-66A778F95DF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0A73FD6-185E-46B7-9444-8C76AF3C9B95}" type="datetimeFigureOut">
              <a:rPr lang="es-MX"/>
              <a:pPr>
                <a:defRPr/>
              </a:pPr>
              <a:t>05/09/2026</a:t>
            </a:fld>
            <a:endParaRPr lang="es-MX" dirty="0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7B1D5081-E730-9E3F-C860-4872C47A43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98500" y="1143000"/>
            <a:ext cx="5461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MX" noProof="0" dirty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41ED6725-8EFA-2ADD-2CD8-D5771BC5F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MX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39B9B8-7338-F38C-A3E8-64479D1EEBA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D5A2C8-28EF-05D2-5223-88E4BCF940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F9CD79F-9808-4CE9-9ECF-4994E45ED5C7}" type="slidenum">
              <a:rPr lang="es-MX" altLang="es-MX"/>
              <a:pPr>
                <a:defRPr/>
              </a:pPr>
              <a:t>‹Nº›</a:t>
            </a:fld>
            <a:endParaRPr lang="es-MX" altLang="es-MX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1pPr>
    <a:lvl2pPr marL="540868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2pPr>
    <a:lvl3pPr marL="1081735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3pPr>
    <a:lvl4pPr marL="1622603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4pPr>
    <a:lvl5pPr marL="2163470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5pPr>
    <a:lvl6pPr marL="2704338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6pPr>
    <a:lvl7pPr marL="3245206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7pPr>
    <a:lvl8pPr marL="3786073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8pPr>
    <a:lvl9pPr marL="4326941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8050A-A434-1570-E777-662852D3D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59731E-34BF-4431-38BE-4873A7CC2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0" y="1143000"/>
            <a:ext cx="54610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6E7355-320E-103D-030D-796F778E7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7389AC-417A-B6E0-4984-D8C35C0C5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011296-2D5F-4DDA-BDC4-271B5B9CAFCE}" type="slidenum">
              <a:rPr lang="es-ES_tradnl" altLang="es-MX" smtClean="0"/>
              <a:pPr>
                <a:defRPr/>
              </a:pPr>
              <a:t>6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6321764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45E3F8E6-8EDF-EA43-31A9-0F03C819DE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5881B289-B0B5-C940-8545-7A12049D03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39A08E2E-D8D4-3B00-0201-0C8E1C630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13</a:t>
            </a:fld>
            <a:endParaRPr lang="es-ES_tradnl" altLang="es-MX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45E3F8E6-8EDF-EA43-31A9-0F03C819DE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5881B289-B0B5-C940-8545-7A12049D03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39A08E2E-D8D4-3B00-0201-0C8E1C630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14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1700549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D0875-F53A-40A3-5EAA-4DA8CD1AD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AEF36CB4-5273-E5CE-E934-EBC9FA32A8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61B3591E-6615-871B-38AD-851ED858F79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F2A0C62C-8393-CE3A-6091-777DA4349C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15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456084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180F-B4FA-6361-BDD2-04DC75E16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064B89F1-5EE0-BBF9-EE1D-B08206DF7B5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79817D26-191F-31EF-0A91-5FFC10DD93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B4FBEE7A-43A7-738A-0E4B-2D0EB30B3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16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1382127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CFA49-E004-BC35-52A2-DE587C8C5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9768950F-27BF-FFB3-EB13-A2CE131E9C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EE2A5F97-D547-8F30-8304-3A8D35644D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C6BFA809-1789-CA70-D5AF-E9934893EF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17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2469031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274A8-21D8-22DC-EF29-BB9531C6F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847259B1-DE99-88B6-4815-26E9404D28A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8C45E2E5-29E7-8FFC-DFA2-47BC569F5A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B20FF272-0437-9E5D-4EFC-5A2FE63B9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18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480920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E2AD1-7B3F-3466-2D78-24736303D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250D5299-F840-3E4E-2D50-1584EB5046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930B075A-6080-9CB1-1F1B-8C3BF069DC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F2CE6E0C-E282-166F-3780-2FFB7D66D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19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108995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9BAAA-E270-B86F-2826-85964F6C7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0C95EE1E-716D-0549-A577-A333DF138E4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9A6F2181-68C6-E2FB-55BD-9F7A4BD4F3C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14A51C11-7678-D028-DB40-3CA74FBE07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20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1137564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B2A79-0C69-60AE-4B9C-C0D9D229B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17CC7357-A698-6ACC-153D-A64FDFE93F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DE16F247-E120-8950-EC83-FE616DD035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 dirty="0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241CD3E2-F5EA-0B7E-AEAC-B80A319F0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21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9321815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4F65A-4946-78A0-F68F-58D39C72E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C3E9C73C-B699-23E2-A84E-44B3B94363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B27C959C-EFB7-E554-390F-1BFF72C5A8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B3CB06E7-EAD8-332A-E737-865A33133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22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4145168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EA44F-3C2E-ED18-AE26-FE1D78B2E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0390EE2F-608A-A718-780D-1B6B17CF5A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9F837F2A-0DCF-63BE-C8DD-B454B6E83F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96EB5EDC-CE70-640B-E67E-A16B44864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23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6130594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99FBD-CF68-E523-66EC-520E86DF3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6694F55A-633F-FE6A-C75B-9A35FDDD25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B030F367-8257-4E80-47DE-BEF9CFDFD9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6D8019A6-E13B-368B-CB44-8477E486B4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24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4927890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FBAAD-24B8-F746-E116-80B0B94A0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6F22B521-3BA3-73C4-C05F-98A19999BB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A2AADF74-B1AE-1760-46E8-761CAA7F91C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CCA419AB-0952-C611-A601-66D81E28A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25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0878327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558A6-982B-A139-6657-0C1F470C4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66292303-0FA0-BEAE-D870-712A8860D58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F7C2AC50-1C3D-DED4-BDB5-70D80A146B3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A7EC802C-8462-599D-66F3-71270B12B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26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17999983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75735382-31C2-9DD2-F9A8-8E4B5BEFB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FCF49B21-3CAA-532F-8119-2B44EFBBD4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03EE8848-1FB9-1E72-60AD-27F7D4E5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27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Marcador de imagen de diapositiva 1">
            <a:extLst>
              <a:ext uri="{FF2B5EF4-FFF2-40B4-BE49-F238E27FC236}">
                <a16:creationId xmlns:a16="http://schemas.microsoft.com/office/drawing/2014/main" id="{A2CE3713-A875-469B-57B9-AA21DDD620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Marcador de notas 2">
            <a:extLst>
              <a:ext uri="{FF2B5EF4-FFF2-40B4-BE49-F238E27FC236}">
                <a16:creationId xmlns:a16="http://schemas.microsoft.com/office/drawing/2014/main" id="{6779C426-F62B-CEE4-B4CD-5EB6DC9178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1924" name="Marcador de número de diapositiva 3">
            <a:extLst>
              <a:ext uri="{FF2B5EF4-FFF2-40B4-BE49-F238E27FC236}">
                <a16:creationId xmlns:a16="http://schemas.microsoft.com/office/drawing/2014/main" id="{D17DC57D-A658-5870-3CF2-0B059AC378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F332526-BA39-4B6A-A349-7305929D3A9D}" type="slidenum">
              <a:rPr lang="es-ES_tradnl" altLang="es-MX" smtClean="0">
                <a:latin typeface="Calibri" panose="020F0502020204030204" pitchFamily="34" charset="0"/>
              </a:rPr>
              <a:pPr/>
              <a:t>29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147FE-2689-C7CC-0547-65A8A2D73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ADE1978E-4833-E847-1218-4439C670D0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11F63C61-0085-4C40-9F97-06D3FC0436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DF63A6FA-A466-251B-E113-1A7DC6705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30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8604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75735382-31C2-9DD2-F9A8-8E4B5BEFB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FCF49B21-3CAA-532F-8119-2B44EFBBD4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03EE8848-1FB9-1E72-60AD-27F7D4E5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31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75735382-31C2-9DD2-F9A8-8E4B5BEFB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FCF49B21-3CAA-532F-8119-2B44EFBBD4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03EE8848-1FB9-1E72-60AD-27F7D4E5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32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75735382-31C2-9DD2-F9A8-8E4B5BEFB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FCF49B21-3CAA-532F-8119-2B44EFBBD4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03EE8848-1FB9-1E72-60AD-27F7D4E5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33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75735382-31C2-9DD2-F9A8-8E4B5BEFB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FCF49B21-3CAA-532F-8119-2B44EFBBD4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03EE8848-1FB9-1E72-60AD-27F7D4E5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34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6.emf"/><Relationship Id="rId5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6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196486A-2A9A-A30F-E32A-91DADF0DC7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3628"/>
            <a:ext cx="14400213" cy="813231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22C9288-BF41-6184-07FF-C266B7A3EE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5236" y="475926"/>
            <a:ext cx="4976837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392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4485D9E-E32C-2657-B716-985DA71C04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4400214" cy="813593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2D3B326-2128-4695-E96A-ED43A6B9F2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034" t="2754" r="49925" b="3913"/>
          <a:stretch>
            <a:fillRect/>
          </a:stretch>
        </p:blipFill>
        <p:spPr>
          <a:xfrm>
            <a:off x="13492468" y="2789969"/>
            <a:ext cx="907745" cy="2556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4D5080E4-2446-4F62-85EC-73B64FCA928D}"/>
              </a:ext>
            </a:extLst>
          </p:cNvPr>
          <p:cNvSpPr/>
          <p:nvPr userDrawn="1"/>
        </p:nvSpPr>
        <p:spPr>
          <a:xfrm>
            <a:off x="0" y="0"/>
            <a:ext cx="2245360" cy="2789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94E2764-B28F-219E-B020-7C3AAADEA0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3421" t="5703" r="13149" b="5089"/>
          <a:stretch>
            <a:fillRect/>
          </a:stretch>
        </p:blipFill>
        <p:spPr>
          <a:xfrm>
            <a:off x="121920" y="420186"/>
            <a:ext cx="603146" cy="839759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74009F7A-C695-02D5-0274-66A44BC5324B}"/>
              </a:ext>
            </a:extLst>
          </p:cNvPr>
          <p:cNvSpPr/>
          <p:nvPr userDrawn="1"/>
        </p:nvSpPr>
        <p:spPr>
          <a:xfrm>
            <a:off x="9757093" y="7286529"/>
            <a:ext cx="4643120" cy="849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0D9EA11-2401-E79B-B149-F7F91C7AF13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2229" y="7692775"/>
            <a:ext cx="2971800" cy="42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626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4485D9E-E32C-2657-B716-985DA71C04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4400214" cy="813593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2D3B326-2128-4695-E96A-ED43A6B9F2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034" t="2754" r="49925" b="3913"/>
          <a:stretch>
            <a:fillRect/>
          </a:stretch>
        </p:blipFill>
        <p:spPr>
          <a:xfrm>
            <a:off x="13492468" y="2789969"/>
            <a:ext cx="907745" cy="2556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4D5080E4-2446-4F62-85EC-73B64FCA928D}"/>
              </a:ext>
            </a:extLst>
          </p:cNvPr>
          <p:cNvSpPr/>
          <p:nvPr userDrawn="1"/>
        </p:nvSpPr>
        <p:spPr>
          <a:xfrm>
            <a:off x="0" y="0"/>
            <a:ext cx="2245360" cy="2789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94E2764-B28F-219E-B020-7C3AAADEA0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3421" t="5703" r="13149" b="5089"/>
          <a:stretch>
            <a:fillRect/>
          </a:stretch>
        </p:blipFill>
        <p:spPr>
          <a:xfrm>
            <a:off x="121920" y="420186"/>
            <a:ext cx="603146" cy="839759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74009F7A-C695-02D5-0274-66A44BC5324B}"/>
              </a:ext>
            </a:extLst>
          </p:cNvPr>
          <p:cNvSpPr/>
          <p:nvPr userDrawn="1"/>
        </p:nvSpPr>
        <p:spPr>
          <a:xfrm>
            <a:off x="9757093" y="7286529"/>
            <a:ext cx="4643120" cy="849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4BD2ECE-E1E4-959E-B16E-8A4D23D7A77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9066" y="7682144"/>
            <a:ext cx="2488416" cy="36000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1CA7BAC6-1091-07BC-F9FA-FDE3A06E2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83" y="483964"/>
            <a:ext cx="12946447" cy="705626"/>
          </a:xfrm>
        </p:spPr>
        <p:txBody>
          <a:bodyPr/>
          <a:lstStyle>
            <a:lvl1pPr>
              <a:defRPr lang="es-MX" sz="4000" b="1" kern="1200" dirty="0">
                <a:solidFill>
                  <a:srgbClr val="770EB7"/>
                </a:solidFill>
                <a:latin typeface="Montserrat ExtraBold" pitchFamily="2" charset="77"/>
                <a:ea typeface="+mn-ea"/>
                <a:cs typeface="+mn-cs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4" name="CuadroTexto 28">
            <a:extLst>
              <a:ext uri="{FF2B5EF4-FFF2-40B4-BE49-F238E27FC236}">
                <a16:creationId xmlns:a16="http://schemas.microsoft.com/office/drawing/2014/main" id="{85516804-DF59-95E7-EF53-E90835424F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62786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20379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ico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4485D9E-E32C-2657-B716-985DA71C04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4400214" cy="813593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2D3B326-2128-4695-E96A-ED43A6B9F2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034" t="2754" r="49925" b="3913"/>
          <a:stretch>
            <a:fillRect/>
          </a:stretch>
        </p:blipFill>
        <p:spPr>
          <a:xfrm>
            <a:off x="13492468" y="2789969"/>
            <a:ext cx="907745" cy="2556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4D5080E4-2446-4F62-85EC-73B64FCA928D}"/>
              </a:ext>
            </a:extLst>
          </p:cNvPr>
          <p:cNvSpPr/>
          <p:nvPr userDrawn="1"/>
        </p:nvSpPr>
        <p:spPr>
          <a:xfrm>
            <a:off x="0" y="0"/>
            <a:ext cx="2245360" cy="2789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94E2764-B28F-219E-B020-7C3AAADEA0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3421" t="5703" r="13149" b="5089"/>
          <a:stretch>
            <a:fillRect/>
          </a:stretch>
        </p:blipFill>
        <p:spPr>
          <a:xfrm>
            <a:off x="121920" y="420186"/>
            <a:ext cx="603146" cy="839759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74009F7A-C695-02D5-0274-66A44BC5324B}"/>
              </a:ext>
            </a:extLst>
          </p:cNvPr>
          <p:cNvSpPr/>
          <p:nvPr userDrawn="1"/>
        </p:nvSpPr>
        <p:spPr>
          <a:xfrm>
            <a:off x="9757093" y="7286529"/>
            <a:ext cx="4643120" cy="849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4BD2ECE-E1E4-959E-B16E-8A4D23D7A77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9067" y="7834544"/>
            <a:ext cx="1741891" cy="25200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1CA7BAC6-1091-07BC-F9FA-FDE3A06E2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83" y="483964"/>
            <a:ext cx="12946447" cy="705626"/>
          </a:xfrm>
        </p:spPr>
        <p:txBody>
          <a:bodyPr/>
          <a:lstStyle>
            <a:lvl1pPr>
              <a:defRPr lang="es-MX" sz="4000" b="1" kern="1200" dirty="0">
                <a:solidFill>
                  <a:srgbClr val="770EB7"/>
                </a:solidFill>
                <a:latin typeface="Montserrat ExtraBold" pitchFamily="2" charset="77"/>
                <a:ea typeface="+mn-ea"/>
                <a:cs typeface="+mn-cs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43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4485D9E-E32C-2657-B716-985DA71C04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4400214" cy="8135938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4D5080E4-2446-4F62-85EC-73B64FCA928D}"/>
              </a:ext>
            </a:extLst>
          </p:cNvPr>
          <p:cNvSpPr/>
          <p:nvPr userDrawn="1"/>
        </p:nvSpPr>
        <p:spPr>
          <a:xfrm>
            <a:off x="0" y="0"/>
            <a:ext cx="2245360" cy="2789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94E2764-B28F-219E-B020-7C3AAADEA0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3421" t="5703" r="13149" b="5089"/>
          <a:stretch>
            <a:fillRect/>
          </a:stretch>
        </p:blipFill>
        <p:spPr>
          <a:xfrm>
            <a:off x="121920" y="420186"/>
            <a:ext cx="603146" cy="839759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74009F7A-C695-02D5-0274-66A44BC5324B}"/>
              </a:ext>
            </a:extLst>
          </p:cNvPr>
          <p:cNvSpPr/>
          <p:nvPr userDrawn="1"/>
        </p:nvSpPr>
        <p:spPr>
          <a:xfrm>
            <a:off x="9757093" y="7286529"/>
            <a:ext cx="4643120" cy="849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4BD2ECE-E1E4-959E-B16E-8A4D23D7A7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066" y="7682144"/>
            <a:ext cx="2488416" cy="36000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1CA7BAC6-1091-07BC-F9FA-FDE3A06E2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83" y="483964"/>
            <a:ext cx="12946447" cy="705626"/>
          </a:xfrm>
        </p:spPr>
        <p:txBody>
          <a:bodyPr/>
          <a:lstStyle>
            <a:lvl1pPr>
              <a:defRPr lang="es-MX" sz="4000" b="1" kern="1200" dirty="0">
                <a:solidFill>
                  <a:srgbClr val="770EB7"/>
                </a:solidFill>
                <a:latin typeface="Montserrat ExtraBold" pitchFamily="2" charset="77"/>
                <a:ea typeface="+mn-ea"/>
                <a:cs typeface="+mn-cs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55260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C9E19A1-F5CA-C453-A93F-CDC0F3868C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4400214" cy="8135938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2F6B327F-537C-8C28-A751-AEB443C8F100}"/>
              </a:ext>
            </a:extLst>
          </p:cNvPr>
          <p:cNvSpPr/>
          <p:nvPr userDrawn="1"/>
        </p:nvSpPr>
        <p:spPr>
          <a:xfrm>
            <a:off x="0" y="0"/>
            <a:ext cx="2245360" cy="2789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279AB5C-D3BA-5F9D-E89B-F793F16202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034" t="2754" r="49925" b="3913"/>
          <a:stretch>
            <a:fillRect/>
          </a:stretch>
        </p:blipFill>
        <p:spPr>
          <a:xfrm>
            <a:off x="13492468" y="2789969"/>
            <a:ext cx="907745" cy="255600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1754A5B8-155B-447F-D87A-22BF43B7D9D4}"/>
              </a:ext>
            </a:extLst>
          </p:cNvPr>
          <p:cNvSpPr/>
          <p:nvPr userDrawn="1"/>
        </p:nvSpPr>
        <p:spPr>
          <a:xfrm>
            <a:off x="9757093" y="7286529"/>
            <a:ext cx="4643120" cy="849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D015FCE-0F6D-EB95-EB49-F8D76F8FA5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066" y="7682144"/>
            <a:ext cx="2488416" cy="360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846E52C-6A2C-4252-AE6F-4AB64D9977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730958" y="110205"/>
            <a:ext cx="152246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631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2A9026C6-7518-DEEB-A659-A2B3CC07A9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4400214" cy="813593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16510C6-7B87-4375-F5DB-A01C9E24E3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88907" y="1721009"/>
            <a:ext cx="3345447" cy="19812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7A679B4-B7FC-A4FC-4A4D-529D28E1DDE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2" y="-1"/>
            <a:ext cx="7479690" cy="8136000"/>
          </a:xfrm>
          <a:prstGeom prst="rect">
            <a:avLst/>
          </a:prstGeom>
        </p:spPr>
      </p:pic>
      <p:pic>
        <p:nvPicPr>
          <p:cNvPr id="12" name="Imagen 4">
            <a:extLst>
              <a:ext uri="{FF2B5EF4-FFF2-40B4-BE49-F238E27FC236}">
                <a16:creationId xmlns:a16="http://schemas.microsoft.com/office/drawing/2014/main" id="{63C4BD49-F4A2-829C-4B71-210CF5824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81" y="4799489"/>
            <a:ext cx="2880562" cy="5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297626F9-F9D7-6962-02D4-B55119B78FE6}"/>
              </a:ext>
            </a:extLst>
          </p:cNvPr>
          <p:cNvSpPr/>
          <p:nvPr userDrawn="1"/>
        </p:nvSpPr>
        <p:spPr>
          <a:xfrm>
            <a:off x="11084560" y="7366000"/>
            <a:ext cx="2880562" cy="50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C70661B-CD21-ED69-5474-7DEE88066A3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714920" y="7712553"/>
            <a:ext cx="248841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32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433164"/>
            <a:ext cx="12420184" cy="15725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994435"/>
            <a:ext cx="6091965" cy="977442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971877"/>
            <a:ext cx="6091965" cy="43711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994435"/>
            <a:ext cx="6121966" cy="977442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971877"/>
            <a:ext cx="6121966" cy="43711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A8A5AC-6139-4D62-B5A1-85E84D575501}" type="datetimeFigureOut">
              <a:rPr lang="es-MX" smtClean="0"/>
              <a:pPr>
                <a:defRPr/>
              </a:pPr>
              <a:t>05/09/2026</a:t>
            </a:fld>
            <a:endParaRPr lang="es-MX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E03C3-6C3C-4D3C-AC4B-23F4B70D0D0D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1690958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B739A70-1F26-4B78-A89F-C36636659A49}" type="datetimeFigureOut">
              <a:rPr lang="es-MX" smtClean="0"/>
              <a:pPr>
                <a:defRPr/>
              </a:pPr>
              <a:t>05/09/2026</a:t>
            </a:fld>
            <a:endParaRPr lang="es-MX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8B1281-937C-413A-8170-78FEF3AFF222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213918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926597-1331-4D98-8211-1B7B7C16AC97}" type="datetimeFigureOut">
              <a:rPr lang="es-MX" smtClean="0"/>
              <a:pPr>
                <a:defRPr/>
              </a:pPr>
              <a:t>05/09/2026</a:t>
            </a:fld>
            <a:endParaRPr lang="es-MX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0CB68C-749F-4A68-AFF1-599AE5BB1EF3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1098162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42396"/>
            <a:ext cx="4644443" cy="1898386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171425"/>
            <a:ext cx="7290108" cy="5781789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440782"/>
            <a:ext cx="4644443" cy="452184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1D89C1-0185-4229-A1A0-AD5C80B726A5}" type="datetimeFigureOut">
              <a:rPr lang="es-MX" smtClean="0"/>
              <a:pPr>
                <a:defRPr/>
              </a:pPr>
              <a:t>05/09/2026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DE44DC-482F-4644-A497-2BEACB466690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2599831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42396"/>
            <a:ext cx="4644443" cy="1898386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171425"/>
            <a:ext cx="7290108" cy="5781789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440782"/>
            <a:ext cx="4644443" cy="452184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C2FB35-D6BB-46F8-A608-312AAC5D7D85}" type="datetimeFigureOut">
              <a:rPr lang="es-MX" smtClean="0"/>
              <a:pPr>
                <a:defRPr/>
              </a:pPr>
              <a:t>05/09/2026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8DB55B-74BB-48F3-AE0E-DBAAF6034F33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1232258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BBF1E1-4249-464E-B0F3-B8BDA30E01F1}" type="datetimeFigureOut">
              <a:rPr lang="es-MX" smtClean="0"/>
              <a:pPr>
                <a:defRPr/>
              </a:pPr>
              <a:t>05/09/2026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A05349-24CD-4AED-B975-19784134A7F8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3565397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433164"/>
            <a:ext cx="3105046" cy="689483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433164"/>
            <a:ext cx="9135135" cy="689483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6137D5-24EF-4907-8477-EDDEC69C65F5}" type="datetimeFigureOut">
              <a:rPr lang="es-MX" smtClean="0"/>
              <a:pPr>
                <a:defRPr/>
              </a:pPr>
              <a:t>05/09/2026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DAF7CD-EA8E-4286-8F56-E84D09A25CB2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835191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5895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ítulo y objetos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6747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433164"/>
            <a:ext cx="12420184" cy="1572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165817"/>
            <a:ext cx="12420184" cy="5162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7540810"/>
            <a:ext cx="3240048" cy="4331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CC202B9-5A11-4489-86BA-5F0A73450BA3}" type="datetimeFigureOut">
              <a:rPr lang="es-MX" smtClean="0"/>
              <a:pPr>
                <a:defRPr/>
              </a:pPr>
              <a:t>05/09/2026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7540810"/>
            <a:ext cx="4860072" cy="4331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7540810"/>
            <a:ext cx="3240048" cy="4331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4EEDF7F-DE2D-4AC2-8318-2614C81E9EBB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654000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709" r:id="rId3"/>
    <p:sldLayoutId id="2147483711" r:id="rId4"/>
    <p:sldLayoutId id="2147483710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3.emf"/><Relationship Id="rId5" Type="http://schemas.openxmlformats.org/officeDocument/2006/relationships/image" Target="../media/image14.png"/><Relationship Id="rId6" Type="http://schemas.openxmlformats.org/officeDocument/2006/relationships/oleObject" Target="../embeddings/oleObject2.bin"/><Relationship Id="rId7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6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3.emf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3.emf"/><Relationship Id="rId5" Type="http://schemas.openxmlformats.org/officeDocument/2006/relationships/image" Target="../media/image7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diagramData" Target="../diagrams/data2.xml"/><Relationship Id="rId9" Type="http://schemas.openxmlformats.org/officeDocument/2006/relationships/diagramLayout" Target="../diagrams/layout2.xml"/><Relationship Id="rId10" Type="http://schemas.openxmlformats.org/officeDocument/2006/relationships/diagramQuickStyle" Target="../diagrams/quickStyle2.xml"/><Relationship Id="rId11" Type="http://schemas.openxmlformats.org/officeDocument/2006/relationships/diagramColors" Target="../diagrams/colors2.xml"/><Relationship Id="rId12" Type="http://schemas.microsoft.com/office/2007/relationships/diagramDrawing" Target="../diagrams/drawing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slide" Target="slide6.xml"/><Relationship Id="rId6" Type="http://schemas.openxmlformats.org/officeDocument/2006/relationships/image" Target="../media/image18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3.emf"/><Relationship Id="rId5" Type="http://schemas.openxmlformats.org/officeDocument/2006/relationships/slide" Target="slide5.xml"/><Relationship Id="rId6" Type="http://schemas.openxmlformats.org/officeDocument/2006/relationships/image" Target="../media/image19.png"/><Relationship Id="rId7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3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3.emf"/><Relationship Id="rId5" Type="http://schemas.openxmlformats.org/officeDocument/2006/relationships/slide" Target="slide5.xml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3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3.emf"/><Relationship Id="rId5" Type="http://schemas.openxmlformats.org/officeDocument/2006/relationships/slide" Target="slide5.xml"/><Relationship Id="rId6" Type="http://schemas.openxmlformats.org/officeDocument/2006/relationships/image" Target="../media/image19.png"/><Relationship Id="rId7" Type="http://schemas.openxmlformats.org/officeDocument/2006/relationships/image" Target="../media/image2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3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3.emf"/><Relationship Id="rId5" Type="http://schemas.openxmlformats.org/officeDocument/2006/relationships/slide" Target="slide5.xml"/><Relationship Id="rId6" Type="http://schemas.openxmlformats.org/officeDocument/2006/relationships/image" Target="../media/image19.png"/><Relationship Id="rId7" Type="http://schemas.openxmlformats.org/officeDocument/2006/relationships/image" Target="../media/image2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Relationship Id="rId6" Type="http://schemas.openxmlformats.org/officeDocument/2006/relationships/chart" Target="../charts/chart8.xml"/><Relationship Id="rId7" Type="http://schemas.openxmlformats.org/officeDocument/2006/relationships/chart" Target="../charts/chart9.xml"/><Relationship Id="rId8" Type="http://schemas.openxmlformats.org/officeDocument/2006/relationships/chart" Target="../charts/chart10.xml"/><Relationship Id="rId9" Type="http://schemas.openxmlformats.org/officeDocument/2006/relationships/chart" Target="../charts/chart11.xml"/><Relationship Id="rId10" Type="http://schemas.openxmlformats.org/officeDocument/2006/relationships/slide" Target="slide5.xml"/><Relationship Id="rId11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slide" Target="slide14.xml"/><Relationship Id="rId4" Type="http://schemas.openxmlformats.org/officeDocument/2006/relationships/image" Target="../media/image23.jpeg"/><Relationship Id="rId5" Type="http://schemas.openxmlformats.org/officeDocument/2006/relationships/slide" Target="slide26.xml"/><Relationship Id="rId6" Type="http://schemas.openxmlformats.org/officeDocument/2006/relationships/slide" Target="slide4.xml"/><Relationship Id="rId7" Type="http://schemas.openxmlformats.org/officeDocument/2006/relationships/image" Target="../media/image24.emf"/><Relationship Id="rId8" Type="http://schemas.openxmlformats.org/officeDocument/2006/relationships/chart" Target="../charts/chart12.xml"/><Relationship Id="rId9" Type="http://schemas.openxmlformats.org/officeDocument/2006/relationships/chart" Target="../charts/char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slide" Target="slide15.xml"/><Relationship Id="rId6" Type="http://schemas.openxmlformats.org/officeDocument/2006/relationships/image" Target="../media/image23.jpeg"/><Relationship Id="rId7" Type="http://schemas.openxmlformats.org/officeDocument/2006/relationships/slide" Target="slide20.xml"/><Relationship Id="rId8" Type="http://schemas.openxmlformats.org/officeDocument/2006/relationships/chart" Target="../charts/chart14.xml"/><Relationship Id="rId9" Type="http://schemas.openxmlformats.org/officeDocument/2006/relationships/chart" Target="../charts/char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slide" Target="slide16.xml"/><Relationship Id="rId4" Type="http://schemas.openxmlformats.org/officeDocument/2006/relationships/image" Target="../media/image23.jpeg"/><Relationship Id="rId5" Type="http://schemas.openxmlformats.org/officeDocument/2006/relationships/slide" Target="slide19.xml"/><Relationship Id="rId6" Type="http://schemas.openxmlformats.org/officeDocument/2006/relationships/slide" Target="slide18.xml"/><Relationship Id="rId7" Type="http://schemas.openxmlformats.org/officeDocument/2006/relationships/slide" Target="slide13.xml"/><Relationship Id="rId8" Type="http://schemas.openxmlformats.org/officeDocument/2006/relationships/image" Target="../media/image24.emf"/><Relationship Id="rId9" Type="http://schemas.openxmlformats.org/officeDocument/2006/relationships/chart" Target="../charts/chart16.xml"/><Relationship Id="rId10" Type="http://schemas.openxmlformats.org/officeDocument/2006/relationships/chart" Target="../charts/chart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slide" Target="slide17.xml"/><Relationship Id="rId4" Type="http://schemas.openxmlformats.org/officeDocument/2006/relationships/image" Target="../media/image23.jpeg"/><Relationship Id="rId5" Type="http://schemas.openxmlformats.org/officeDocument/2006/relationships/slide" Target="slide13.xml"/><Relationship Id="rId6" Type="http://schemas.openxmlformats.org/officeDocument/2006/relationships/image" Target="../media/image24.emf"/><Relationship Id="rId7" Type="http://schemas.openxmlformats.org/officeDocument/2006/relationships/chart" Target="../charts/chart18.xml"/><Relationship Id="rId8" Type="http://schemas.openxmlformats.org/officeDocument/2006/relationships/chart" Target="../charts/chart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20.xml"/><Relationship Id="rId6" Type="http://schemas.openxmlformats.org/officeDocument/2006/relationships/chart" Target="../charts/chart2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22.xml"/><Relationship Id="rId6" Type="http://schemas.openxmlformats.org/officeDocument/2006/relationships/chart" Target="../charts/chart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24.xml"/><Relationship Id="rId6" Type="http://schemas.openxmlformats.org/officeDocument/2006/relationships/chart" Target="../charts/chart2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slide" Target="slide21.xml"/><Relationship Id="rId4" Type="http://schemas.openxmlformats.org/officeDocument/2006/relationships/image" Target="../media/image23.jpeg"/><Relationship Id="rId5" Type="http://schemas.openxmlformats.org/officeDocument/2006/relationships/slide" Target="slide25.xml"/><Relationship Id="rId6" Type="http://schemas.openxmlformats.org/officeDocument/2006/relationships/slide" Target="slide13.xml"/><Relationship Id="rId7" Type="http://schemas.openxmlformats.org/officeDocument/2006/relationships/image" Target="../media/image24.emf"/><Relationship Id="rId8" Type="http://schemas.openxmlformats.org/officeDocument/2006/relationships/chart" Target="../charts/chart26.xml"/><Relationship Id="rId9" Type="http://schemas.openxmlformats.org/officeDocument/2006/relationships/chart" Target="../charts/chart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slide" Target="slide24.xml"/><Relationship Id="rId4" Type="http://schemas.openxmlformats.org/officeDocument/2006/relationships/image" Target="../media/image23.jpeg"/><Relationship Id="rId5" Type="http://schemas.openxmlformats.org/officeDocument/2006/relationships/slide" Target="slide23.xml"/><Relationship Id="rId6" Type="http://schemas.openxmlformats.org/officeDocument/2006/relationships/slide" Target="slide22.xml"/><Relationship Id="rId7" Type="http://schemas.openxmlformats.org/officeDocument/2006/relationships/slide" Target="slide13.xml"/><Relationship Id="rId8" Type="http://schemas.openxmlformats.org/officeDocument/2006/relationships/image" Target="../media/image24.emf"/><Relationship Id="rId9" Type="http://schemas.openxmlformats.org/officeDocument/2006/relationships/chart" Target="../charts/chart28.xml"/><Relationship Id="rId10" Type="http://schemas.openxmlformats.org/officeDocument/2006/relationships/chart" Target="../charts/chart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30.xml"/><Relationship Id="rId6" Type="http://schemas.openxmlformats.org/officeDocument/2006/relationships/chart" Target="../charts/chart3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32.xml"/><Relationship Id="rId6" Type="http://schemas.openxmlformats.org/officeDocument/2006/relationships/chart" Target="../charts/chart3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34.xml"/><Relationship Id="rId6" Type="http://schemas.openxmlformats.org/officeDocument/2006/relationships/chart" Target="../charts/chart3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36.xml"/><Relationship Id="rId6" Type="http://schemas.openxmlformats.org/officeDocument/2006/relationships/chart" Target="../charts/chart3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38.xml"/><Relationship Id="rId6" Type="http://schemas.openxmlformats.org/officeDocument/2006/relationships/chart" Target="../charts/chart3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40.xml"/><Relationship Id="rId6" Type="http://schemas.openxmlformats.org/officeDocument/2006/relationships/chart" Target="../charts/chart4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13.xml"/><Relationship Id="rId3" Type="http://schemas.openxmlformats.org/officeDocument/2006/relationships/image" Target="../media/image24.emf"/><Relationship Id="rId4" Type="http://schemas.openxmlformats.org/officeDocument/2006/relationships/chart" Target="../charts/chart42.xml"/><Relationship Id="rId5" Type="http://schemas.openxmlformats.org/officeDocument/2006/relationships/chart" Target="../charts/chart4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44.xml"/><Relationship Id="rId6" Type="http://schemas.openxmlformats.org/officeDocument/2006/relationships/chart" Target="../charts/chart4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46.xml"/><Relationship Id="rId6" Type="http://schemas.openxmlformats.org/officeDocument/2006/relationships/chart" Target="../charts/chart4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48.xml"/><Relationship Id="rId6" Type="http://schemas.openxmlformats.org/officeDocument/2006/relationships/chart" Target="../charts/chart4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50.xml"/><Relationship Id="rId6" Type="http://schemas.openxmlformats.org/officeDocument/2006/relationships/chart" Target="../charts/chart5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52.xml"/><Relationship Id="rId6" Type="http://schemas.openxmlformats.org/officeDocument/2006/relationships/chart" Target="../charts/chart5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54.xml"/><Relationship Id="rId6" Type="http://schemas.openxmlformats.org/officeDocument/2006/relationships/chart" Target="../charts/char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9C46CF0-2E3B-E04A-95FF-066BA193F68D}"/>
              </a:ext>
            </a:extLst>
          </p:cNvPr>
          <p:cNvSpPr txBox="1"/>
          <p:nvPr/>
        </p:nvSpPr>
        <p:spPr>
          <a:xfrm>
            <a:off x="726540" y="3353295"/>
            <a:ext cx="5542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Montserrat ExtraBold" pitchFamily="2" charset="77"/>
              </a:rPr>
              <a:t>IPN RESULTADOS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2F65870-DB54-867A-D023-B07C2AFAD4E8}"/>
              </a:ext>
            </a:extLst>
          </p:cNvPr>
          <p:cNvSpPr txBox="1"/>
          <p:nvPr/>
        </p:nvSpPr>
        <p:spPr>
          <a:xfrm>
            <a:off x="726540" y="4075371"/>
            <a:ext cx="55421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b="1" dirty="0">
                <a:ln>
                  <a:solidFill>
                    <a:schemeClr val="bg1"/>
                  </a:solidFill>
                </a:ln>
                <a:noFill/>
                <a:latin typeface="Montserrat ExtraBold" pitchFamily="2" charset="77"/>
              </a:rPr>
              <a:t>GRUPO SALINAS</a:t>
            </a:r>
            <a:br>
              <a:rPr lang="es-MX" sz="4000" b="1" dirty="0">
                <a:ln>
                  <a:solidFill>
                    <a:schemeClr val="bg1"/>
                  </a:solidFill>
                </a:ln>
                <a:noFill/>
                <a:latin typeface="Montserrat ExtraBold" pitchFamily="2" charset="77"/>
              </a:rPr>
            </a:br>
            <a:r>
              <a:rPr lang="es-MX" sz="4000" b="1" dirty="0">
                <a:ln>
                  <a:solidFill>
                    <a:schemeClr val="bg1"/>
                  </a:solidFill>
                </a:ln>
                <a:noFill/>
                <a:latin typeface="Montserrat ExtraBold" pitchFamily="2" charset="77"/>
              </a:rPr>
              <a:t>1Q 2026</a:t>
            </a:r>
          </a:p>
        </p:txBody>
      </p:sp>
    </p:spTree>
    <p:extLst>
      <p:ext uri="{BB962C8B-B14F-4D97-AF65-F5344CB8AC3E}">
        <p14:creationId xmlns:p14="http://schemas.microsoft.com/office/powerpoint/2010/main" val="1530784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480678E-0E2D-4FA8-9CB6-744AAD12D8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05694" y="640557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480678E-0E2D-4FA8-9CB6-744AAD12D8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5694" y="640557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ítulo 3">
            <a:extLst>
              <a:ext uri="{FF2B5EF4-FFF2-40B4-BE49-F238E27FC236}">
                <a16:creationId xmlns:a16="http://schemas.microsoft.com/office/drawing/2014/main" id="{2F0E7D3A-48E7-43D9-6C8C-FABFC724B82F}"/>
              </a:ext>
            </a:extLst>
          </p:cNvPr>
          <p:cNvSpPr txBox="1">
            <a:spLocks/>
          </p:cNvSpPr>
          <p:nvPr/>
        </p:nvSpPr>
        <p:spPr>
          <a:xfrm>
            <a:off x="732750" y="486570"/>
            <a:ext cx="6399570" cy="690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1" tIns="25401" rIns="25401" bIns="25401" anchor="ctr">
            <a:noAutofit/>
          </a:bodyPr>
          <a:lstStyle>
            <a:defPPr>
              <a:defRPr lang="es-MX"/>
            </a:defPPr>
            <a:lvl1pPr marR="0" indent="0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 i="0" u="none" strike="noStrike" cap="none" spc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Helvetica Neue Medium"/>
                <a:ea typeface="Helvetica Neue Medium"/>
                <a:cs typeface="Helvetica "/>
              </a:defRPr>
            </a:lvl1pPr>
            <a:lvl2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2pPr>
            <a:lvl3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3pPr>
            <a:lvl4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4pPr>
            <a:lvl5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5pPr>
            <a:lvl6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6pPr>
            <a:lvl7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7pPr>
            <a:lvl8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8pPr>
            <a:lvl9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9pPr>
          </a:lstStyle>
          <a:p>
            <a:r>
              <a:rPr lang="es-MX" sz="4800" dirty="0">
                <a:solidFill>
                  <a:srgbClr val="770EB7"/>
                </a:solidFill>
                <a:latin typeface="Montserrat ExtraBold" pitchFamily="2" charset="77"/>
                <a:ea typeface="+mn-ea"/>
                <a:cs typeface="+mn-cs"/>
              </a:rPr>
              <a:t>Metodología</a:t>
            </a:r>
          </a:p>
        </p:txBody>
      </p:sp>
      <p:pic>
        <p:nvPicPr>
          <p:cNvPr id="15" name="Imagen 21">
            <a:extLst>
              <a:ext uri="{FF2B5EF4-FFF2-40B4-BE49-F238E27FC236}">
                <a16:creationId xmlns:a16="http://schemas.microsoft.com/office/drawing/2014/main" id="{6AC57A5C-BFC7-96F5-F021-519B3EE31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39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Imagen 21">
            <a:extLst>
              <a:ext uri="{FF2B5EF4-FFF2-40B4-BE49-F238E27FC236}">
                <a16:creationId xmlns:a16="http://schemas.microsoft.com/office/drawing/2014/main" id="{3F1A12F0-3E3E-D650-CC80-E60CF0826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830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3F9F6DC5-A928-5EBD-4737-ABB2B4789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235402"/>
              </p:ext>
            </p:extLst>
          </p:nvPr>
        </p:nvGraphicFramePr>
        <p:xfrm>
          <a:off x="7913956" y="1615338"/>
          <a:ext cx="5766846" cy="3546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6846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¿Cómo lo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sz="16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UNIVERSO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Colaboradores de Grupo Salinas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MX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TÉCNICA DE LEVANTAMIENTO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Encuesta online en Zeus con una duración promedio de 5 minutos.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ESTRUCTURA DE LA MUESTRA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marL="285750" lvl="1" indent="-285750" defTabSz="228588">
                        <a:buFont typeface="Arial" panose="020B0604020202020204" pitchFamily="34" charset="0"/>
                        <a:buChar char="•"/>
                        <a:tabLst>
                          <a:tab pos="92069" algn="l"/>
                        </a:tabLst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76,679 respondieron la encuesta (89.9% de participación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945E2F98-0177-A2B1-4C2D-8C22A2AC5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4771"/>
              </p:ext>
            </p:extLst>
          </p:nvPr>
        </p:nvGraphicFramePr>
        <p:xfrm>
          <a:off x="713904" y="1615338"/>
          <a:ext cx="5770024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024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¿Qué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IPN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Pensando en tu experiencia general como colaborador de esta empresa y considerando una escala de 0 a 10, donde 0 es “definitivamente no recomendaría” y 10 es “recomendaría ampliamente”, ¿Qué tan dispuesto estarías en recomendar a la empresa / área donde laboras?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grpSp>
        <p:nvGrpSpPr>
          <p:cNvPr id="21" name="Grupo 20">
            <a:extLst>
              <a:ext uri="{FF2B5EF4-FFF2-40B4-BE49-F238E27FC236}">
                <a16:creationId xmlns:a16="http://schemas.microsoft.com/office/drawing/2014/main" id="{2300061C-F8EB-DFBD-1FEB-C78C909C8BC6}"/>
              </a:ext>
            </a:extLst>
          </p:cNvPr>
          <p:cNvGrpSpPr/>
          <p:nvPr/>
        </p:nvGrpSpPr>
        <p:grpSpPr>
          <a:xfrm>
            <a:off x="790916" y="4159462"/>
            <a:ext cx="5616000" cy="993259"/>
            <a:chOff x="717434" y="3608739"/>
            <a:chExt cx="5616000" cy="993259"/>
          </a:xfrm>
        </p:grpSpPr>
        <p:sp>
          <p:nvSpPr>
            <p:cNvPr id="22" name="CuadroTexto 20">
              <a:extLst>
                <a:ext uri="{FF2B5EF4-FFF2-40B4-BE49-F238E27FC236}">
                  <a16:creationId xmlns:a16="http://schemas.microsoft.com/office/drawing/2014/main" id="{9103CF10-0D8D-0780-C2AB-426EB966D9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656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0-6</a:t>
              </a:r>
            </a:p>
          </p:txBody>
        </p:sp>
        <p:sp>
          <p:nvSpPr>
            <p:cNvPr id="23" name="Rectángulo 6">
              <a:extLst>
                <a:ext uri="{FF2B5EF4-FFF2-40B4-BE49-F238E27FC236}">
                  <a16:creationId xmlns:a16="http://schemas.microsoft.com/office/drawing/2014/main" id="{BE4AA6EB-C8C8-E36D-1486-D88F1B35E1A9}"/>
                </a:ext>
              </a:extLst>
            </p:cNvPr>
            <p:cNvSpPr/>
            <p:nvPr/>
          </p:nvSpPr>
          <p:spPr bwMode="auto">
            <a:xfrm>
              <a:off x="2078564" y="4398096"/>
              <a:ext cx="2893741" cy="203902"/>
            </a:xfrm>
            <a:prstGeom prst="rect">
              <a:avLst/>
            </a:prstGeom>
          </p:spPr>
          <p:txBody>
            <a:bodyPr wrap="none" lIns="34290" tIns="17145" rIns="34290" bIns="17145">
              <a:spAutoFit/>
            </a:bodyPr>
            <a:lstStyle/>
            <a:p>
              <a:pPr algn="ctr" defTabSz="457177">
                <a:defRPr/>
              </a:pPr>
              <a:r>
                <a:rPr lang="es-ES_tradnl" sz="1100" b="1" kern="0" dirty="0">
                  <a:solidFill>
                    <a:prstClr val="black"/>
                  </a:solidFill>
                  <a:latin typeface="Montserrat" panose="00000500000000000000" pitchFamily="2" charset="0"/>
                  <a:cs typeface="Kanit" pitchFamily="2" charset="-34"/>
                </a:rPr>
                <a:t> %IPN =  %Promotores – %Detractores </a:t>
              </a:r>
            </a:p>
          </p:txBody>
        </p:sp>
        <p:graphicFrame>
          <p:nvGraphicFramePr>
            <p:cNvPr id="24" name="Object 16">
              <a:extLst>
                <a:ext uri="{FF2B5EF4-FFF2-40B4-BE49-F238E27FC236}">
                  <a16:creationId xmlns:a16="http://schemas.microsoft.com/office/drawing/2014/main" id="{DA9F1B50-C01B-FC03-5D1A-1C4147C9739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686346168"/>
                </p:ext>
              </p:extLst>
            </p:nvPr>
          </p:nvGraphicFramePr>
          <p:xfrm>
            <a:off x="717434" y="3904463"/>
            <a:ext cx="5616000" cy="697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4194412" imgH="701101" progId="">
                    <p:embed/>
                  </p:oleObj>
                </mc:Choice>
                <mc:Fallback>
                  <p:oleObj r:id="rId6" imgW="4194412" imgH="701101" progId="">
                    <p:embed/>
                    <p:pic>
                      <p:nvPicPr>
                        <p:cNvPr id="49" name="Object 16">
                          <a:extLst>
                            <a:ext uri="{FF2B5EF4-FFF2-40B4-BE49-F238E27FC236}">
                              <a16:creationId xmlns:a16="http://schemas.microsoft.com/office/drawing/2014/main" id="{E3AA6CBA-8051-960A-024F-BA6A531C71B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434" y="3904463"/>
                          <a:ext cx="5616000" cy="697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CuadroTexto 20">
              <a:extLst>
                <a:ext uri="{FF2B5EF4-FFF2-40B4-BE49-F238E27FC236}">
                  <a16:creationId xmlns:a16="http://schemas.microsoft.com/office/drawing/2014/main" id="{04A834EF-D63B-B000-6D94-BF88AC3C48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404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7-8</a:t>
              </a:r>
            </a:p>
          </p:txBody>
        </p:sp>
        <p:sp>
          <p:nvSpPr>
            <p:cNvPr id="26" name="CuadroTexto 20">
              <a:extLst>
                <a:ext uri="{FF2B5EF4-FFF2-40B4-BE49-F238E27FC236}">
                  <a16:creationId xmlns:a16="http://schemas.microsoft.com/office/drawing/2014/main" id="{D6616391-1032-53AA-0B2F-27F2CB85B1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1141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9-10</a:t>
              </a:r>
            </a:p>
          </p:txBody>
        </p:sp>
      </p:grpSp>
      <p:graphicFrame>
        <p:nvGraphicFramePr>
          <p:cNvPr id="27" name="Tabla 26">
            <a:extLst>
              <a:ext uri="{FF2B5EF4-FFF2-40B4-BE49-F238E27FC236}">
                <a16:creationId xmlns:a16="http://schemas.microsoft.com/office/drawing/2014/main" id="{CE98303A-3753-6431-38B0-26ACAD26B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097868"/>
              </p:ext>
            </p:extLst>
          </p:nvPr>
        </p:nvGraphicFramePr>
        <p:xfrm>
          <a:off x="713128" y="5758331"/>
          <a:ext cx="577080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800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Levantamiento: Del 6 al 19 de Abril</a:t>
                      </a: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Para el análisis de los resultados se consideró la estructura de Talento GS semana 14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sp>
        <p:nvSpPr>
          <p:cNvPr id="28" name="CuadroTexto 28">
            <a:extLst>
              <a:ext uri="{FF2B5EF4-FFF2-40B4-BE49-F238E27FC236}">
                <a16:creationId xmlns:a16="http://schemas.microsoft.com/office/drawing/2014/main" id="{233135E6-4E68-194F-4B13-32ECA94E3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76196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abla_pct_00">
            <a:extLst>
              <a:ext uri="{FF2B5EF4-FFF2-40B4-BE49-F238E27FC236}">
                <a16:creationId xmlns:a16="http://schemas.microsoft.com/office/drawing/2014/main" id="{9791025D-54BD-A1C5-9476-59EF50D8F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792227"/>
              </p:ext>
            </p:extLst>
          </p:nvPr>
        </p:nvGraphicFramePr>
        <p:xfrm>
          <a:off x="5676524" y="1610140"/>
          <a:ext cx="3048753" cy="7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753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</a:tblGrid>
              <a:tr h="35100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prstClr val="black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Participación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Montserrat"/>
                        </a:rPr>
                        <a:t>IPN – 76,678 – 89.8%</a:t>
                      </a:r>
                      <a:endParaRPr lang="es-MX" sz="1400" b="0" kern="1200" dirty="0">
                        <a:solidFill>
                          <a:prstClr val="black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735129"/>
                  </a:ext>
                </a:extLst>
              </a:tr>
            </a:tbl>
          </a:graphicData>
        </a:graphic>
      </p:graphicFrame>
      <p:graphicFrame>
        <p:nvGraphicFramePr>
          <p:cNvPr id="17" name="Tabla_pct_05">
            <a:extLst>
              <a:ext uri="{FF2B5EF4-FFF2-40B4-BE49-F238E27FC236}">
                <a16:creationId xmlns:a16="http://schemas.microsoft.com/office/drawing/2014/main" id="{2D7471B9-9697-1CD5-5022-003CB56B9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648782"/>
              </p:ext>
            </p:extLst>
          </p:nvPr>
        </p:nvGraphicFramePr>
        <p:xfrm>
          <a:off x="12579399" y="3828622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latin typeface="Montserrat"/>
                        </a:rPr>
                        <a:t>2,651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Montserrat"/>
                        </a:rPr>
                        <a:t>70.1%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12" name="Tabla_pct_04">
            <a:extLst>
              <a:ext uri="{FF2B5EF4-FFF2-40B4-BE49-F238E27FC236}">
                <a16:creationId xmlns:a16="http://schemas.microsoft.com/office/drawing/2014/main" id="{61D991FC-F9F8-A795-FCF3-FC1553967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848376"/>
              </p:ext>
            </p:extLst>
          </p:nvPr>
        </p:nvGraphicFramePr>
        <p:xfrm>
          <a:off x="9839274" y="3828622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latin typeface="Montserrat"/>
                        </a:rPr>
                        <a:t>762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Montserrat"/>
                        </a:rPr>
                        <a:t>80.3%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11" name="Tabla_pct_03">
            <a:extLst>
              <a:ext uri="{FF2B5EF4-FFF2-40B4-BE49-F238E27FC236}">
                <a16:creationId xmlns:a16="http://schemas.microsoft.com/office/drawing/2014/main" id="{6AFE7B5F-8250-D4F3-A245-5E1C7536E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069898"/>
              </p:ext>
            </p:extLst>
          </p:nvPr>
        </p:nvGraphicFramePr>
        <p:xfrm>
          <a:off x="7185857" y="3828622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latin typeface="Montserrat"/>
                        </a:rPr>
                        <a:t>4,385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Montserrat"/>
                        </a:rPr>
                        <a:t>92.1%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10" name="Tabla_pct_02">
            <a:extLst>
              <a:ext uri="{FF2B5EF4-FFF2-40B4-BE49-F238E27FC236}">
                <a16:creationId xmlns:a16="http://schemas.microsoft.com/office/drawing/2014/main" id="{B2DAE397-0799-8DF2-CD47-3571BA1F2E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343327"/>
              </p:ext>
            </p:extLst>
          </p:nvPr>
        </p:nvGraphicFramePr>
        <p:xfrm>
          <a:off x="4449749" y="3828622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latin typeface="Montserrat"/>
                        </a:rPr>
                        <a:t>7,073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Montserrat"/>
                        </a:rPr>
                        <a:t>86.4%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7" name="Tabla_pct_01">
            <a:extLst>
              <a:ext uri="{FF2B5EF4-FFF2-40B4-BE49-F238E27FC236}">
                <a16:creationId xmlns:a16="http://schemas.microsoft.com/office/drawing/2014/main" id="{5D3FC8DD-7EEE-7B74-95C5-DA02815AF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031230"/>
              </p:ext>
            </p:extLst>
          </p:nvPr>
        </p:nvGraphicFramePr>
        <p:xfrm>
          <a:off x="1760183" y="3828622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latin typeface="Montserrat"/>
                        </a:rPr>
                        <a:t>60,538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Montserrat"/>
                        </a:rPr>
                        <a:t>92.8%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42" name="Tabla_05">
            <a:extLst>
              <a:ext uri="{FF2B5EF4-FFF2-40B4-BE49-F238E27FC236}">
                <a16:creationId xmlns:a16="http://schemas.microsoft.com/office/drawing/2014/main" id="{DDA74D21-5B46-A527-02E1-EC92D455E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067528"/>
              </p:ext>
            </p:extLst>
          </p:nvPr>
        </p:nvGraphicFramePr>
        <p:xfrm>
          <a:off x="11481578" y="4070318"/>
          <a:ext cx="2220926" cy="1090285"/>
        </p:xfrm>
        <a:graphic>
          <a:graphicData uri="http://schemas.openxmlformats.org/drawingml/2006/table">
            <a:tbl>
              <a:tblPr/>
              <a:tblGrid>
                <a:gridCol w="1361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60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43" marR="13043" marT="1303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43" marR="13043" marT="1303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561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Tv Azteca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2,608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70.4%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511615"/>
                  </a:ext>
                </a:extLst>
              </a:tr>
              <a:tr h="251561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Typhoon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36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59.0%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408157"/>
                  </a:ext>
                </a:extLst>
              </a:tr>
              <a:tr h="251561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Gaming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7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36.8%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198338"/>
                  </a:ext>
                </a:extLst>
              </a:tr>
            </a:tbl>
          </a:graphicData>
        </a:graphic>
      </p:graphicFrame>
      <p:graphicFrame>
        <p:nvGraphicFramePr>
          <p:cNvPr id="37" name="Tabla_04">
            <a:extLst>
              <a:ext uri="{FF2B5EF4-FFF2-40B4-BE49-F238E27FC236}">
                <a16:creationId xmlns:a16="http://schemas.microsoft.com/office/drawing/2014/main" id="{5F936677-03F7-D01F-809A-2CA8BC6C30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517535"/>
              </p:ext>
            </p:extLst>
          </p:nvPr>
        </p:nvGraphicFramePr>
        <p:xfrm>
          <a:off x="8793353" y="4070318"/>
          <a:ext cx="2194107" cy="1092630"/>
        </p:xfrm>
        <a:graphic>
          <a:graphicData uri="http://schemas.openxmlformats.org/drawingml/2006/table">
            <a:tbl>
              <a:tblPr/>
              <a:tblGrid>
                <a:gridCol w="1402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43" marR="13043" marT="1303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43" marR="13043" marT="1303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58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Upax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713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90.0%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58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Total Protect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48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31.6%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69062"/>
                  </a:ext>
                </a:extLst>
              </a:tr>
              <a:tr h="27858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Inversiones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20.0%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294510"/>
                  </a:ext>
                </a:extLst>
              </a:tr>
            </a:tbl>
          </a:graphicData>
        </a:graphic>
      </p:graphicFrame>
      <p:graphicFrame>
        <p:nvGraphicFramePr>
          <p:cNvPr id="62" name="Tabla_03">
            <a:extLst>
              <a:ext uri="{FF2B5EF4-FFF2-40B4-BE49-F238E27FC236}">
                <a16:creationId xmlns:a16="http://schemas.microsoft.com/office/drawing/2014/main" id="{DA9556D9-EF71-2D87-4C0F-0B792C5D4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248171"/>
              </p:ext>
            </p:extLst>
          </p:nvPr>
        </p:nvGraphicFramePr>
        <p:xfrm>
          <a:off x="6090356" y="4070318"/>
          <a:ext cx="2211398" cy="3835661"/>
        </p:xfrm>
        <a:graphic>
          <a:graphicData uri="http://schemas.openxmlformats.org/drawingml/2006/table">
            <a:tbl>
              <a:tblPr/>
              <a:tblGrid>
                <a:gridCol w="1436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88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33" marR="13033" marT="13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33" marR="13033" marT="13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Residencial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1,833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93.5%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Operaciones 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838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90.4%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865526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Empresarial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408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88.1%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259095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Red Central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341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91.7%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Totalplay Sector Gobierno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292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87.4%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Administracion Y Finanzas Totalplay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194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95.1%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Sistemas Totalplay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176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97.8%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439121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Totalplay Go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67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93.1%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Seguridad De La Información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53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96.4%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Capital Humano Total Play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53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100.0%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Medios Y Nuevos Negocios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46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100.0%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Producto Iptv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40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83.3%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Mercadotecnia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26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96.3%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Jurídico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17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94.4%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Sin Etiqueta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25.0%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4" name="Tabla_02">
            <a:extLst>
              <a:ext uri="{FF2B5EF4-FFF2-40B4-BE49-F238E27FC236}">
                <a16:creationId xmlns:a16="http://schemas.microsoft.com/office/drawing/2014/main" id="{811EC3A1-7886-E57F-91D8-AC2E41278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963441"/>
              </p:ext>
            </p:extLst>
          </p:nvPr>
        </p:nvGraphicFramePr>
        <p:xfrm>
          <a:off x="3412753" y="4070318"/>
          <a:ext cx="2198784" cy="1543185"/>
        </p:xfrm>
        <a:graphic>
          <a:graphicData uri="http://schemas.openxmlformats.org/drawingml/2006/table">
            <a:tbl>
              <a:tblPr/>
              <a:tblGrid>
                <a:gridCol w="1405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7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33" marR="13033" marT="130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33" marR="13033" marT="130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701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Sistemas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4,192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84.3%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Administración, Finanzas Y Control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1,121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84.7%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413627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Capital Humano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867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91.0%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16231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Auditoría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738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98.1%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997612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Bienestar, Comunicación E Integración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155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85.6%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621522"/>
                  </a:ext>
                </a:extLst>
              </a:tr>
            </a:tbl>
          </a:graphicData>
        </a:graphic>
      </p:graphicFrame>
      <p:graphicFrame>
        <p:nvGraphicFramePr>
          <p:cNvPr id="44" name="Tabla_01">
            <a:extLst>
              <a:ext uri="{FF2B5EF4-FFF2-40B4-BE49-F238E27FC236}">
                <a16:creationId xmlns:a16="http://schemas.microsoft.com/office/drawing/2014/main" id="{5CCCC44A-6E42-9F40-6FCC-56B1369A0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983199"/>
              </p:ext>
            </p:extLst>
          </p:nvPr>
        </p:nvGraphicFramePr>
        <p:xfrm>
          <a:off x="697708" y="4070318"/>
          <a:ext cx="2220925" cy="832411"/>
        </p:xfrm>
        <a:graphic>
          <a:graphicData uri="http://schemas.openxmlformats.org/drawingml/2006/table">
            <a:tbl>
              <a:tblPr/>
              <a:tblGrid>
                <a:gridCol w="1434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17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44" marR="13044" marT="130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44" marR="13044" marT="130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521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México</a:t>
                      </a:r>
                    </a:p>
                  </a:txBody>
                  <a:tcPr marL="7398" marR="7398" marT="73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54,889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93.0%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701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Comité De Supervisión Países</a:t>
                      </a:r>
                    </a:p>
                  </a:txBody>
                  <a:tcPr marL="7398" marR="7398" marT="739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5,649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90.8%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489351"/>
                  </a:ext>
                </a:extLst>
              </a:tr>
            </a:tbl>
          </a:graphicData>
        </a:graphic>
      </p:graphicFrame>
      <p:graphicFrame>
        <p:nvGraphicFramePr>
          <p:cNvPr id="19" name="Diagrama 18">
            <a:extLst>
              <a:ext uri="{FF2B5EF4-FFF2-40B4-BE49-F238E27FC236}">
                <a16:creationId xmlns:a16="http://schemas.microsoft.com/office/drawing/2014/main" id="{76190E8E-6B50-06A7-7982-D420C8BC5F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8106828"/>
              </p:ext>
            </p:extLst>
          </p:nvPr>
        </p:nvGraphicFramePr>
        <p:xfrm>
          <a:off x="697709" y="1608457"/>
          <a:ext cx="13004794" cy="17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480678E-0E2D-4FA8-9CB6-744AAD12D8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2578621"/>
              </p:ext>
            </p:extLst>
          </p:nvPr>
        </p:nvGraphicFramePr>
        <p:xfrm>
          <a:off x="1283784" y="740713"/>
          <a:ext cx="1541" cy="1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3" progId="TCLayout.ActiveDocument.1">
                  <p:embed/>
                </p:oleObj>
              </mc:Choice>
              <mc:Fallback>
                <p:oleObj name="think-cell Slide" r:id="rId8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480678E-0E2D-4FA8-9CB6-744AAD12D8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83784" y="740713"/>
                        <a:ext cx="1541" cy="1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98E0928-5A5E-9F7F-D152-CC2D89736BF0}"/>
              </a:ext>
            </a:extLst>
          </p:cNvPr>
          <p:cNvCxnSpPr>
            <a:cxnSpLocks/>
          </p:cNvCxnSpPr>
          <p:nvPr/>
        </p:nvCxnSpPr>
        <p:spPr>
          <a:xfrm>
            <a:off x="4512920" y="33117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550B9F93-A57A-CD87-F798-6F57483F048E}"/>
              </a:ext>
            </a:extLst>
          </p:cNvPr>
          <p:cNvCxnSpPr>
            <a:cxnSpLocks/>
          </p:cNvCxnSpPr>
          <p:nvPr/>
        </p:nvCxnSpPr>
        <p:spPr>
          <a:xfrm>
            <a:off x="1810952" y="33117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52" name="Rectángulo 2">
            <a:extLst>
              <a:ext uri="{FF2B5EF4-FFF2-40B4-BE49-F238E27FC236}">
                <a16:creationId xmlns:a16="http://schemas.microsoft.com/office/drawing/2014/main" id="{D7091A73-36BE-FDB7-247C-86CB13EEB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709" y="2525235"/>
            <a:ext cx="679994" cy="2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200">
                <a:solidFill>
                  <a:schemeClr val="tx1"/>
                </a:solidFill>
                <a:latin typeface="Muller thin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700">
                <a:solidFill>
                  <a:schemeClr val="tx1"/>
                </a:solidFill>
                <a:latin typeface="Muller thin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Muller thin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chemeClr val="tx1"/>
                </a:solidFill>
                <a:latin typeface="Muller thin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MX" sz="1165" b="1" dirty="0">
                <a:solidFill>
                  <a:srgbClr val="1B65B6"/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Nivel 1</a:t>
            </a:r>
            <a:endParaRPr lang="es-ES_tradnl" altLang="es-MX" sz="1553" b="1" dirty="0">
              <a:solidFill>
                <a:srgbClr val="1B65B6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1453" name="Rectángulo 32">
            <a:extLst>
              <a:ext uri="{FF2B5EF4-FFF2-40B4-BE49-F238E27FC236}">
                <a16:creationId xmlns:a16="http://schemas.microsoft.com/office/drawing/2014/main" id="{166C2A57-0131-D251-C3CC-AF9CA93CE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855" y="3781672"/>
            <a:ext cx="708848" cy="2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200">
                <a:solidFill>
                  <a:schemeClr val="tx1"/>
                </a:solidFill>
                <a:latin typeface="Muller thin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700">
                <a:solidFill>
                  <a:schemeClr val="tx1"/>
                </a:solidFill>
                <a:latin typeface="Muller thin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Muller thin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chemeClr val="tx1"/>
                </a:solidFill>
                <a:latin typeface="Muller thin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MX" sz="1165" b="1" dirty="0">
                <a:solidFill>
                  <a:srgbClr val="1B65B6"/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Nivel 2</a:t>
            </a:r>
            <a:endParaRPr lang="es-ES_tradnl" altLang="es-MX" sz="1553" b="1" dirty="0">
              <a:solidFill>
                <a:srgbClr val="1B65B6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F51E6879-4FA9-D6EF-FC20-FFAE73A211AE}"/>
              </a:ext>
            </a:extLst>
          </p:cNvPr>
          <p:cNvCxnSpPr>
            <a:cxnSpLocks/>
          </p:cNvCxnSpPr>
          <p:nvPr/>
        </p:nvCxnSpPr>
        <p:spPr>
          <a:xfrm>
            <a:off x="7200106" y="33117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B22C8C42-DDB5-948B-74CF-819F25299CEE}"/>
              </a:ext>
            </a:extLst>
          </p:cNvPr>
          <p:cNvCxnSpPr>
            <a:cxnSpLocks/>
          </p:cNvCxnSpPr>
          <p:nvPr/>
        </p:nvCxnSpPr>
        <p:spPr>
          <a:xfrm>
            <a:off x="9893627" y="33117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511FC28C-CAB1-BC6D-EF0F-8271BE857B52}"/>
              </a:ext>
            </a:extLst>
          </p:cNvPr>
          <p:cNvCxnSpPr>
            <a:cxnSpLocks/>
          </p:cNvCxnSpPr>
          <p:nvPr/>
        </p:nvCxnSpPr>
        <p:spPr>
          <a:xfrm>
            <a:off x="12584751" y="33117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D7C1ADC5-8024-129F-49D7-63BB3A73148C}"/>
              </a:ext>
            </a:extLst>
          </p:cNvPr>
          <p:cNvSpPr/>
          <p:nvPr/>
        </p:nvSpPr>
        <p:spPr>
          <a:xfrm>
            <a:off x="8795872" y="4326731"/>
            <a:ext cx="2191587" cy="27622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BE4C1F2F-4754-F814-5098-B28E9776FE51}"/>
              </a:ext>
            </a:extLst>
          </p:cNvPr>
          <p:cNvGrpSpPr/>
          <p:nvPr/>
        </p:nvGrpSpPr>
        <p:grpSpPr>
          <a:xfrm>
            <a:off x="81279" y="196706"/>
            <a:ext cx="8157653" cy="1268781"/>
            <a:chOff x="81279" y="196706"/>
            <a:chExt cx="8157653" cy="1268781"/>
          </a:xfrm>
        </p:grpSpPr>
        <p:sp>
          <p:nvSpPr>
            <p:cNvPr id="122" name="Rectángulo 31">
              <a:extLst>
                <a:ext uri="{FF2B5EF4-FFF2-40B4-BE49-F238E27FC236}">
                  <a16:creationId xmlns:a16="http://schemas.microsoft.com/office/drawing/2014/main" id="{8D772D0D-BB2D-CB0C-0835-C06FEFB6AE8F}"/>
                </a:ext>
              </a:extLst>
            </p:cNvPr>
            <p:cNvSpPr/>
            <p:nvPr/>
          </p:nvSpPr>
          <p:spPr>
            <a:xfrm>
              <a:off x="549779" y="545388"/>
              <a:ext cx="5709815" cy="62106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183472">
                <a:defRPr/>
              </a:pPr>
              <a:endParaRPr lang="es-ES" sz="2330" dirty="0">
                <a:solidFill>
                  <a:prstClr val="white"/>
                </a:solidFill>
                <a:latin typeface="Century Gothic" panose="020B0502020202020204" pitchFamily="34" charset="0"/>
              </a:endParaRPr>
            </a:p>
          </p:txBody>
        </p: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EC5AF9A9-1403-8531-CC27-C369155D06B5}"/>
                </a:ext>
              </a:extLst>
            </p:cNvPr>
            <p:cNvGrpSpPr/>
            <p:nvPr/>
          </p:nvGrpSpPr>
          <p:grpSpPr>
            <a:xfrm>
              <a:off x="81279" y="196706"/>
              <a:ext cx="8157653" cy="1268781"/>
              <a:chOff x="81279" y="196706"/>
              <a:chExt cx="8157653" cy="1268781"/>
            </a:xfrm>
          </p:grpSpPr>
          <p:pic>
            <p:nvPicPr>
              <p:cNvPr id="13" name="Imagen 45">
                <a:extLst>
                  <a:ext uri="{FF2B5EF4-FFF2-40B4-BE49-F238E27FC236}">
                    <a16:creationId xmlns:a16="http://schemas.microsoft.com/office/drawing/2014/main" id="{0222E9D1-9F9D-9527-7399-945C48765C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279" y="196706"/>
                <a:ext cx="8157653" cy="12687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Imagen 2">
                <a:extLst>
                  <a:ext uri="{FF2B5EF4-FFF2-40B4-BE49-F238E27FC236}">
                    <a16:creationId xmlns:a16="http://schemas.microsoft.com/office/drawing/2014/main" id="{4701743A-6DB2-6926-99A8-6ADDE7ECB9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2594" y="548360"/>
                <a:ext cx="710451" cy="5640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" name="Título 2">
              <a:extLst>
                <a:ext uri="{FF2B5EF4-FFF2-40B4-BE49-F238E27FC236}">
                  <a16:creationId xmlns:a16="http://schemas.microsoft.com/office/drawing/2014/main" id="{F20F5044-5256-50FA-97A6-21BA549FDFAC}"/>
                </a:ext>
              </a:extLst>
            </p:cNvPr>
            <p:cNvSpPr txBox="1">
              <a:spLocks/>
            </p:cNvSpPr>
            <p:nvPr/>
          </p:nvSpPr>
          <p:spPr>
            <a:xfrm>
              <a:off x="1299356" y="596225"/>
              <a:ext cx="6931754" cy="516352"/>
            </a:xfrm>
            <a:prstGeom prst="rect">
              <a:avLst/>
            </a:prstGeom>
          </p:spPr>
          <p:txBody>
            <a:bodyPr wrap="square" lIns="118354" tIns="59178" rIns="118354" bIns="59178" anchor="ctr">
              <a:sp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80000"/>
                </a:lnSpc>
                <a:defRPr/>
              </a:pPr>
              <a:r>
                <a:rPr lang="es-ES" sz="3200" b="1" dirty="0">
                  <a:solidFill>
                    <a:schemeClr val="bg1"/>
                  </a:solidFill>
                  <a:latin typeface="Montserrat" panose="00000500000000000000" pitchFamily="2" charset="0"/>
                  <a:ea typeface="+mn-ea"/>
                  <a:cs typeface="Arial" panose="020B0604020202020204" pitchFamily="34" charset="0"/>
                </a:rPr>
                <a:t>¿Quiénes nos contestaron?</a:t>
              </a:r>
            </a:p>
          </p:txBody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CC26B3A1-5ACF-4195-5031-6FA1A0B3704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04686" y="2013842"/>
            <a:ext cx="71048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34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8F0C8-0F35-837E-C1FF-445AD92C8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a_pct_10">
            <a:extLst>
              <a:ext uri="{FF2B5EF4-FFF2-40B4-BE49-F238E27FC236}">
                <a16:creationId xmlns:a16="http://schemas.microsoft.com/office/drawing/2014/main" id="{4A689EEE-4CDF-21EA-0685-0F6FBBF81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4570"/>
              </p:ext>
            </p:extLst>
          </p:nvPr>
        </p:nvGraphicFramePr>
        <p:xfrm>
          <a:off x="5676524" y="1610140"/>
          <a:ext cx="3048753" cy="7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753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</a:tblGrid>
              <a:tr h="35100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prstClr val="black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Participación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Montserrat"/>
                        </a:rPr>
                        <a:t>IPN – 76,678 – 89.8%</a:t>
                      </a:r>
                      <a:endParaRPr lang="es-MX" sz="1400" b="0" kern="1200" dirty="0">
                        <a:solidFill>
                          <a:prstClr val="black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735129"/>
                  </a:ext>
                </a:extLst>
              </a:tr>
            </a:tbl>
          </a:graphicData>
        </a:graphic>
      </p:graphicFrame>
      <p:graphicFrame>
        <p:nvGraphicFramePr>
          <p:cNvPr id="8" name="Tabla_pct_09">
            <a:extLst>
              <a:ext uri="{FF2B5EF4-FFF2-40B4-BE49-F238E27FC236}">
                <a16:creationId xmlns:a16="http://schemas.microsoft.com/office/drawing/2014/main" id="{DEB72A8B-C46F-8ABA-D29D-712EDE8BE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127398"/>
              </p:ext>
            </p:extLst>
          </p:nvPr>
        </p:nvGraphicFramePr>
        <p:xfrm>
          <a:off x="11672336" y="3832748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latin typeface="Montserrat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Montserrat"/>
                        </a:rPr>
                        <a:t>15.1%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7" name="Tabla_pct_08">
            <a:extLst>
              <a:ext uri="{FF2B5EF4-FFF2-40B4-BE49-F238E27FC236}">
                <a16:creationId xmlns:a16="http://schemas.microsoft.com/office/drawing/2014/main" id="{49B410A1-41FC-65CA-E3FF-00B37B4A8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459000"/>
              </p:ext>
            </p:extLst>
          </p:nvPr>
        </p:nvGraphicFramePr>
        <p:xfrm>
          <a:off x="8711611" y="3832748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latin typeface="Montserrat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Montserrat"/>
                        </a:rPr>
                        <a:t>57.7%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5" name="Tabla_pct_07">
            <a:extLst>
              <a:ext uri="{FF2B5EF4-FFF2-40B4-BE49-F238E27FC236}">
                <a16:creationId xmlns:a16="http://schemas.microsoft.com/office/drawing/2014/main" id="{EE588C86-D92A-D91C-AE15-1955E6E62E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875500"/>
              </p:ext>
            </p:extLst>
          </p:nvPr>
        </p:nvGraphicFramePr>
        <p:xfrm>
          <a:off x="5818025" y="3832748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latin typeface="Montserrat"/>
                        </a:rPr>
                        <a:t>1,008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Montserrat"/>
                        </a:rPr>
                        <a:t>54.1%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3" name="Tabla_pct_06">
            <a:extLst>
              <a:ext uri="{FF2B5EF4-FFF2-40B4-BE49-F238E27FC236}">
                <a16:creationId xmlns:a16="http://schemas.microsoft.com/office/drawing/2014/main" id="{2FF6BC18-1548-CC8F-71F1-39E06A243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026392"/>
              </p:ext>
            </p:extLst>
          </p:nvPr>
        </p:nvGraphicFramePr>
        <p:xfrm>
          <a:off x="2917114" y="3832748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latin typeface="Montserrat"/>
                        </a:rPr>
                        <a:t>256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Montserrat"/>
                        </a:rPr>
                        <a:t>51.9%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16" name="Tabla_09">
            <a:extLst>
              <a:ext uri="{FF2B5EF4-FFF2-40B4-BE49-F238E27FC236}">
                <a16:creationId xmlns:a16="http://schemas.microsoft.com/office/drawing/2014/main" id="{597C889C-9FE7-9043-61D0-D69B5088B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486230"/>
              </p:ext>
            </p:extLst>
          </p:nvPr>
        </p:nvGraphicFramePr>
        <p:xfrm>
          <a:off x="10365690" y="4084884"/>
          <a:ext cx="2395740" cy="1614984"/>
        </p:xfrm>
        <a:graphic>
          <a:graphicData uri="http://schemas.openxmlformats.org/drawingml/2006/table">
            <a:tbl>
              <a:tblPr/>
              <a:tblGrid>
                <a:gridCol w="1554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7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33" marR="13033" marT="13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33" marR="13033" marT="13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Administración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4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16.7%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Operación Oficina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3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18.8%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292793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Servicios De Biblioteca Rbs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2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66.7%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600724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Taxi Aereo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2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15.4%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08277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Proyecto Cgh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6.7%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903941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Recepción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50.0%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04275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Sin Etiqueta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12.5%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97247"/>
                  </a:ext>
                </a:extLst>
              </a:tr>
            </a:tbl>
          </a:graphicData>
        </a:graphic>
      </p:graphicFrame>
      <p:graphicFrame>
        <p:nvGraphicFramePr>
          <p:cNvPr id="62" name="Tabla_08">
            <a:extLst>
              <a:ext uri="{FF2B5EF4-FFF2-40B4-BE49-F238E27FC236}">
                <a16:creationId xmlns:a16="http://schemas.microsoft.com/office/drawing/2014/main" id="{45AE16C7-01FB-57B2-E48E-459C03506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730001"/>
              </p:ext>
            </p:extLst>
          </p:nvPr>
        </p:nvGraphicFramePr>
        <p:xfrm>
          <a:off x="7456912" y="4084884"/>
          <a:ext cx="2393573" cy="721020"/>
        </p:xfrm>
        <a:graphic>
          <a:graphicData uri="http://schemas.openxmlformats.org/drawingml/2006/table">
            <a:tbl>
              <a:tblPr/>
              <a:tblGrid>
                <a:gridCol w="1552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7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33" marR="13033" marT="13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33" marR="13033" marT="13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Universidad De La Libertad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13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72.2%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777677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Caminos A La Libertad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2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40.0%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a_07">
            <a:extLst>
              <a:ext uri="{FF2B5EF4-FFF2-40B4-BE49-F238E27FC236}">
                <a16:creationId xmlns:a16="http://schemas.microsoft.com/office/drawing/2014/main" id="{C5B66852-B817-BDD9-2706-D4B597A42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888794"/>
              </p:ext>
            </p:extLst>
          </p:nvPr>
        </p:nvGraphicFramePr>
        <p:xfrm>
          <a:off x="4549039" y="4084884"/>
          <a:ext cx="2392668" cy="1376398"/>
        </p:xfrm>
        <a:graphic>
          <a:graphicData uri="http://schemas.openxmlformats.org/drawingml/2006/table">
            <a:tbl>
              <a:tblPr/>
              <a:tblGrid>
                <a:gridCol w="1529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7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33" marR="13033" marT="130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33" marR="13033" marT="130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701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Grupo Salinas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860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60.1%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Estrategias E Iniciativas Financieras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71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31.0%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413627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Información Y Asuntos Públicos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71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36.2%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16231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Relación Con Inversionistas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6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85.7%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997612"/>
                  </a:ext>
                </a:extLst>
              </a:tr>
            </a:tbl>
          </a:graphicData>
        </a:graphic>
      </p:graphicFrame>
      <p:graphicFrame>
        <p:nvGraphicFramePr>
          <p:cNvPr id="44" name="Tabla_06">
            <a:extLst>
              <a:ext uri="{FF2B5EF4-FFF2-40B4-BE49-F238E27FC236}">
                <a16:creationId xmlns:a16="http://schemas.microsoft.com/office/drawing/2014/main" id="{B88971E1-FB50-DC2D-628B-9671C593C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674635"/>
              </p:ext>
            </p:extLst>
          </p:nvPr>
        </p:nvGraphicFramePr>
        <p:xfrm>
          <a:off x="1641164" y="4084884"/>
          <a:ext cx="2392670" cy="550693"/>
        </p:xfrm>
        <a:graphic>
          <a:graphicData uri="http://schemas.openxmlformats.org/drawingml/2006/table">
            <a:tbl>
              <a:tblPr/>
              <a:tblGrid>
                <a:gridCol w="1545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17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44" marR="13044" marT="130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44" marR="13044" marT="130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521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Grupo Nss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256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83.7%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3A19018-4D1D-F9C8-548E-6794DB60C2E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22486614"/>
              </p:ext>
            </p:extLst>
          </p:nvPr>
        </p:nvGraphicFramePr>
        <p:xfrm>
          <a:off x="1283784" y="740713"/>
          <a:ext cx="1541" cy="1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3A19018-4D1D-F9C8-548E-6794DB60C2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83784" y="740713"/>
                        <a:ext cx="1541" cy="1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9A16EB87-BAEF-6181-E4EB-838FE75B39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30958" y="110205"/>
            <a:ext cx="1522468" cy="1080000"/>
          </a:xfrm>
          <a:prstGeom prst="rect">
            <a:avLst/>
          </a:prstGeom>
        </p:spPr>
      </p:pic>
      <p:grpSp>
        <p:nvGrpSpPr>
          <p:cNvPr id="23" name="Grupo 22">
            <a:extLst>
              <a:ext uri="{FF2B5EF4-FFF2-40B4-BE49-F238E27FC236}">
                <a16:creationId xmlns:a16="http://schemas.microsoft.com/office/drawing/2014/main" id="{B439777E-67EA-9ED3-CE39-8CBA95E32B12}"/>
              </a:ext>
            </a:extLst>
          </p:cNvPr>
          <p:cNvGrpSpPr/>
          <p:nvPr/>
        </p:nvGrpSpPr>
        <p:grpSpPr>
          <a:xfrm>
            <a:off x="81279" y="196706"/>
            <a:ext cx="8157653" cy="1268781"/>
            <a:chOff x="81279" y="196706"/>
            <a:chExt cx="8157653" cy="1268781"/>
          </a:xfrm>
        </p:grpSpPr>
        <p:sp>
          <p:nvSpPr>
            <p:cNvPr id="24" name="Rectángulo 31">
              <a:extLst>
                <a:ext uri="{FF2B5EF4-FFF2-40B4-BE49-F238E27FC236}">
                  <a16:creationId xmlns:a16="http://schemas.microsoft.com/office/drawing/2014/main" id="{0B8AF54D-2E92-BD58-5D0A-1C8B0994BA2C}"/>
                </a:ext>
              </a:extLst>
            </p:cNvPr>
            <p:cNvSpPr/>
            <p:nvPr/>
          </p:nvSpPr>
          <p:spPr>
            <a:xfrm>
              <a:off x="549779" y="545388"/>
              <a:ext cx="5709815" cy="62106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183472">
                <a:defRPr/>
              </a:pPr>
              <a:endParaRPr lang="es-ES" sz="2330" dirty="0">
                <a:solidFill>
                  <a:prstClr val="white"/>
                </a:solidFill>
                <a:latin typeface="Century Gothic" panose="020B0502020202020204" pitchFamily="34" charset="0"/>
              </a:endParaRPr>
            </a:p>
          </p:txBody>
        </p: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3658B344-EDBE-92C4-8DE0-393316D0CA10}"/>
                </a:ext>
              </a:extLst>
            </p:cNvPr>
            <p:cNvGrpSpPr/>
            <p:nvPr/>
          </p:nvGrpSpPr>
          <p:grpSpPr>
            <a:xfrm>
              <a:off x="81279" y="196706"/>
              <a:ext cx="8157653" cy="1268781"/>
              <a:chOff x="81279" y="196706"/>
              <a:chExt cx="8157653" cy="1268781"/>
            </a:xfrm>
          </p:grpSpPr>
          <p:pic>
            <p:nvPicPr>
              <p:cNvPr id="27" name="Imagen 45">
                <a:extLst>
                  <a:ext uri="{FF2B5EF4-FFF2-40B4-BE49-F238E27FC236}">
                    <a16:creationId xmlns:a16="http://schemas.microsoft.com/office/drawing/2014/main" id="{D6EAD711-4CE3-D317-5A81-3857253244C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279" y="196706"/>
                <a:ext cx="8157653" cy="12687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8" name="Imagen 2">
                <a:extLst>
                  <a:ext uri="{FF2B5EF4-FFF2-40B4-BE49-F238E27FC236}">
                    <a16:creationId xmlns:a16="http://schemas.microsoft.com/office/drawing/2014/main" id="{8334AAE7-9AD7-0EC0-E90C-306D6760CA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2594" y="548360"/>
                <a:ext cx="710451" cy="5640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6" name="Título 2">
              <a:extLst>
                <a:ext uri="{FF2B5EF4-FFF2-40B4-BE49-F238E27FC236}">
                  <a16:creationId xmlns:a16="http://schemas.microsoft.com/office/drawing/2014/main" id="{F434EC74-FE00-3150-8FC1-432063671A45}"/>
                </a:ext>
              </a:extLst>
            </p:cNvPr>
            <p:cNvSpPr txBox="1">
              <a:spLocks/>
            </p:cNvSpPr>
            <p:nvPr/>
          </p:nvSpPr>
          <p:spPr>
            <a:xfrm>
              <a:off x="1299356" y="596225"/>
              <a:ext cx="6931754" cy="516352"/>
            </a:xfrm>
            <a:prstGeom prst="rect">
              <a:avLst/>
            </a:prstGeom>
          </p:spPr>
          <p:txBody>
            <a:bodyPr wrap="square" lIns="118354" tIns="59178" rIns="118354" bIns="59178" anchor="ctr">
              <a:sp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80000"/>
                </a:lnSpc>
                <a:defRPr/>
              </a:pPr>
              <a:r>
                <a:rPr lang="es-ES" sz="3200" b="1" dirty="0">
                  <a:solidFill>
                    <a:schemeClr val="bg1"/>
                  </a:solidFill>
                  <a:latin typeface="Montserrat" panose="00000500000000000000" pitchFamily="2" charset="0"/>
                  <a:ea typeface="+mn-ea"/>
                  <a:cs typeface="Arial" panose="020B0604020202020204" pitchFamily="34" charset="0"/>
                </a:rPr>
                <a:t>¿Quiénes nos contestaron?</a:t>
              </a:r>
            </a:p>
          </p:txBody>
        </p:sp>
      </p:grpSp>
      <p:graphicFrame>
        <p:nvGraphicFramePr>
          <p:cNvPr id="30" name="Diagrama 29">
            <a:extLst>
              <a:ext uri="{FF2B5EF4-FFF2-40B4-BE49-F238E27FC236}">
                <a16:creationId xmlns:a16="http://schemas.microsoft.com/office/drawing/2014/main" id="{76FBF3D4-95C2-A897-8D52-F7DECE5177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3977076"/>
              </p:ext>
            </p:extLst>
          </p:nvPr>
        </p:nvGraphicFramePr>
        <p:xfrm>
          <a:off x="697709" y="1608457"/>
          <a:ext cx="13004794" cy="17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816E4E4-5039-7D09-1AF6-23938092412F}"/>
              </a:ext>
            </a:extLst>
          </p:cNvPr>
          <p:cNvCxnSpPr>
            <a:cxnSpLocks/>
          </p:cNvCxnSpPr>
          <p:nvPr/>
        </p:nvCxnSpPr>
        <p:spPr>
          <a:xfrm>
            <a:off x="5739178" y="33625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7941C40C-D9A6-BAB0-DED3-277D8790475C}"/>
              </a:ext>
            </a:extLst>
          </p:cNvPr>
          <p:cNvCxnSpPr>
            <a:cxnSpLocks/>
          </p:cNvCxnSpPr>
          <p:nvPr/>
        </p:nvCxnSpPr>
        <p:spPr>
          <a:xfrm>
            <a:off x="2833418" y="33625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ángulo 2">
            <a:extLst>
              <a:ext uri="{FF2B5EF4-FFF2-40B4-BE49-F238E27FC236}">
                <a16:creationId xmlns:a16="http://schemas.microsoft.com/office/drawing/2014/main" id="{B7D03934-3962-C4CF-276F-44ABC0AFC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59" y="2555715"/>
            <a:ext cx="679994" cy="2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200">
                <a:solidFill>
                  <a:schemeClr val="tx1"/>
                </a:solidFill>
                <a:latin typeface="Muller thin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700">
                <a:solidFill>
                  <a:schemeClr val="tx1"/>
                </a:solidFill>
                <a:latin typeface="Muller thin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Muller thin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chemeClr val="tx1"/>
                </a:solidFill>
                <a:latin typeface="Muller thin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MX" sz="1165" b="1" dirty="0">
                <a:solidFill>
                  <a:srgbClr val="1B65B6"/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Nivel 1</a:t>
            </a:r>
            <a:endParaRPr lang="es-ES_tradnl" altLang="es-MX" sz="1553" b="1" dirty="0">
              <a:solidFill>
                <a:srgbClr val="1B65B6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4" name="Rectángulo 32">
            <a:extLst>
              <a:ext uri="{FF2B5EF4-FFF2-40B4-BE49-F238E27FC236}">
                <a16:creationId xmlns:a16="http://schemas.microsoft.com/office/drawing/2014/main" id="{764191A6-DB48-0049-8F77-C8A655C8F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59" y="3809273"/>
            <a:ext cx="708848" cy="2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200">
                <a:solidFill>
                  <a:schemeClr val="tx1"/>
                </a:solidFill>
                <a:latin typeface="Muller thin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700">
                <a:solidFill>
                  <a:schemeClr val="tx1"/>
                </a:solidFill>
                <a:latin typeface="Muller thin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Muller thin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chemeClr val="tx1"/>
                </a:solidFill>
                <a:latin typeface="Muller thin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MX" sz="1165" b="1" dirty="0">
                <a:solidFill>
                  <a:srgbClr val="1B65B6"/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Nivel 2</a:t>
            </a:r>
            <a:endParaRPr lang="es-ES_tradnl" altLang="es-MX" sz="1553" b="1" dirty="0">
              <a:solidFill>
                <a:srgbClr val="1B65B6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34EA927C-A77B-B860-D76D-0784A19A8E6B}"/>
              </a:ext>
            </a:extLst>
          </p:cNvPr>
          <p:cNvCxnSpPr>
            <a:cxnSpLocks/>
          </p:cNvCxnSpPr>
          <p:nvPr/>
        </p:nvCxnSpPr>
        <p:spPr>
          <a:xfrm>
            <a:off x="8655098" y="33625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00D883D2-F658-66F5-A657-85E5ADCB6C0F}"/>
              </a:ext>
            </a:extLst>
          </p:cNvPr>
          <p:cNvCxnSpPr>
            <a:cxnSpLocks/>
          </p:cNvCxnSpPr>
          <p:nvPr/>
        </p:nvCxnSpPr>
        <p:spPr>
          <a:xfrm>
            <a:off x="11571018" y="33625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514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9">
            <a:extLst>
              <a:ext uri="{FF2B5EF4-FFF2-40B4-BE49-F238E27FC236}">
                <a16:creationId xmlns:a16="http://schemas.microsoft.com/office/drawing/2014/main" id="{D5FB6CA8-6A0D-4D1F-07D2-6082C5E04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562" y="5579269"/>
            <a:ext cx="4398963" cy="64633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altLang="es-MX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GRUPO SALINAS</a:t>
            </a:r>
          </a:p>
        </p:txBody>
      </p:sp>
      <p:sp>
        <p:nvSpPr>
          <p:cNvPr id="2" name="CuadroTexto 8">
            <a:extLst>
              <a:ext uri="{FF2B5EF4-FFF2-40B4-BE49-F238E27FC236}">
                <a16:creationId xmlns:a16="http://schemas.microsoft.com/office/drawing/2014/main" id="{E51B3705-4377-C3B2-F53C-64F351804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5366" y="3283139"/>
            <a:ext cx="4735354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RESULTADOS</a:t>
            </a:r>
            <a:b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</a:br>
            <a:r>
              <a:rPr lang="es-MX" altLang="es-MX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GENERALES</a:t>
            </a:r>
          </a:p>
        </p:txBody>
      </p:sp>
    </p:spTree>
    <p:extLst>
      <p:ext uri="{BB962C8B-B14F-4D97-AF65-F5344CB8AC3E}">
        <p14:creationId xmlns:p14="http://schemas.microsoft.com/office/powerpoint/2010/main" val="786360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CFE2-3424-5B97-25B7-2658677F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_IPN_GS">
            <a:extLst>
              <a:ext uri="{FF2B5EF4-FFF2-40B4-BE49-F238E27FC236}">
                <a16:creationId xmlns:a16="http://schemas.microsoft.com/office/drawing/2014/main" id="{6FCD5EC3-AFB8-4BED-E9C7-DE613AD20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234431"/>
              </p:ext>
            </p:extLst>
          </p:nvPr>
        </p:nvGraphicFramePr>
        <p:xfrm>
          <a:off x="1545047" y="3637709"/>
          <a:ext cx="1980000" cy="1138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70.2%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(76,702)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413203"/>
                  </a:ext>
                </a:extLst>
              </a:tr>
            </a:tbl>
          </a:graphicData>
        </a:graphic>
      </p:graphicFrame>
      <p:sp>
        <p:nvSpPr>
          <p:cNvPr id="46" name="25 CuadroTexto">
            <a:extLst>
              <a:ext uri="{FF2B5EF4-FFF2-40B4-BE49-F238E27FC236}">
                <a16:creationId xmlns:a16="http://schemas.microsoft.com/office/drawing/2014/main" id="{2B14A65E-CE1E-A44D-E3DB-E171A1A26F1B}"/>
              </a:ext>
            </a:extLst>
          </p:cNvPr>
          <p:cNvSpPr txBox="1"/>
          <p:nvPr/>
        </p:nvSpPr>
        <p:spPr>
          <a:xfrm>
            <a:off x="10050963" y="7614925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sp>
        <p:nvSpPr>
          <p:cNvPr id="4" name="89 CuadroTexto">
            <a:extLst>
              <a:ext uri="{FF2B5EF4-FFF2-40B4-BE49-F238E27FC236}">
                <a16:creationId xmlns:a16="http://schemas.microsoft.com/office/drawing/2014/main" id="{C02B5980-D4C2-BAE4-F286-5A65025CF4D7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General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Salinas </a:t>
            </a:r>
          </a:p>
        </p:txBody>
      </p:sp>
      <p:grpSp>
        <p:nvGrpSpPr>
          <p:cNvPr id="13" name="Agrupar 49">
            <a:extLst>
              <a:ext uri="{FF2B5EF4-FFF2-40B4-BE49-F238E27FC236}">
                <a16:creationId xmlns:a16="http://schemas.microsoft.com/office/drawing/2014/main" id="{4386B2B6-9364-AF09-CC99-E8F9552FB23B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30" name="CuadroTexto 33">
              <a:extLst>
                <a:ext uri="{FF2B5EF4-FFF2-40B4-BE49-F238E27FC236}">
                  <a16:creationId xmlns:a16="http://schemas.microsoft.com/office/drawing/2014/main" id="{A933A88B-BAF5-0B50-0FC0-02F661DBC98D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2" name="CuadroTexto 34">
              <a:extLst>
                <a:ext uri="{FF2B5EF4-FFF2-40B4-BE49-F238E27FC236}">
                  <a16:creationId xmlns:a16="http://schemas.microsoft.com/office/drawing/2014/main" id="{1FE08087-1136-0C96-59B3-15F887B848F8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4" name="CuadroTexto 35">
              <a:extLst>
                <a:ext uri="{FF2B5EF4-FFF2-40B4-BE49-F238E27FC236}">
                  <a16:creationId xmlns:a16="http://schemas.microsoft.com/office/drawing/2014/main" id="{7DDA13E2-6A40-4C04-A087-AD532A4DF506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5" name="83 Rectángulo">
              <a:extLst>
                <a:ext uri="{FF2B5EF4-FFF2-40B4-BE49-F238E27FC236}">
                  <a16:creationId xmlns:a16="http://schemas.microsoft.com/office/drawing/2014/main" id="{DE732950-E854-372D-9261-68D96D18A1CD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6" name="84 Rectángulo">
              <a:extLst>
                <a:ext uri="{FF2B5EF4-FFF2-40B4-BE49-F238E27FC236}">
                  <a16:creationId xmlns:a16="http://schemas.microsoft.com/office/drawing/2014/main" id="{1BAC56B9-250E-04BF-2E65-3DDAAB7DEEE2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7" name="17 Rectángulo">
              <a:extLst>
                <a:ext uri="{FF2B5EF4-FFF2-40B4-BE49-F238E27FC236}">
                  <a16:creationId xmlns:a16="http://schemas.microsoft.com/office/drawing/2014/main" id="{834EA867-A6BA-DE3D-D7DB-9688E9B9667D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graphicFrame>
        <p:nvGraphicFramePr>
          <p:cNvPr id="11" name="Tabla_ANTERIO_GS">
            <a:extLst>
              <a:ext uri="{FF2B5EF4-FFF2-40B4-BE49-F238E27FC236}">
                <a16:creationId xmlns:a16="http://schemas.microsoft.com/office/drawing/2014/main" id="{D12B14AA-0BB5-86C4-402F-383611CD1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247801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altLang="es-MX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algn="ctr"/>
                      <a:r>
                        <a:rPr sz="1000" b="1">
                          <a:latin typeface="Montserrat"/>
                        </a:rPr>
                        <a:t>68.5%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algn="ctr"/>
                      <a:r>
                        <a:rPr sz="1000" b="1">
                          <a:latin typeface="Montserrat"/>
                        </a:rPr>
                        <a:t>79,071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D9E00CE3-C0E5-6824-D42A-ABFB2350D8BE}"/>
              </a:ext>
            </a:extLst>
          </p:cNvPr>
          <p:cNvCxnSpPr>
            <a:cxnSpLocks/>
            <a:stCxn id="6" idx="3"/>
            <a:endCxn id="43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9" name="Conector angular 25">
            <a:extLst>
              <a:ext uri="{FF2B5EF4-FFF2-40B4-BE49-F238E27FC236}">
                <a16:creationId xmlns:a16="http://schemas.microsoft.com/office/drawing/2014/main" id="{BD4D2650-E578-1EBE-04CA-7356AD084B56}"/>
              </a:ext>
            </a:extLst>
          </p:cNvPr>
          <p:cNvCxnSpPr>
            <a:cxnSpLocks/>
            <a:stCxn id="6" idx="1"/>
            <a:endCxn id="42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0" name="Conector angular 25">
            <a:extLst>
              <a:ext uri="{FF2B5EF4-FFF2-40B4-BE49-F238E27FC236}">
                <a16:creationId xmlns:a16="http://schemas.microsoft.com/office/drawing/2014/main" id="{DF0FB31D-A878-4F90-78D2-C6583C16CF02}"/>
              </a:ext>
            </a:extLst>
          </p:cNvPr>
          <p:cNvCxnSpPr>
            <a:cxnSpLocks/>
            <a:stCxn id="41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41" name="Tabla_DET_GS">
            <a:extLst>
              <a:ext uri="{FF2B5EF4-FFF2-40B4-BE49-F238E27FC236}">
                <a16:creationId xmlns:a16="http://schemas.microsoft.com/office/drawing/2014/main" id="{0754887D-411F-3B0F-7E1E-DAB217433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331030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6.3%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(4,809)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2" name="Tabla_PAS_GS">
            <a:extLst>
              <a:ext uri="{FF2B5EF4-FFF2-40B4-BE49-F238E27FC236}">
                <a16:creationId xmlns:a16="http://schemas.microsoft.com/office/drawing/2014/main" id="{A184CD50-8ACB-CEFE-5E51-2F6C15668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729863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17.2%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(13,204)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3" name="Tabla_PRO_GS">
            <a:extLst>
              <a:ext uri="{FF2B5EF4-FFF2-40B4-BE49-F238E27FC236}">
                <a16:creationId xmlns:a16="http://schemas.microsoft.com/office/drawing/2014/main" id="{4DC7B4E6-47DE-6E12-882C-A8F3B187E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2897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76.5%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(58,689)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5" name="Grafico _don_GS">
            <a:extLst>
              <a:ext uri="{FF2B5EF4-FFF2-40B4-BE49-F238E27FC236}">
                <a16:creationId xmlns:a16="http://schemas.microsoft.com/office/drawing/2014/main" id="{7C15326E-9816-87EA-7446-D001EA7807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074708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7" name="Grafico_bar_GS">
            <a:extLst>
              <a:ext uri="{FF2B5EF4-FFF2-40B4-BE49-F238E27FC236}">
                <a16:creationId xmlns:a16="http://schemas.microsoft.com/office/drawing/2014/main" id="{D640A3CC-C87B-4238-B3E3-6F2EE48072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2719935"/>
              </p:ext>
            </p:extLst>
          </p:nvPr>
        </p:nvGraphicFramePr>
        <p:xfrm>
          <a:off x="5045089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8" name="Tabla_DIF_GS">
            <a:extLst>
              <a:ext uri="{FF2B5EF4-FFF2-40B4-BE49-F238E27FC236}">
                <a16:creationId xmlns:a16="http://schemas.microsoft.com/office/drawing/2014/main" id="{60332AE7-8ABC-F8D2-095F-B19336C26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405998"/>
              </p:ext>
            </p:extLst>
          </p:nvPr>
        </p:nvGraphicFramePr>
        <p:xfrm>
          <a:off x="11623551" y="1409638"/>
          <a:ext cx="2715914" cy="6077170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504000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76,702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70.2%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68.5%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+1.7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60,538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71.6%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69.3%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+2.3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7,073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68.8%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69.7%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-0.9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4,385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59.5%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61.0%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-1.5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2,651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64.8%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62.7%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+2.1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1,008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76.3%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76.8%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-0.5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762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50.4%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51.8%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-1.4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256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67.2%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65.0%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+2.1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15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73.3%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47.1%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+26.3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14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90.0%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+10.0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49" name="Conector recto 29">
            <a:extLst>
              <a:ext uri="{FF2B5EF4-FFF2-40B4-BE49-F238E27FC236}">
                <a16:creationId xmlns:a16="http://schemas.microsoft.com/office/drawing/2014/main" id="{0899D0F4-ED77-DC88-0A9B-A87C4F965560}"/>
              </a:ext>
            </a:extLst>
          </p:cNvPr>
          <p:cNvCxnSpPr>
            <a:cxnSpLocks/>
          </p:cNvCxnSpPr>
          <p:nvPr/>
        </p:nvCxnSpPr>
        <p:spPr>
          <a:xfrm flipH="1">
            <a:off x="5661537" y="2467475"/>
            <a:ext cx="86400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Picture 4" descr="eenfoque fiscal – Reforma Fiscal">
            <a:hlinkClick r:id="rId5" action="ppaction://hlinksldjump"/>
            <a:extLst>
              <a:ext uri="{FF2B5EF4-FFF2-40B4-BE49-F238E27FC236}">
                <a16:creationId xmlns:a16="http://schemas.microsoft.com/office/drawing/2014/main" id="{235EF76F-7A97-1998-85EB-65EEF1954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029" y="5375309"/>
            <a:ext cx="323634" cy="323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Título 50">
            <a:extLst>
              <a:ext uri="{FF2B5EF4-FFF2-40B4-BE49-F238E27FC236}">
                <a16:creationId xmlns:a16="http://schemas.microsoft.com/office/drawing/2014/main" id="{236E9ADF-8C15-F100-51E4-C584314BC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Grupo Salinas 1Q 2026</a:t>
            </a:r>
          </a:p>
        </p:txBody>
      </p:sp>
    </p:spTree>
    <p:extLst>
      <p:ext uri="{BB962C8B-B14F-4D97-AF65-F5344CB8AC3E}">
        <p14:creationId xmlns:p14="http://schemas.microsoft.com/office/powerpoint/2010/main" val="3107453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3FC4D-A5D5-0D08-F0B8-88E7259B1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28">
            <a:extLst>
              <a:ext uri="{FF2B5EF4-FFF2-40B4-BE49-F238E27FC236}">
                <a16:creationId xmlns:a16="http://schemas.microsoft.com/office/drawing/2014/main" id="{975A2D15-17FE-B4F7-B7DE-B1F99B261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572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71D772C-30A5-4BA2-5CC3-F001F13CE50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05694" y="640557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480678E-0E2D-4FA8-9CB6-744AAD12D8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5694" y="640557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20545C8-E92A-97A5-264E-36BC5E67CA1C}"/>
              </a:ext>
            </a:extLst>
          </p:cNvPr>
          <p:cNvCxnSpPr>
            <a:cxnSpLocks/>
          </p:cNvCxnSpPr>
          <p:nvPr/>
        </p:nvCxnSpPr>
        <p:spPr>
          <a:xfrm>
            <a:off x="360106" y="5937045"/>
            <a:ext cx="13680000" cy="793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a_casos_historicos">
            <a:extLst>
              <a:ext uri="{FF2B5EF4-FFF2-40B4-BE49-F238E27FC236}">
                <a16:creationId xmlns:a16="http://schemas.microsoft.com/office/drawing/2014/main" id="{9F7934A0-7388-BBAC-F3EE-7ED9AB8D6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740031"/>
              </p:ext>
            </p:extLst>
          </p:nvPr>
        </p:nvGraphicFramePr>
        <p:xfrm>
          <a:off x="1341120" y="6739188"/>
          <a:ext cx="12888813" cy="822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769695239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3216768685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4122862907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3838757876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3126612439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3323456473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4001223991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4058946496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139235411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429005842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821414466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821414466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821414466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821414466"/>
                    </a:ext>
                  </a:extLst>
                </a:gridCol>
              </a:tblGrid>
              <a:tr h="274108">
                <a:tc>
                  <a:txBody>
                    <a:bodyPr/>
                    <a:lstStyle/>
                    <a:p>
                      <a:pPr algn="ctr"/>
                      <a:r>
                        <a:rPr lang="es-MX" sz="800" b="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52,196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54,213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53,889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55,419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61,460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68,528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73,132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64,606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alt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63,529</a:t>
                      </a:r>
                      <a:endParaRPr lang="es-MX" sz="800" b="0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56,701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55,206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58,153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55,642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54,318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56,618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60,998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5,897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59,191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59,047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59,874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58,669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58,668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8">
                <a:tc>
                  <a:txBody>
                    <a:bodyPr/>
                    <a:lstStyle/>
                    <a:p>
                      <a:pPr algn="ctr"/>
                      <a:r>
                        <a:rPr lang="es-MX" sz="800" b="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13,236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11,534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10,494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9,619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9,725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12,553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12,412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10,287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alt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10,502</a:t>
                      </a:r>
                      <a:endParaRPr lang="es-MX" sz="800" b="0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12,302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11,937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11,466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11,227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10,783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11,307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12,146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12,846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12,651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13,255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13,458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13,202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13,202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108">
                <a:tc>
                  <a:txBody>
                    <a:bodyPr/>
                    <a:lstStyle/>
                    <a:p>
                      <a:pPr algn="ctr"/>
                      <a:r>
                        <a:rPr lang="es-MX" sz="800" b="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7,180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11,158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5,561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8,184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4,844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8,424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5,916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7,323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alt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5,313</a:t>
                      </a:r>
                      <a:endParaRPr lang="es-MX" sz="800" b="0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4,811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4,719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4,575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4,400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4,579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4,685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4,719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5,393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5,747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5,545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5,716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4,808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4,808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a_pct_historicos">
            <a:extLst>
              <a:ext uri="{FF2B5EF4-FFF2-40B4-BE49-F238E27FC236}">
                <a16:creationId xmlns:a16="http://schemas.microsoft.com/office/drawing/2014/main" id="{BA538538-17D9-03DE-A960-8CA8DFA27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337494"/>
              </p:ext>
            </p:extLst>
          </p:nvPr>
        </p:nvGraphicFramePr>
        <p:xfrm>
          <a:off x="1341120" y="6115300"/>
          <a:ext cx="12888813" cy="465138"/>
        </p:xfrm>
        <a:graphic>
          <a:graphicData uri="http://schemas.openxmlformats.org/drawingml/2006/table">
            <a:tbl>
              <a:tblPr/>
              <a:tblGrid>
                <a:gridCol w="613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1862201955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47252173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1664531728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1635778528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3356925623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3334716692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72883978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1061901303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4149350096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1691542996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321895262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321895262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321895262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321895262"/>
                    </a:ext>
                  </a:extLst>
                </a:gridCol>
              </a:tblGrid>
              <a:tr h="465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79%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72,612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75.2%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76,905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87.8%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69,944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87.9%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73,222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85.3%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76,029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71.9%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89,505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72.0%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91,460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87.5%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82,216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88.4%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</a:rPr>
                        <a:t>79,344</a:t>
                      </a:r>
                      <a:endParaRPr kumimoji="0" lang="es-MX" alt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92BFD3"/>
                        </a:solidFill>
                        <a:effectLst/>
                        <a:latin typeface="Montserrat" panose="00000500000000000000" pitchFamily="2" charset="0"/>
                        <a:ea typeface="Avenir Black"/>
                        <a:cs typeface="Avenir Black"/>
                      </a:endParaRP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88.8%</a:t>
                      </a:r>
                      <a:b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73,814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86.2%</a:t>
                      </a:r>
                      <a:b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71,862</a:t>
                      </a:r>
                      <a:endParaRPr kumimoji="0" lang="es-MX" alt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92BFD3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86.1%</a:t>
                      </a:r>
                      <a:b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74,194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83.8%</a:t>
                      </a:r>
                      <a:br>
                        <a:rPr lang="es-MX" altLang="es-MX" sz="1000" dirty="0">
                          <a:latin typeface="Montserrat" panose="00000500000000000000" pitchFamily="2" charset="0"/>
                        </a:rPr>
                      </a:b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71,269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82.2%</a:t>
                      </a:r>
                      <a:b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69,680</a:t>
                      </a:r>
                      <a:endParaRPr kumimoji="0" lang="es-MX" alt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92BFD3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83.9%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72,610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89.3%</a:t>
                      </a:r>
                      <a:b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77,863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88.9%</a:t>
                      </a:r>
                      <a:br>
                        <a:rPr lang="es-MX" sz="1000" b="0" i="0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77,209</a:t>
                      </a:r>
                      <a:endParaRPr kumimoji="0" lang="es-MX" alt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92BFD3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89.0%</a:t>
                      </a:r>
                      <a:b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77,589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89.0%</a:t>
                      </a:r>
                      <a:b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77,847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90.1%</a:t>
                      </a:r>
                      <a:b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79,048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89.8%</a:t>
                      </a:r>
                      <a:b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76,679</a:t>
                      </a:r>
                      <a:endParaRPr kumimoji="0" lang="es-MX" alt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92BFD3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b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endParaRPr kumimoji="0" lang="es-MX" alt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92BFD3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b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endParaRPr kumimoji="0" lang="es-MX" alt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92BFD3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sz="950" b="1">
                          <a:latin typeface="Montserrat"/>
                        </a:rPr>
                        <a:t>89.8%</a:t>
                      </a:r>
                      <a:endParaRPr kumimoji="0" lang="es-MX" alt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92BFD3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sz="900" b="1">
                          <a:solidFill>
                            <a:srgbClr val="7CB1C9"/>
                          </a:solidFill>
                          <a:latin typeface="Montserrat"/>
                        </a:rPr>
                        <a:t>76,678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17" name="CuadroTexto 32">
            <a:extLst>
              <a:ext uri="{FF2B5EF4-FFF2-40B4-BE49-F238E27FC236}">
                <a16:creationId xmlns:a16="http://schemas.microsoft.com/office/drawing/2014/main" id="{D910D23D-D112-A23C-A4CF-DF6E0C46C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" y="6710613"/>
            <a:ext cx="136683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MX" altLang="es-MX" sz="1200" b="1" dirty="0">
                <a:solidFill>
                  <a:srgbClr val="00B050"/>
                </a:solidFill>
                <a:latin typeface="Montserrat" panose="00000500000000000000" pitchFamily="2" charset="0"/>
                <a:ea typeface="Avenir Black" panose="02000503020000020003"/>
                <a:cs typeface="Avenir Black" panose="02000503020000020003"/>
              </a:rPr>
              <a:t>Promotores</a:t>
            </a:r>
          </a:p>
        </p:txBody>
      </p:sp>
      <p:sp>
        <p:nvSpPr>
          <p:cNvPr id="11318" name="CuadroTexto 33">
            <a:extLst>
              <a:ext uri="{FF2B5EF4-FFF2-40B4-BE49-F238E27FC236}">
                <a16:creationId xmlns:a16="http://schemas.microsoft.com/office/drawing/2014/main" id="{BAB68948-43F8-6C1C-5E35-C1BB15DE8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" y="7029701"/>
            <a:ext cx="13668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MX" altLang="es-MX" sz="1200" b="1" dirty="0">
                <a:solidFill>
                  <a:srgbClr val="FFC000"/>
                </a:solidFill>
                <a:latin typeface="Montserrat" panose="00000500000000000000" pitchFamily="2" charset="0"/>
                <a:ea typeface="Avenir Black" panose="02000503020000020003"/>
                <a:cs typeface="Avenir Black" panose="02000503020000020003"/>
              </a:rPr>
              <a:t>Pasivos</a:t>
            </a:r>
          </a:p>
        </p:txBody>
      </p:sp>
      <p:sp>
        <p:nvSpPr>
          <p:cNvPr id="11319" name="CuadroTexto 34">
            <a:extLst>
              <a:ext uri="{FF2B5EF4-FFF2-40B4-BE49-F238E27FC236}">
                <a16:creationId xmlns:a16="http://schemas.microsoft.com/office/drawing/2014/main" id="{E5FA241C-02DD-C703-12C2-8A53CBB4E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" y="7323388"/>
            <a:ext cx="136683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MX" altLang="es-MX" sz="1200" b="1" dirty="0">
                <a:solidFill>
                  <a:srgbClr val="FF0000"/>
                </a:solidFill>
                <a:latin typeface="Montserrat" panose="00000500000000000000" pitchFamily="2" charset="0"/>
                <a:ea typeface="Avenir Black" panose="02000503020000020003"/>
                <a:cs typeface="Avenir Black" panose="02000503020000020003"/>
              </a:rPr>
              <a:t>Detractores</a:t>
            </a:r>
          </a:p>
        </p:txBody>
      </p:sp>
      <p:pic>
        <p:nvPicPr>
          <p:cNvPr id="22" name="Imagen 21" descr="Interfaz de usuario gráfica, Aplicación, Chat o mensaje de texto&#10;&#10;Descripción generada automáticamente">
            <a:hlinkClick r:id="rId5" action="ppaction://hlinksldjump"/>
            <a:extLst>
              <a:ext uri="{FF2B5EF4-FFF2-40B4-BE49-F238E27FC236}">
                <a16:creationId xmlns:a16="http://schemas.microsoft.com/office/drawing/2014/main" id="{EE053E97-9064-AF6C-91B8-995AC92559B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539" t="12569" r="34229" b="72696"/>
          <a:stretch/>
        </p:blipFill>
        <p:spPr>
          <a:xfrm>
            <a:off x="0" y="1403324"/>
            <a:ext cx="1676912" cy="457959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0A8B910C-10A3-D870-A18C-0EB4D395F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Histórico Grupo Salinas</a:t>
            </a:r>
          </a:p>
        </p:txBody>
      </p:sp>
      <p:graphicFrame>
        <p:nvGraphicFramePr>
          <p:cNvPr id="4" name="Grafico_historico_GS">
            <a:extLst>
              <a:ext uri="{FF2B5EF4-FFF2-40B4-BE49-F238E27FC236}">
                <a16:creationId xmlns:a16="http://schemas.microsoft.com/office/drawing/2014/main" id="{EEE49CDB-0285-4F6B-5620-24E106E795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0504248"/>
              </p:ext>
            </p:extLst>
          </p:nvPr>
        </p:nvGraphicFramePr>
        <p:xfrm>
          <a:off x="1341120" y="1902560"/>
          <a:ext cx="12888806" cy="3914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2951BBA1-E570-6694-638C-52BB0F0C83F0}"/>
              </a:ext>
            </a:extLst>
          </p:cNvPr>
          <p:cNvSpPr txBox="1"/>
          <p:nvPr/>
        </p:nvSpPr>
        <p:spPr>
          <a:xfrm>
            <a:off x="795715" y="2844247"/>
            <a:ext cx="644851" cy="307777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solidFill>
                  <a:srgbClr val="7030A0"/>
                </a:solidFill>
                <a:latin typeface="Montserrat" panose="00000500000000000000" pitchFamily="2" charset="0"/>
              </a:rPr>
              <a:t>IPN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E4EB0BA-87A7-330B-B796-3DEAC0915822}"/>
              </a:ext>
            </a:extLst>
          </p:cNvPr>
          <p:cNvSpPr txBox="1"/>
          <p:nvPr/>
        </p:nvSpPr>
        <p:spPr>
          <a:xfrm>
            <a:off x="58620" y="2501185"/>
            <a:ext cx="1381946" cy="246221"/>
          </a:xfrm>
          <a:prstGeom prst="rect">
            <a:avLst/>
          </a:prstGeom>
          <a:noFill/>
          <a:ln w="12700">
            <a:solidFill>
              <a:srgbClr val="00B05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00B050"/>
                </a:solidFill>
                <a:latin typeface="Montserrat" panose="00000500000000000000" pitchFamily="2" charset="0"/>
              </a:rPr>
              <a:t>Promotores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399E376-B008-4B4C-E676-465AF8A14301}"/>
              </a:ext>
            </a:extLst>
          </p:cNvPr>
          <p:cNvSpPr txBox="1"/>
          <p:nvPr/>
        </p:nvSpPr>
        <p:spPr>
          <a:xfrm>
            <a:off x="58620" y="4667787"/>
            <a:ext cx="1381946" cy="246221"/>
          </a:xfrm>
          <a:prstGeom prst="rect">
            <a:avLst/>
          </a:prstGeom>
          <a:noFill/>
          <a:ln w="12700">
            <a:solidFill>
              <a:srgbClr val="FFC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C000"/>
                </a:solidFill>
                <a:latin typeface="Montserrat" panose="00000500000000000000" pitchFamily="2" charset="0"/>
              </a:rPr>
              <a:t>Pasivos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364A8DA-72AE-8C95-877F-A7DAAF59B9A1}"/>
              </a:ext>
            </a:extLst>
          </p:cNvPr>
          <p:cNvSpPr txBox="1"/>
          <p:nvPr/>
        </p:nvSpPr>
        <p:spPr>
          <a:xfrm>
            <a:off x="58620" y="5016478"/>
            <a:ext cx="1381946" cy="246221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Montserrat" panose="00000500000000000000" pitchFamily="2" charset="0"/>
              </a:rPr>
              <a:t>Detractores</a:t>
            </a:r>
          </a:p>
        </p:txBody>
      </p:sp>
      <p:graphicFrame>
        <p:nvGraphicFramePr>
          <p:cNvPr id="10" name="Tabla 1">
            <a:extLst>
              <a:ext uri="{FF2B5EF4-FFF2-40B4-BE49-F238E27FC236}">
                <a16:creationId xmlns:a16="http://schemas.microsoft.com/office/drawing/2014/main" id="{FEE299A2-D6C6-5676-1EE4-247D59389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15263"/>
              </p:ext>
            </p:extLst>
          </p:nvPr>
        </p:nvGraphicFramePr>
        <p:xfrm>
          <a:off x="15716" y="6115300"/>
          <a:ext cx="1366838" cy="465138"/>
        </p:xfrm>
        <a:graphic>
          <a:graphicData uri="http://schemas.openxmlformats.org/drawingml/2006/table">
            <a:tbl>
              <a:tblPr/>
              <a:tblGrid>
                <a:gridCol w="1366838">
                  <a:extLst>
                    <a:ext uri="{9D8B030D-6E8A-4147-A177-3AD203B41FA5}">
                      <a16:colId xmlns:a16="http://schemas.microsoft.com/office/drawing/2014/main" val="2321895262"/>
                    </a:ext>
                  </a:extLst>
                </a:gridCol>
              </a:tblGrid>
              <a:tr h="46513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% Participación</a:t>
                      </a:r>
                      <a:b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Participantes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Pergamino: horizontal 11">
            <a:extLst>
              <a:ext uri="{FF2B5EF4-FFF2-40B4-BE49-F238E27FC236}">
                <a16:creationId xmlns:a16="http://schemas.microsoft.com/office/drawing/2014/main" id="{011FE528-C1C7-FE1D-5044-41398DF2D833}"/>
              </a:ext>
            </a:extLst>
          </p:cNvPr>
          <p:cNvSpPr/>
          <p:nvPr/>
        </p:nvSpPr>
        <p:spPr>
          <a:xfrm>
            <a:off x="10033692" y="5857947"/>
            <a:ext cx="3025401" cy="1770698"/>
          </a:xfrm>
          <a:prstGeom prst="horizontalScroll">
            <a:avLst/>
          </a:prstGeom>
          <a:solidFill>
            <a:srgbClr val="0000FF">
              <a:alpha val="49804"/>
            </a:srgbClr>
          </a:solidFill>
          <a:ln w="38100">
            <a:solidFill>
              <a:srgbClr val="0000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800" dirty="0"/>
              <a:t>Falta</a:t>
            </a:r>
          </a:p>
        </p:txBody>
      </p:sp>
    </p:spTree>
    <p:extLst>
      <p:ext uri="{BB962C8B-B14F-4D97-AF65-F5344CB8AC3E}">
        <p14:creationId xmlns:p14="http://schemas.microsoft.com/office/powerpoint/2010/main" val="3628277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_Men_Prom">
            <a:extLst>
              <a:ext uri="{FF2B5EF4-FFF2-40B4-BE49-F238E27FC236}">
                <a16:creationId xmlns:a16="http://schemas.microsoft.com/office/drawing/2014/main" id="{61520244-8B3B-32E8-74A3-8DC3C08CC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403985"/>
              </p:ext>
            </p:extLst>
          </p:nvPr>
        </p:nvGraphicFramePr>
        <p:xfrm>
          <a:off x="716536" y="2630842"/>
          <a:ext cx="12916017" cy="4160520"/>
        </p:xfrm>
        <a:graphic>
          <a:graphicData uri="http://schemas.openxmlformats.org/drawingml/2006/table">
            <a:tbl>
              <a:tblPr/>
              <a:tblGrid>
                <a:gridCol w="143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713397168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366941186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4098100850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2389910309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4043439370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820976649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3291432451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Grupo </a:t>
                      </a:r>
                      <a:b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Elektra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Despachos GS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Grupo Totalplay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Tv Azteca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Negocios </a:t>
                      </a:r>
                      <a:b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Familia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Otros</a:t>
                      </a:r>
                      <a:b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Negocios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Soporte Estratégico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Educación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Oficina Presidencia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531059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16,389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2,133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897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732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61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155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309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5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10,776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1,650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815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584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44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88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295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5,063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662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375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286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31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73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97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El trabajo no es para cualquier persona / debe ser apto para el puesto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da estabilidad (laboral/económica)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Buen salario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3,862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está a la vanguardia / Cambios positivos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353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da estabilidad (laboral/económica)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213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da estabilidad (laboral/económica)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115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da estabilidad (laboral/económica)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da estabilidad (laboral/económica)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37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está a la vanguardia / Cambios positivos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51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 una empresa con valores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ayuda a mejorar mi calidad de vida y la de mi familia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tiene buenas prestaciones y 
beneficios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3,273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da estabilidad (laboral/económica)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294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está a la vanguardia / Cambios positivos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181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Me gusta mi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108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tiene buenas prestaciones y 
beneficios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10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tiene buenas prestaciones y 
beneficios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 una empresa con valores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42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Hay favoritismo para crecer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480678E-0E2D-4FA8-9CB6-744AAD12D8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05694" y="640557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480678E-0E2D-4FA8-9CB6-744AAD12D8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5694" y="640557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ítulo 3">
            <a:extLst>
              <a:ext uri="{FF2B5EF4-FFF2-40B4-BE49-F238E27FC236}">
                <a16:creationId xmlns:a16="http://schemas.microsoft.com/office/drawing/2014/main" id="{D955F7B5-B610-F0AA-05BC-EEC0B66E1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sz="2400" dirty="0"/>
              <a:t>Motivos Promotores 1Q 2026</a:t>
            </a:r>
            <a:br>
              <a:rPr lang="es-MX" sz="2400" dirty="0"/>
            </a:br>
            <a:r>
              <a:rPr lang="es-MX" sz="2400" dirty="0"/>
              <a:t>Grupo Salinas</a:t>
            </a:r>
          </a:p>
        </p:txBody>
      </p:sp>
      <p:pic>
        <p:nvPicPr>
          <p:cNvPr id="5" name="Imagen 4" descr="Interfaz de usuario gráfica, Aplicación, Chat o mensaje de texto&#10;&#10;Descripción generada automáticamente">
            <a:hlinkClick r:id="rId5" action="ppaction://hlinksldjump"/>
            <a:extLst>
              <a:ext uri="{FF2B5EF4-FFF2-40B4-BE49-F238E27FC236}">
                <a16:creationId xmlns:a16="http://schemas.microsoft.com/office/drawing/2014/main" id="{547C63D4-FB81-2ACB-FC8E-C67D51187C2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539" t="12569" r="34229" b="72696"/>
          <a:stretch/>
        </p:blipFill>
        <p:spPr>
          <a:xfrm>
            <a:off x="0" y="1403324"/>
            <a:ext cx="1676912" cy="457959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47F6F484-523F-0723-A89F-578D1C6680D8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017222" y="1532422"/>
            <a:chExt cx="4365769" cy="936000"/>
          </a:xfrm>
        </p:grpSpPr>
        <p:sp>
          <p:nvSpPr>
            <p:cNvPr id="19" name="Cinta curvada hacia arriba 3">
              <a:extLst>
                <a:ext uri="{FF2B5EF4-FFF2-40B4-BE49-F238E27FC236}">
                  <a16:creationId xmlns:a16="http://schemas.microsoft.com/office/drawing/2014/main" id="{0303C7C1-EA64-6FF0-FA4D-A8B200D7F3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222" y="1532422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2ED03C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20" name="CuadroTexto 5">
              <a:extLst>
                <a:ext uri="{FF2B5EF4-FFF2-40B4-BE49-F238E27FC236}">
                  <a16:creationId xmlns:a16="http://schemas.microsoft.com/office/drawing/2014/main" id="{6222C50D-DA2A-DB95-1B2B-F041214A06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8981" y="1562902"/>
              <a:ext cx="276225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5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Promotores</a:t>
              </a:r>
            </a:p>
          </p:txBody>
        </p:sp>
      </p:grpSp>
      <p:pic>
        <p:nvPicPr>
          <p:cNvPr id="21" name="Imagen 46">
            <a:extLst>
              <a:ext uri="{FF2B5EF4-FFF2-40B4-BE49-F238E27FC236}">
                <a16:creationId xmlns:a16="http://schemas.microsoft.com/office/drawing/2014/main" id="{8E6FE4A0-9497-64FE-1BAB-26DA67C1918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7" t="33687" r="4427" b="38496"/>
          <a:stretch>
            <a:fillRect/>
          </a:stretch>
        </p:blipFill>
        <p:spPr bwMode="auto">
          <a:xfrm>
            <a:off x="3467107" y="1547191"/>
            <a:ext cx="931863" cy="906462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235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19A39-37FC-B77A-5DD5-FFA4E6C9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a_Men_Pas">
            <a:extLst>
              <a:ext uri="{FF2B5EF4-FFF2-40B4-BE49-F238E27FC236}">
                <a16:creationId xmlns:a16="http://schemas.microsoft.com/office/drawing/2014/main" id="{B26DBAE3-92AC-8BD5-E596-8BA57EB3D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97330"/>
              </p:ext>
            </p:extLst>
          </p:nvPr>
        </p:nvGraphicFramePr>
        <p:xfrm>
          <a:off x="716536" y="2630842"/>
          <a:ext cx="12916017" cy="4160520"/>
        </p:xfrm>
        <a:graphic>
          <a:graphicData uri="http://schemas.openxmlformats.org/drawingml/2006/table">
            <a:tbl>
              <a:tblPr/>
              <a:tblGrid>
                <a:gridCol w="143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713397168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366941186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4098100850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2389910309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4043439370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820976649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3291432451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Grupo </a:t>
                      </a:r>
                      <a:b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Elektra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Despachos GS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Grupo Totalplay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Tv Azteca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Negocios </a:t>
                      </a:r>
                      <a:b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Familia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Otros</a:t>
                      </a:r>
                      <a:b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Negocios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Soporte Estratégico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Educación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Oficina Presidencia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531059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1,421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288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148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109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30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1,084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233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109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84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9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25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 una empresa con valores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Los horarios son buenos / cómodos / flexibles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752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160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85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59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Falta organización / estructura / mejoras en el área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20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Los líderes tienen mala actitud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651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Buen salario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112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70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47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tiene buenas prestaciones y 
beneficios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7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Inestabilidad laboral / amenazas de despido / alta rotación de personal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SABE / NO CONTESTÓ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622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96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SABE / NO CONTESTÓ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69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40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oportunidades de crecimiento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Buen salario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88223DD-DF42-A50D-A5C8-C1BC2B4F13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05694" y="640557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480678E-0E2D-4FA8-9CB6-744AAD12D8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5694" y="640557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ítulo 3">
            <a:extLst>
              <a:ext uri="{FF2B5EF4-FFF2-40B4-BE49-F238E27FC236}">
                <a16:creationId xmlns:a16="http://schemas.microsoft.com/office/drawing/2014/main" id="{613168D9-7056-5A89-DE0B-61732978A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2200" dirty="0"/>
              <a:t>Motivos Promotores 1Q 2026</a:t>
            </a:r>
            <a:br>
              <a:rPr lang="es-MX" sz="2200" dirty="0"/>
            </a:br>
            <a:r>
              <a:rPr lang="es-MX" sz="2200" dirty="0"/>
              <a:t>Grupo Salinas</a:t>
            </a:r>
          </a:p>
        </p:txBody>
      </p:sp>
      <p:pic>
        <p:nvPicPr>
          <p:cNvPr id="5" name="Imagen 4" descr="Interfaz de usuario gráfica, Aplicación, Chat o mensaje de texto&#10;&#10;Descripción generada automáticamente">
            <a:hlinkClick r:id="rId5" action="ppaction://hlinksldjump"/>
            <a:extLst>
              <a:ext uri="{FF2B5EF4-FFF2-40B4-BE49-F238E27FC236}">
                <a16:creationId xmlns:a16="http://schemas.microsoft.com/office/drawing/2014/main" id="{44A171C0-DD3B-9E33-D843-BE85141FE8F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539" t="12569" r="34229" b="72696"/>
          <a:stretch/>
        </p:blipFill>
        <p:spPr>
          <a:xfrm>
            <a:off x="0" y="1403324"/>
            <a:ext cx="1676912" cy="457959"/>
          </a:xfrm>
          <a:prstGeom prst="rect">
            <a:avLst/>
          </a:prstGeom>
        </p:spPr>
      </p:pic>
      <p:pic>
        <p:nvPicPr>
          <p:cNvPr id="7" name="Imagen 45">
            <a:extLst>
              <a:ext uri="{FF2B5EF4-FFF2-40B4-BE49-F238E27FC236}">
                <a16:creationId xmlns:a16="http://schemas.microsoft.com/office/drawing/2014/main" id="{52CEF16D-2534-A5A1-6F8C-1E58ED091235}"/>
              </a:ext>
            </a:extLst>
          </p:cNvPr>
          <p:cNvPicPr preferRelativeResize="0"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4" t="33391" r="35352" b="38200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225F32AC-F246-E3C2-DD36-7AC5D147A5E0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7" name="Cinta curvada hacia arriba 3">
              <a:extLst>
                <a:ext uri="{FF2B5EF4-FFF2-40B4-BE49-F238E27FC236}">
                  <a16:creationId xmlns:a16="http://schemas.microsoft.com/office/drawing/2014/main" id="{09BB3148-518A-E116-8A32-96A762943B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EE912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8" name="CuadroTexto 5">
              <a:extLst>
                <a:ext uri="{FF2B5EF4-FFF2-40B4-BE49-F238E27FC236}">
                  <a16:creationId xmlns:a16="http://schemas.microsoft.com/office/drawing/2014/main" id="{77CFB98A-2744-008E-3058-29E1238CDE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5 motivos </a:t>
              </a:r>
            </a:p>
            <a:p>
              <a:pPr algn="ctr"/>
              <a:r>
                <a:rPr lang="es-MX" altLang="es-MX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Pasivos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5049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E6593-04BD-EA85-3FD5-FC7F03ED3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a_Men_Detr">
            <a:extLst>
              <a:ext uri="{FF2B5EF4-FFF2-40B4-BE49-F238E27FC236}">
                <a16:creationId xmlns:a16="http://schemas.microsoft.com/office/drawing/2014/main" id="{E49B277F-BC10-28D9-51B3-1954C431F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225004"/>
              </p:ext>
            </p:extLst>
          </p:nvPr>
        </p:nvGraphicFramePr>
        <p:xfrm>
          <a:off x="716536" y="2630842"/>
          <a:ext cx="12916017" cy="4160520"/>
        </p:xfrm>
        <a:graphic>
          <a:graphicData uri="http://schemas.openxmlformats.org/drawingml/2006/table">
            <a:tbl>
              <a:tblPr/>
              <a:tblGrid>
                <a:gridCol w="143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713397168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366941186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4098100850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2389910309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4043439370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820976649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3291432451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Grupo </a:t>
                      </a:r>
                      <a:b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Elektra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Despachos GS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Grupo Totalplay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Tv Azteca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Negocios </a:t>
                      </a:r>
                      <a:b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Familia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Otros</a:t>
                      </a:r>
                      <a:b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Negocios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Soporte Estratégico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Educación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Oficina Presidencia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531059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538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74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El sueldo es poco / sueldo garantía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56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47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5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Inestabilidad laboral / amenazas de despido / alta rotación de personal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SABE / NO CONTESTÓ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442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El ambiente laboral es malo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31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52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El sueldo es poco / sueldo garantía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31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Los líderes / jefes no están preparados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oportunidades de crecimiento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10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El sueldo es poco / sueldo garantía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7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El ambiente laboral es malo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339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29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36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oportunidades de crecimiento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oportunidades de crecimiento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El sueldo es poco / sueldo garantía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9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se preocupan por sus colaboradores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4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El sueldo es poco / sueldo garantía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326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SABE / NO CONTESTÓ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oportunidades de crecimiento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36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Falta organización / estructura / mejoras en el área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El ambiente laboral es malo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Hay demasiada presión para los colaboradores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227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Falta organización / estructura / mejoras en el área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Hay favoritismo para crecer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25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El ambiente laboral es malo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Falta organización / estructura / mejoras en el área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Falta organización / estructura / mejoras en el área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121F056-90E5-834E-CFAD-41FF4FC881C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05694" y="640557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88223DD-DF42-A50D-A5C8-C1BC2B4F13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5694" y="640557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8B688967-F3DC-4CFC-3478-90303092E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2200" dirty="0"/>
              <a:t>Motivos Promotores 1Q 2026</a:t>
            </a:r>
            <a:br>
              <a:rPr lang="es-MX" sz="2200" dirty="0"/>
            </a:br>
            <a:r>
              <a:rPr lang="es-MX" sz="2200" dirty="0"/>
              <a:t>Grupo Salinas</a:t>
            </a:r>
          </a:p>
        </p:txBody>
      </p:sp>
      <p:pic>
        <p:nvPicPr>
          <p:cNvPr id="4" name="Imagen 3" descr="Interfaz de usuario gráfica, Aplicación, Chat o mensaje de texto&#10;&#10;Descripción generada automáticamente">
            <a:hlinkClick r:id="rId5" action="ppaction://hlinksldjump"/>
            <a:extLst>
              <a:ext uri="{FF2B5EF4-FFF2-40B4-BE49-F238E27FC236}">
                <a16:creationId xmlns:a16="http://schemas.microsoft.com/office/drawing/2014/main" id="{A9DE2976-3D6D-F3AA-0A1E-C5C95425B09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539" t="12569" r="34229" b="72696"/>
          <a:stretch/>
        </p:blipFill>
        <p:spPr>
          <a:xfrm>
            <a:off x="0" y="1403324"/>
            <a:ext cx="1676912" cy="45795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B1E01E3-9CEF-92D6-0586-EF6E0CC0DB71}"/>
              </a:ext>
            </a:extLst>
          </p:cNvPr>
          <p:cNvPicPr preferRelativeResize="0"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3" t="33426" r="67165" b="38184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8F101AA4-47A4-34E1-2CD6-54B58A9F1BE7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7" name="Cinta curvada hacia arriba 3">
              <a:extLst>
                <a:ext uri="{FF2B5EF4-FFF2-40B4-BE49-F238E27FC236}">
                  <a16:creationId xmlns:a16="http://schemas.microsoft.com/office/drawing/2014/main" id="{0C2B2834-0D4F-14AB-4E08-39ED9E4060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D4F58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8" name="CuadroTexto 5">
              <a:extLst>
                <a:ext uri="{FF2B5EF4-FFF2-40B4-BE49-F238E27FC236}">
                  <a16:creationId xmlns:a16="http://schemas.microsoft.com/office/drawing/2014/main" id="{737B10C2-89F4-48B7-D29D-6B6844CFC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5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Detractores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6586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8">
            <a:extLst>
              <a:ext uri="{FF2B5EF4-FFF2-40B4-BE49-F238E27FC236}">
                <a16:creationId xmlns:a16="http://schemas.microsoft.com/office/drawing/2014/main" id="{5B2A80B9-82E3-B750-F1B9-243F36FCB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5366" y="2704019"/>
            <a:ext cx="5070634" cy="23083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RESULTADOS</a:t>
            </a:r>
            <a:b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</a:br>
            <a:r>
              <a:rPr lang="es-MX" altLang="es-MX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POR GRUPO EMPRESARIAL</a:t>
            </a:r>
          </a:p>
        </p:txBody>
      </p:sp>
    </p:spTree>
    <p:extLst>
      <p:ext uri="{BB962C8B-B14F-4D97-AF65-F5344CB8AC3E}">
        <p14:creationId xmlns:p14="http://schemas.microsoft.com/office/powerpoint/2010/main" val="159642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Grafico_Historico_OP">
            <a:extLst>
              <a:ext uri="{FF2B5EF4-FFF2-40B4-BE49-F238E27FC236}">
                <a16:creationId xmlns:a16="http://schemas.microsoft.com/office/drawing/2014/main" id="{087A50D1-6492-E060-655E-B8CD24D8B0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684429"/>
              </p:ext>
            </p:extLst>
          </p:nvPr>
        </p:nvGraphicFramePr>
        <p:xfrm>
          <a:off x="2154578" y="6946256"/>
          <a:ext cx="11530942" cy="723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5" name="Rectángulo_OP">
            <a:extLst>
              <a:ext uri="{FF2B5EF4-FFF2-40B4-BE49-F238E27FC236}">
                <a16:creationId xmlns:a16="http://schemas.microsoft.com/office/drawing/2014/main" id="{E23936F8-FC30-49A8-692D-E7391FA1D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3" y="7110130"/>
            <a:ext cx="1944000" cy="396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lvl1pPr defTabSz="1217613">
              <a:spcBef>
                <a:spcPct val="20000"/>
              </a:spcBef>
              <a:buFont typeface="Arial" panose="020B0604020202020204" pitchFamily="34" charset="0"/>
              <a:buChar char="•"/>
              <a:defRPr sz="4200">
                <a:solidFill>
                  <a:schemeClr val="tx1"/>
                </a:solidFill>
                <a:latin typeface="Muller thin"/>
              </a:defRPr>
            </a:lvl1pPr>
            <a:lvl2pPr marL="742950" indent="-285750" defTabSz="1217613">
              <a:spcBef>
                <a:spcPct val="20000"/>
              </a:spcBef>
              <a:buFont typeface="Arial" panose="020B0604020202020204" pitchFamily="34" charset="0"/>
              <a:buChar char="–"/>
              <a:defRPr sz="3700">
                <a:solidFill>
                  <a:schemeClr val="tx1"/>
                </a:solidFill>
                <a:latin typeface="Muller thin"/>
              </a:defRPr>
            </a:lvl2pPr>
            <a:lvl3pPr marL="1143000" indent="-228600" defTabSz="12176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Muller thin"/>
              </a:defRPr>
            </a:lvl3pPr>
            <a:lvl4pPr marL="1600200" indent="-228600" defTabSz="1217613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chemeClr val="tx1"/>
                </a:solidFill>
                <a:latin typeface="Muller thin"/>
              </a:defRPr>
            </a:lvl4pPr>
            <a:lvl5pPr marL="2057400" indent="-228600" defTabSz="1217613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5pPr>
            <a:lvl6pPr marL="2514600" indent="-228600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6pPr>
            <a:lvl7pPr marL="2971800" indent="-228600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7pPr>
            <a:lvl8pPr marL="3429000" indent="-228600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8pPr>
            <a:lvl9pPr marL="3886200" indent="-228600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altLang="es-MX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OFICINA DE LA PRESIDENCIA</a:t>
            </a:r>
          </a:p>
        </p:txBody>
      </p:sp>
      <p:graphicFrame>
        <p:nvGraphicFramePr>
          <p:cNvPr id="104" name="Grafico_Historico_SE">
            <a:extLst>
              <a:ext uri="{FF2B5EF4-FFF2-40B4-BE49-F238E27FC236}">
                <a16:creationId xmlns:a16="http://schemas.microsoft.com/office/drawing/2014/main" id="{F7A5FD91-73BF-D609-BA23-04E3E835F9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7532887"/>
              </p:ext>
            </p:extLst>
          </p:nvPr>
        </p:nvGraphicFramePr>
        <p:xfrm>
          <a:off x="2154578" y="6220623"/>
          <a:ext cx="11530800" cy="72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1" name="Rectángulo_SE">
            <a:extLst>
              <a:ext uri="{FF2B5EF4-FFF2-40B4-BE49-F238E27FC236}">
                <a16:creationId xmlns:a16="http://schemas.microsoft.com/office/drawing/2014/main" id="{0F6462E8-C664-F8CE-4A7D-D053456A1E47}"/>
              </a:ext>
            </a:extLst>
          </p:cNvPr>
          <p:cNvSpPr/>
          <p:nvPr/>
        </p:nvSpPr>
        <p:spPr bwMode="auto">
          <a:xfrm>
            <a:off x="155253" y="6384423"/>
            <a:ext cx="1944000" cy="396000"/>
          </a:xfrm>
          <a:prstGeom prst="rect">
            <a:avLst/>
          </a:prstGeom>
          <a:solidFill>
            <a:srgbClr val="99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87648">
              <a:defRPr/>
            </a:pPr>
            <a:r>
              <a:rPr lang="es-ES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</a:rPr>
              <a:t>SOPORTE ESTRATÉGICO</a:t>
            </a:r>
          </a:p>
        </p:txBody>
      </p:sp>
      <p:graphicFrame>
        <p:nvGraphicFramePr>
          <p:cNvPr id="102" name="Grafico_Historico_NF">
            <a:extLst>
              <a:ext uri="{FF2B5EF4-FFF2-40B4-BE49-F238E27FC236}">
                <a16:creationId xmlns:a16="http://schemas.microsoft.com/office/drawing/2014/main" id="{D197ABEE-093B-4AB4-D7FC-4F4DE67D85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6527019"/>
              </p:ext>
            </p:extLst>
          </p:nvPr>
        </p:nvGraphicFramePr>
        <p:xfrm>
          <a:off x="2154578" y="5499590"/>
          <a:ext cx="11530800" cy="72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8" name="Rectángulo_NF">
            <a:extLst>
              <a:ext uri="{FF2B5EF4-FFF2-40B4-BE49-F238E27FC236}">
                <a16:creationId xmlns:a16="http://schemas.microsoft.com/office/drawing/2014/main" id="{B0BE4329-46C0-5736-858C-20691CB354A0}"/>
              </a:ext>
            </a:extLst>
          </p:cNvPr>
          <p:cNvSpPr/>
          <p:nvPr/>
        </p:nvSpPr>
        <p:spPr bwMode="auto">
          <a:xfrm>
            <a:off x="155253" y="5663390"/>
            <a:ext cx="1944000" cy="39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87648">
              <a:defRPr/>
            </a:pPr>
            <a:r>
              <a:rPr lang="es-ES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</a:rPr>
              <a:t>NEGOCIOS FAMILIA</a:t>
            </a:r>
          </a:p>
        </p:txBody>
      </p:sp>
      <p:graphicFrame>
        <p:nvGraphicFramePr>
          <p:cNvPr id="109" name="Grafico_Historico_ON">
            <a:extLst>
              <a:ext uri="{FF2B5EF4-FFF2-40B4-BE49-F238E27FC236}">
                <a16:creationId xmlns:a16="http://schemas.microsoft.com/office/drawing/2014/main" id="{7AAAEE70-EBE8-D9B1-D60A-CD4E46D88F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5519976"/>
              </p:ext>
            </p:extLst>
          </p:nvPr>
        </p:nvGraphicFramePr>
        <p:xfrm>
          <a:off x="2154578" y="4780520"/>
          <a:ext cx="11530800" cy="72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8" name="Rectángulo_ON">
            <a:extLst>
              <a:ext uri="{FF2B5EF4-FFF2-40B4-BE49-F238E27FC236}">
                <a16:creationId xmlns:a16="http://schemas.microsoft.com/office/drawing/2014/main" id="{A3893070-55C8-A0B2-611B-6017977ABD61}"/>
              </a:ext>
            </a:extLst>
          </p:cNvPr>
          <p:cNvSpPr/>
          <p:nvPr/>
        </p:nvSpPr>
        <p:spPr>
          <a:xfrm>
            <a:off x="155253" y="4944320"/>
            <a:ext cx="1944000" cy="396000"/>
          </a:xfrm>
          <a:prstGeom prst="rect">
            <a:avLst/>
          </a:prstGeom>
          <a:gradFill>
            <a:gsLst>
              <a:gs pos="1000">
                <a:srgbClr val="2B94F0"/>
              </a:gs>
              <a:gs pos="100000">
                <a:srgbClr val="00206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87648">
              <a:defRPr/>
            </a:pPr>
            <a:r>
              <a:rPr lang="es-ES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OTROS NEGOCIOS</a:t>
            </a:r>
          </a:p>
        </p:txBody>
      </p:sp>
      <p:graphicFrame>
        <p:nvGraphicFramePr>
          <p:cNvPr id="100" name="Grafico_Historico_TA">
            <a:extLst>
              <a:ext uri="{FF2B5EF4-FFF2-40B4-BE49-F238E27FC236}">
                <a16:creationId xmlns:a16="http://schemas.microsoft.com/office/drawing/2014/main" id="{F173303E-4ACE-53F8-417F-8BE11FF555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2730151"/>
              </p:ext>
            </p:extLst>
          </p:nvPr>
        </p:nvGraphicFramePr>
        <p:xfrm>
          <a:off x="2154578" y="4056274"/>
          <a:ext cx="11530800" cy="72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9" name="Rectángulo_TA">
            <a:extLst>
              <a:ext uri="{FF2B5EF4-FFF2-40B4-BE49-F238E27FC236}">
                <a16:creationId xmlns:a16="http://schemas.microsoft.com/office/drawing/2014/main" id="{E722F4D8-5AE5-D834-B476-D1FB02A37F5F}"/>
              </a:ext>
            </a:extLst>
          </p:cNvPr>
          <p:cNvSpPr/>
          <p:nvPr/>
        </p:nvSpPr>
        <p:spPr bwMode="auto">
          <a:xfrm>
            <a:off x="155253" y="4220074"/>
            <a:ext cx="1944000" cy="396000"/>
          </a:xfrm>
          <a:prstGeom prst="rect">
            <a:avLst/>
          </a:prstGeom>
          <a:gradFill>
            <a:gsLst>
              <a:gs pos="1000">
                <a:srgbClr val="AC2E6B"/>
              </a:gs>
              <a:gs pos="100000">
                <a:srgbClr val="C22EA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87648">
              <a:defRPr/>
            </a:pPr>
            <a:r>
              <a:rPr lang="es-ES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</a:rPr>
              <a:t>TV AZTECA</a:t>
            </a:r>
          </a:p>
        </p:txBody>
      </p:sp>
      <p:graphicFrame>
        <p:nvGraphicFramePr>
          <p:cNvPr id="96" name="Grafico_Historico_GT">
            <a:extLst>
              <a:ext uri="{FF2B5EF4-FFF2-40B4-BE49-F238E27FC236}">
                <a16:creationId xmlns:a16="http://schemas.microsoft.com/office/drawing/2014/main" id="{ABCB6514-37CF-FA24-EAC6-D770FCBDB8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5141992"/>
              </p:ext>
            </p:extLst>
          </p:nvPr>
        </p:nvGraphicFramePr>
        <p:xfrm>
          <a:off x="2154578" y="3350357"/>
          <a:ext cx="11530800" cy="72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5" name="Rectángulo_GT">
            <a:extLst>
              <a:ext uri="{FF2B5EF4-FFF2-40B4-BE49-F238E27FC236}">
                <a16:creationId xmlns:a16="http://schemas.microsoft.com/office/drawing/2014/main" id="{C27E7108-8796-ED29-024E-99B3F5112956}"/>
              </a:ext>
            </a:extLst>
          </p:cNvPr>
          <p:cNvSpPr/>
          <p:nvPr/>
        </p:nvSpPr>
        <p:spPr bwMode="auto">
          <a:xfrm>
            <a:off x="155253" y="3514157"/>
            <a:ext cx="1944000" cy="396000"/>
          </a:xfrm>
          <a:prstGeom prst="rect">
            <a:avLst/>
          </a:prstGeom>
          <a:gradFill>
            <a:gsLst>
              <a:gs pos="1000">
                <a:srgbClr val="9853AC"/>
              </a:gs>
              <a:gs pos="100000">
                <a:srgbClr val="7A449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87648">
              <a:defRPr/>
            </a:pPr>
            <a:r>
              <a:rPr lang="es-ES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</a:rPr>
              <a:t>GRUPO TOTALPLAY</a:t>
            </a:r>
          </a:p>
        </p:txBody>
      </p:sp>
      <p:graphicFrame>
        <p:nvGraphicFramePr>
          <p:cNvPr id="94" name="Grafico_Historico_DP">
            <a:extLst>
              <a:ext uri="{FF2B5EF4-FFF2-40B4-BE49-F238E27FC236}">
                <a16:creationId xmlns:a16="http://schemas.microsoft.com/office/drawing/2014/main" id="{C1CB0B91-98B2-DBE3-72C4-DBAD20914E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1566603"/>
              </p:ext>
            </p:extLst>
          </p:nvPr>
        </p:nvGraphicFramePr>
        <p:xfrm>
          <a:off x="2154578" y="2625865"/>
          <a:ext cx="11530800" cy="72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42" name="Rectángulo_DP">
            <a:extLst>
              <a:ext uri="{FF2B5EF4-FFF2-40B4-BE49-F238E27FC236}">
                <a16:creationId xmlns:a16="http://schemas.microsoft.com/office/drawing/2014/main" id="{B460406E-8834-EE25-7AC9-745CCA5E6EFB}"/>
              </a:ext>
            </a:extLst>
          </p:cNvPr>
          <p:cNvSpPr/>
          <p:nvPr/>
        </p:nvSpPr>
        <p:spPr bwMode="auto">
          <a:xfrm>
            <a:off x="155253" y="2789665"/>
            <a:ext cx="1944000" cy="396000"/>
          </a:xfrm>
          <a:prstGeom prst="rect">
            <a:avLst/>
          </a:prstGeom>
          <a:gradFill>
            <a:gsLst>
              <a:gs pos="0">
                <a:srgbClr val="FFC000"/>
              </a:gs>
              <a:gs pos="100000">
                <a:srgbClr val="DFB623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87648">
              <a:defRPr/>
            </a:pPr>
            <a:r>
              <a:rPr lang="es-ES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</a:rPr>
              <a:t>DESPACHOS</a:t>
            </a:r>
          </a:p>
        </p:txBody>
      </p:sp>
      <p:graphicFrame>
        <p:nvGraphicFramePr>
          <p:cNvPr id="6" name="Grafico_Historico_GE">
            <a:extLst>
              <a:ext uri="{FF2B5EF4-FFF2-40B4-BE49-F238E27FC236}">
                <a16:creationId xmlns:a16="http://schemas.microsoft.com/office/drawing/2014/main" id="{030F817F-FE74-488F-DE69-5C07F0F5FD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0837852"/>
              </p:ext>
            </p:extLst>
          </p:nvPr>
        </p:nvGraphicFramePr>
        <p:xfrm>
          <a:off x="2154578" y="1904832"/>
          <a:ext cx="11530800" cy="72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9" name="Rectángulo_GE">
            <a:extLst>
              <a:ext uri="{FF2B5EF4-FFF2-40B4-BE49-F238E27FC236}">
                <a16:creationId xmlns:a16="http://schemas.microsoft.com/office/drawing/2014/main" id="{F4391E73-649A-4A00-F2F4-7BBA79816A4F}"/>
              </a:ext>
            </a:extLst>
          </p:cNvPr>
          <p:cNvSpPr/>
          <p:nvPr/>
        </p:nvSpPr>
        <p:spPr bwMode="auto">
          <a:xfrm>
            <a:off x="155253" y="2068632"/>
            <a:ext cx="1944000" cy="396000"/>
          </a:xfrm>
          <a:prstGeom prst="rect">
            <a:avLst/>
          </a:prstGeom>
          <a:gradFill>
            <a:gsLst>
              <a:gs pos="0">
                <a:srgbClr val="E42322"/>
              </a:gs>
              <a:gs pos="100000">
                <a:srgbClr val="C2202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87648">
              <a:defRPr/>
            </a:pPr>
            <a:r>
              <a:rPr lang="es-ES" altLang="es-MX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</a:rPr>
              <a:t>GRUPO ELEKTRA</a:t>
            </a:r>
          </a:p>
        </p:txBody>
      </p:sp>
      <p:cxnSp>
        <p:nvCxnSpPr>
          <p:cNvPr id="105" name="41 Conector recto">
            <a:extLst>
              <a:ext uri="{FF2B5EF4-FFF2-40B4-BE49-F238E27FC236}">
                <a16:creationId xmlns:a16="http://schemas.microsoft.com/office/drawing/2014/main" id="{F8891E55-0FF2-E8B1-3F1F-FE98DA085A62}"/>
              </a:ext>
            </a:extLst>
          </p:cNvPr>
          <p:cNvCxnSpPr>
            <a:cxnSpLocks/>
          </p:cNvCxnSpPr>
          <p:nvPr/>
        </p:nvCxnSpPr>
        <p:spPr>
          <a:xfrm>
            <a:off x="155253" y="6944883"/>
            <a:ext cx="1346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41 Conector recto">
            <a:extLst>
              <a:ext uri="{FF2B5EF4-FFF2-40B4-BE49-F238E27FC236}">
                <a16:creationId xmlns:a16="http://schemas.microsoft.com/office/drawing/2014/main" id="{D9A08DA7-ECB2-31EC-89C3-2707E8EFA51D}"/>
              </a:ext>
            </a:extLst>
          </p:cNvPr>
          <p:cNvCxnSpPr>
            <a:cxnSpLocks/>
          </p:cNvCxnSpPr>
          <p:nvPr/>
        </p:nvCxnSpPr>
        <p:spPr>
          <a:xfrm>
            <a:off x="155253" y="2629092"/>
            <a:ext cx="1346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41 Conector recto">
            <a:extLst>
              <a:ext uri="{FF2B5EF4-FFF2-40B4-BE49-F238E27FC236}">
                <a16:creationId xmlns:a16="http://schemas.microsoft.com/office/drawing/2014/main" id="{A9DC1716-73D4-32DB-036F-C3C05DF74A91}"/>
              </a:ext>
            </a:extLst>
          </p:cNvPr>
          <p:cNvCxnSpPr>
            <a:cxnSpLocks/>
          </p:cNvCxnSpPr>
          <p:nvPr/>
        </p:nvCxnSpPr>
        <p:spPr>
          <a:xfrm>
            <a:off x="155253" y="3350125"/>
            <a:ext cx="1346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41 Conector recto">
            <a:extLst>
              <a:ext uri="{FF2B5EF4-FFF2-40B4-BE49-F238E27FC236}">
                <a16:creationId xmlns:a16="http://schemas.microsoft.com/office/drawing/2014/main" id="{3D7F64E5-B478-0C86-6CA7-74659C43BA07}"/>
              </a:ext>
            </a:extLst>
          </p:cNvPr>
          <p:cNvCxnSpPr>
            <a:cxnSpLocks/>
          </p:cNvCxnSpPr>
          <p:nvPr/>
        </p:nvCxnSpPr>
        <p:spPr>
          <a:xfrm>
            <a:off x="155253" y="4064457"/>
            <a:ext cx="1346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41 Conector recto">
            <a:extLst>
              <a:ext uri="{FF2B5EF4-FFF2-40B4-BE49-F238E27FC236}">
                <a16:creationId xmlns:a16="http://schemas.microsoft.com/office/drawing/2014/main" id="{45B9FD15-30D3-D1C7-471B-2168AD29DB58}"/>
              </a:ext>
            </a:extLst>
          </p:cNvPr>
          <p:cNvCxnSpPr>
            <a:cxnSpLocks/>
          </p:cNvCxnSpPr>
          <p:nvPr/>
        </p:nvCxnSpPr>
        <p:spPr>
          <a:xfrm>
            <a:off x="155253" y="4785721"/>
            <a:ext cx="1346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41 Conector recto">
            <a:extLst>
              <a:ext uri="{FF2B5EF4-FFF2-40B4-BE49-F238E27FC236}">
                <a16:creationId xmlns:a16="http://schemas.microsoft.com/office/drawing/2014/main" id="{DE1B108B-4E66-F335-71B0-1E0370F71B92}"/>
              </a:ext>
            </a:extLst>
          </p:cNvPr>
          <p:cNvCxnSpPr>
            <a:cxnSpLocks/>
          </p:cNvCxnSpPr>
          <p:nvPr/>
        </p:nvCxnSpPr>
        <p:spPr>
          <a:xfrm>
            <a:off x="155253" y="5509750"/>
            <a:ext cx="1346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41 Conector recto">
            <a:extLst>
              <a:ext uri="{FF2B5EF4-FFF2-40B4-BE49-F238E27FC236}">
                <a16:creationId xmlns:a16="http://schemas.microsoft.com/office/drawing/2014/main" id="{CB3C53E4-C162-2038-83E4-29BC82537169}"/>
              </a:ext>
            </a:extLst>
          </p:cNvPr>
          <p:cNvCxnSpPr>
            <a:cxnSpLocks/>
          </p:cNvCxnSpPr>
          <p:nvPr/>
        </p:nvCxnSpPr>
        <p:spPr>
          <a:xfrm>
            <a:off x="155253" y="6223850"/>
            <a:ext cx="1346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89 CuadroTexto">
            <a:extLst>
              <a:ext uri="{FF2B5EF4-FFF2-40B4-BE49-F238E27FC236}">
                <a16:creationId xmlns:a16="http://schemas.microsoft.com/office/drawing/2014/main" id="{314F73C7-E5E4-2FF4-0D1C-4E1A52ECA79A}"/>
              </a:ext>
            </a:extLst>
          </p:cNvPr>
          <p:cNvSpPr txBox="1"/>
          <p:nvPr/>
        </p:nvSpPr>
        <p:spPr>
          <a:xfrm>
            <a:off x="5741194" y="1251954"/>
            <a:ext cx="2917825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21914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867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Calibri" pitchFamily="34" charset="0"/>
              </a:rPr>
              <a:t>IPN HIST</a:t>
            </a:r>
            <a:r>
              <a:rPr lang="es-ES" sz="1867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Calibri" pitchFamily="34" charset="0"/>
              </a:rPr>
              <a:t>ÓRICO</a:t>
            </a:r>
            <a:endParaRPr lang="es-MX" sz="1867" b="1" dirty="0">
              <a:solidFill>
                <a:prstClr val="black">
                  <a:lumMod val="75000"/>
                  <a:lumOff val="25000"/>
                </a:prstClr>
              </a:solidFill>
              <a:latin typeface="Montserrat" panose="00000500000000000000" pitchFamily="2" charset="0"/>
              <a:ea typeface="Verdana" panose="020B0604030504040204" pitchFamily="34" charset="0"/>
              <a:cs typeface="Calibri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C63496-8E86-79B5-811C-0A03065A0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Histórico por Grupo Empresarial</a:t>
            </a:r>
          </a:p>
        </p:txBody>
      </p:sp>
      <p:sp>
        <p:nvSpPr>
          <p:cNvPr id="4" name="CuadroTexto 28">
            <a:extLst>
              <a:ext uri="{FF2B5EF4-FFF2-40B4-BE49-F238E27FC236}">
                <a16:creationId xmlns:a16="http://schemas.microsoft.com/office/drawing/2014/main" id="{AA6E331E-5ACC-0F87-097E-25A74891F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572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pic>
        <p:nvPicPr>
          <p:cNvPr id="7" name="Imagen 6" descr="Interfaz de usuario gráfica, Aplicación, Chat o mensaje de texto&#10;&#10;Descripción generada automáticamente">
            <a:hlinkClick r:id="rId10" action="ppaction://hlinksldjump"/>
            <a:extLst>
              <a:ext uri="{FF2B5EF4-FFF2-40B4-BE49-F238E27FC236}">
                <a16:creationId xmlns:a16="http://schemas.microsoft.com/office/drawing/2014/main" id="{32A50075-85ED-E982-9D9D-2C5274EB2B3E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0539" t="12569" r="34229" b="72696"/>
          <a:stretch/>
        </p:blipFill>
        <p:spPr>
          <a:xfrm>
            <a:off x="0" y="1403324"/>
            <a:ext cx="1676912" cy="457959"/>
          </a:xfrm>
          <a:prstGeom prst="rect">
            <a:avLst/>
          </a:prstGeom>
        </p:spPr>
      </p:pic>
      <p:sp>
        <p:nvSpPr>
          <p:cNvPr id="5" name="Pergamino: horizontal 4">
            <a:extLst>
              <a:ext uri="{FF2B5EF4-FFF2-40B4-BE49-F238E27FC236}">
                <a16:creationId xmlns:a16="http://schemas.microsoft.com/office/drawing/2014/main" id="{5788D7C9-8636-D6D6-C213-B332DC41F381}"/>
              </a:ext>
            </a:extLst>
          </p:cNvPr>
          <p:cNvSpPr/>
          <p:nvPr/>
        </p:nvSpPr>
        <p:spPr>
          <a:xfrm>
            <a:off x="1655119" y="1755645"/>
            <a:ext cx="11089975" cy="4624649"/>
          </a:xfrm>
          <a:prstGeom prst="horizontalScroll">
            <a:avLst/>
          </a:prstGeom>
          <a:solidFill>
            <a:srgbClr val="0000FF">
              <a:alpha val="49804"/>
            </a:srgbClr>
          </a:solidFill>
          <a:ln w="38100">
            <a:solidFill>
              <a:srgbClr val="0000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800" dirty="0"/>
              <a:t>Falta</a:t>
            </a:r>
          </a:p>
        </p:txBody>
      </p:sp>
    </p:spTree>
    <p:extLst>
      <p:ext uri="{BB962C8B-B14F-4D97-AF65-F5344CB8AC3E}">
        <p14:creationId xmlns:p14="http://schemas.microsoft.com/office/powerpoint/2010/main" val="4120707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a_IPN_GE">
            <a:extLst>
              <a:ext uri="{FF2B5EF4-FFF2-40B4-BE49-F238E27FC236}">
                <a16:creationId xmlns:a16="http://schemas.microsoft.com/office/drawing/2014/main" id="{AA135EE0-ACB2-9570-BE3D-CE7347ABE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834756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71.5%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(60,538)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540818"/>
                  </a:ext>
                </a:extLst>
              </a:tr>
            </a:tbl>
          </a:graphicData>
        </a:graphic>
      </p:graphicFrame>
      <p:pic>
        <p:nvPicPr>
          <p:cNvPr id="9" name="Picture 4" descr="eenfoque fiscal – Reforma Fiscal">
            <a:hlinkClick r:id="rId3" action="ppaction://hlinksldjump"/>
            <a:extLst>
              <a:ext uri="{FF2B5EF4-FFF2-40B4-BE49-F238E27FC236}">
                <a16:creationId xmlns:a16="http://schemas.microsoft.com/office/drawing/2014/main" id="{9E41F60A-6270-B6D4-C1BD-E8629E92F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804" y="4412178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 descr="eenfoque fiscal – Reforma Fiscal">
            <a:hlinkClick r:id="rId5" action="ppaction://hlinksldjump"/>
            <a:extLst>
              <a:ext uri="{FF2B5EF4-FFF2-40B4-BE49-F238E27FC236}">
                <a16:creationId xmlns:a16="http://schemas.microsoft.com/office/drawing/2014/main" id="{D2DD0A72-C95F-77A2-A02C-08323318C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804" y="5696693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2" name="Imagen 32">
            <a:hlinkClick r:id="rId6" action="ppaction://hlinksldjump"/>
            <a:extLst>
              <a:ext uri="{FF2B5EF4-FFF2-40B4-BE49-F238E27FC236}">
                <a16:creationId xmlns:a16="http://schemas.microsoft.com/office/drawing/2014/main" id="{94DE47AD-A185-12A0-EBAC-241D050BC8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3D7D5385-6468-7A9A-23B3-CFB1F45D9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19" name="89 CuadroTexto">
            <a:extLst>
              <a:ext uri="{FF2B5EF4-FFF2-40B4-BE49-F238E27FC236}">
                <a16:creationId xmlns:a16="http://schemas.microsoft.com/office/drawing/2014/main" id="{44C017A7-BB48-4B2F-9B97-36F3BC639F33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</a:t>
            </a:r>
          </a:p>
        </p:txBody>
      </p:sp>
      <p:grpSp>
        <p:nvGrpSpPr>
          <p:cNvPr id="22" name="Agrupar 49">
            <a:extLst>
              <a:ext uri="{FF2B5EF4-FFF2-40B4-BE49-F238E27FC236}">
                <a16:creationId xmlns:a16="http://schemas.microsoft.com/office/drawing/2014/main" id="{7BF02EA6-A998-BEDC-0894-A03E86483ED6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3" name="CuadroTexto 33">
              <a:extLst>
                <a:ext uri="{FF2B5EF4-FFF2-40B4-BE49-F238E27FC236}">
                  <a16:creationId xmlns:a16="http://schemas.microsoft.com/office/drawing/2014/main" id="{FECED5F0-B3B1-9097-5805-806E3CA2E339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4" name="CuadroTexto 34">
              <a:extLst>
                <a:ext uri="{FF2B5EF4-FFF2-40B4-BE49-F238E27FC236}">
                  <a16:creationId xmlns:a16="http://schemas.microsoft.com/office/drawing/2014/main" id="{2A73DCB1-BA3B-8AC7-9663-AE8722D60C18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5" name="CuadroTexto 35">
              <a:extLst>
                <a:ext uri="{FF2B5EF4-FFF2-40B4-BE49-F238E27FC236}">
                  <a16:creationId xmlns:a16="http://schemas.microsoft.com/office/drawing/2014/main" id="{13C77D2E-AD98-CFE8-630A-A9D23134DCFC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6" name="83 Rectángulo">
              <a:extLst>
                <a:ext uri="{FF2B5EF4-FFF2-40B4-BE49-F238E27FC236}">
                  <a16:creationId xmlns:a16="http://schemas.microsoft.com/office/drawing/2014/main" id="{A667EBD2-121B-F9AF-A8DE-27C7F32BE22A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7" name="84 Rectángulo">
              <a:extLst>
                <a:ext uri="{FF2B5EF4-FFF2-40B4-BE49-F238E27FC236}">
                  <a16:creationId xmlns:a16="http://schemas.microsoft.com/office/drawing/2014/main" id="{4C143425-A6AA-CFB9-DC01-B72B2B2BF732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8" name="17 Rectángulo">
              <a:extLst>
                <a:ext uri="{FF2B5EF4-FFF2-40B4-BE49-F238E27FC236}">
                  <a16:creationId xmlns:a16="http://schemas.microsoft.com/office/drawing/2014/main" id="{E452648F-0B43-709B-E261-624063C202DB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9" name="Conector angular 25">
            <a:extLst>
              <a:ext uri="{FF2B5EF4-FFF2-40B4-BE49-F238E27FC236}">
                <a16:creationId xmlns:a16="http://schemas.microsoft.com/office/drawing/2014/main" id="{0983E2D6-201A-93FD-CBAB-9FFE46FC568B}"/>
              </a:ext>
            </a:extLst>
          </p:cNvPr>
          <p:cNvCxnSpPr>
            <a:cxnSpLocks/>
            <a:stCxn id="20" idx="3"/>
            <a:endCxn id="34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0" name="Conector angular 25">
            <a:extLst>
              <a:ext uri="{FF2B5EF4-FFF2-40B4-BE49-F238E27FC236}">
                <a16:creationId xmlns:a16="http://schemas.microsoft.com/office/drawing/2014/main" id="{6FA94E5A-5C19-30B1-B050-3BDD9D78DF07}"/>
              </a:ext>
            </a:extLst>
          </p:cNvPr>
          <p:cNvCxnSpPr>
            <a:cxnSpLocks/>
            <a:stCxn id="20" idx="1"/>
            <a:endCxn id="33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1" name="Conector angular 25">
            <a:extLst>
              <a:ext uri="{FF2B5EF4-FFF2-40B4-BE49-F238E27FC236}">
                <a16:creationId xmlns:a16="http://schemas.microsoft.com/office/drawing/2014/main" id="{D492D19F-3BF4-C074-2284-842E46F37D86}"/>
              </a:ext>
            </a:extLst>
          </p:cNvPr>
          <p:cNvCxnSpPr>
            <a:cxnSpLocks/>
            <a:stCxn id="32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2" name="Tabla_DET_GE">
            <a:extLst>
              <a:ext uri="{FF2B5EF4-FFF2-40B4-BE49-F238E27FC236}">
                <a16:creationId xmlns:a16="http://schemas.microsoft.com/office/drawing/2014/main" id="{C56E3C04-0E3C-C50E-74DA-5A81C23D6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843925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6.3%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(3,786)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3" name="Tabla_PAS_GE">
            <a:extLst>
              <a:ext uri="{FF2B5EF4-FFF2-40B4-BE49-F238E27FC236}">
                <a16:creationId xmlns:a16="http://schemas.microsoft.com/office/drawing/2014/main" id="{1A3F6B49-DB9A-6239-1326-89875B874C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101555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15.9%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(9,630)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4" name="Tabla_PRO_GE">
            <a:extLst>
              <a:ext uri="{FF2B5EF4-FFF2-40B4-BE49-F238E27FC236}">
                <a16:creationId xmlns:a16="http://schemas.microsoft.com/office/drawing/2014/main" id="{21C734E1-F28D-4799-54A4-EE5AB1430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723603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77.8%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(47,122)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Grafico _don_GE">
            <a:extLst>
              <a:ext uri="{FF2B5EF4-FFF2-40B4-BE49-F238E27FC236}">
                <a16:creationId xmlns:a16="http://schemas.microsoft.com/office/drawing/2014/main" id="{AC88D581-178D-6CE4-D260-1600E24698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571153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36" name="Grafico_bar_GE">
            <a:extLst>
              <a:ext uri="{FF2B5EF4-FFF2-40B4-BE49-F238E27FC236}">
                <a16:creationId xmlns:a16="http://schemas.microsoft.com/office/drawing/2014/main" id="{A03F09C5-D39A-DD31-0965-189E469D80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0082291"/>
              </p:ext>
            </p:extLst>
          </p:nvPr>
        </p:nvGraphicFramePr>
        <p:xfrm>
          <a:off x="5034929" y="2631439"/>
          <a:ext cx="6537600" cy="385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7" name="Tabla_DIF_GE">
            <a:extLst>
              <a:ext uri="{FF2B5EF4-FFF2-40B4-BE49-F238E27FC236}">
                <a16:creationId xmlns:a16="http://schemas.microsoft.com/office/drawing/2014/main" id="{D4D6EB81-851B-A88C-18A7-93584E245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489578"/>
              </p:ext>
            </p:extLst>
          </p:nvPr>
        </p:nvGraphicFramePr>
        <p:xfrm>
          <a:off x="11639138" y="2277643"/>
          <a:ext cx="2695689" cy="4205797"/>
        </p:xfrm>
        <a:graphic>
          <a:graphicData uri="http://schemas.openxmlformats.org/drawingml/2006/table">
            <a:tbl>
              <a:tblPr/>
              <a:tblGrid>
                <a:gridCol w="8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083">
                  <a:extLst>
                    <a:ext uri="{9D8B030D-6E8A-4147-A177-3AD203B41FA5}">
                      <a16:colId xmlns:a16="http://schemas.microsoft.com/office/drawing/2014/main" val="913389153"/>
                    </a:ext>
                  </a:extLst>
                </a:gridCol>
                <a:gridCol w="606083">
                  <a:extLst>
                    <a:ext uri="{9D8B030D-6E8A-4147-A177-3AD203B41FA5}">
                      <a16:colId xmlns:a16="http://schemas.microsoft.com/office/drawing/2014/main" val="265056021"/>
                    </a:ext>
                  </a:extLst>
                </a:gridCol>
              </a:tblGrid>
              <a:tr h="364894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30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60,538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30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54,889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30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5,649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66.7%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66.0%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</a:tbl>
          </a:graphicData>
        </a:graphic>
      </p:graphicFrame>
      <p:sp>
        <p:nvSpPr>
          <p:cNvPr id="2" name="25 CuadroTexto">
            <a:extLst>
              <a:ext uri="{FF2B5EF4-FFF2-40B4-BE49-F238E27FC236}">
                <a16:creationId xmlns:a16="http://schemas.microsoft.com/office/drawing/2014/main" id="{8ECA73F5-A12A-7EDD-A155-7E3496BF4B25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2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94DE47AD-A185-12A0-EBAC-241D050BC8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 descr="eenfoque fiscal – Reforma Fiscal">
            <a:hlinkClick r:id="rId5" action="ppaction://hlinksldjump"/>
            <a:extLst>
              <a:ext uri="{FF2B5EF4-FFF2-40B4-BE49-F238E27FC236}">
                <a16:creationId xmlns:a16="http://schemas.microsoft.com/office/drawing/2014/main" id="{A35269C2-AD19-03EF-62AF-385D2797F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955" y="3704614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4" descr="eenfoque fiscal – Reforma Fiscal">
            <a:hlinkClick r:id="rId7" action="ppaction://hlinksldjump"/>
            <a:extLst>
              <a:ext uri="{FF2B5EF4-FFF2-40B4-BE49-F238E27FC236}">
                <a16:creationId xmlns:a16="http://schemas.microsoft.com/office/drawing/2014/main" id="{D2AEECA1-8EDA-B68F-573E-1E6C05E4C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955" y="5792115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F86D339-46B8-BBBA-8E2C-4B2D6136A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28" name="89 CuadroTexto">
            <a:extLst>
              <a:ext uri="{FF2B5EF4-FFF2-40B4-BE49-F238E27FC236}">
                <a16:creationId xmlns:a16="http://schemas.microsoft.com/office/drawing/2014/main" id="{8893F88A-0636-CD83-3BDA-2E8850262601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- México</a:t>
            </a:r>
          </a:p>
        </p:txBody>
      </p:sp>
      <p:grpSp>
        <p:nvGrpSpPr>
          <p:cNvPr id="30" name="Agrupar 49">
            <a:extLst>
              <a:ext uri="{FF2B5EF4-FFF2-40B4-BE49-F238E27FC236}">
                <a16:creationId xmlns:a16="http://schemas.microsoft.com/office/drawing/2014/main" id="{FD905CC1-2C10-8A38-B1FA-181ECCB4211B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31" name="CuadroTexto 33">
              <a:extLst>
                <a:ext uri="{FF2B5EF4-FFF2-40B4-BE49-F238E27FC236}">
                  <a16:creationId xmlns:a16="http://schemas.microsoft.com/office/drawing/2014/main" id="{F94953E4-0E51-7003-66C8-188BF9FB6270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2" name="CuadroTexto 34">
              <a:extLst>
                <a:ext uri="{FF2B5EF4-FFF2-40B4-BE49-F238E27FC236}">
                  <a16:creationId xmlns:a16="http://schemas.microsoft.com/office/drawing/2014/main" id="{29B4C8D2-08EE-F9DA-C8C4-9E86E160D34C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3" name="CuadroTexto 35">
              <a:extLst>
                <a:ext uri="{FF2B5EF4-FFF2-40B4-BE49-F238E27FC236}">
                  <a16:creationId xmlns:a16="http://schemas.microsoft.com/office/drawing/2014/main" id="{4396C6C0-324C-E37B-477C-53BDFF70F64F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4" name="83 Rectángulo">
              <a:extLst>
                <a:ext uri="{FF2B5EF4-FFF2-40B4-BE49-F238E27FC236}">
                  <a16:creationId xmlns:a16="http://schemas.microsoft.com/office/drawing/2014/main" id="{79164E5B-674A-0681-D8B9-7AA497310430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5" name="84 Rectángulo">
              <a:extLst>
                <a:ext uri="{FF2B5EF4-FFF2-40B4-BE49-F238E27FC236}">
                  <a16:creationId xmlns:a16="http://schemas.microsoft.com/office/drawing/2014/main" id="{1E692414-782D-2679-2DFB-314AC3F44C80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6" name="17 Rectángulo">
              <a:extLst>
                <a:ext uri="{FF2B5EF4-FFF2-40B4-BE49-F238E27FC236}">
                  <a16:creationId xmlns:a16="http://schemas.microsoft.com/office/drawing/2014/main" id="{CBDA99FD-1D66-8120-5AB4-E9EA02D98B96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7" name="Conector angular 25">
            <a:extLst>
              <a:ext uri="{FF2B5EF4-FFF2-40B4-BE49-F238E27FC236}">
                <a16:creationId xmlns:a16="http://schemas.microsoft.com/office/drawing/2014/main" id="{6C1B1353-B4F6-A98C-BA35-DC7092A8A3D4}"/>
              </a:ext>
            </a:extLst>
          </p:cNvPr>
          <p:cNvCxnSpPr>
            <a:cxnSpLocks/>
            <a:stCxn id="29" idx="3"/>
            <a:endCxn id="42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47AB8C89-7A31-A07B-C5AB-7B28147CA177}"/>
              </a:ext>
            </a:extLst>
          </p:cNvPr>
          <p:cNvCxnSpPr>
            <a:cxnSpLocks/>
            <a:stCxn id="29" idx="1"/>
            <a:endCxn id="41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9" name="Conector angular 25">
            <a:extLst>
              <a:ext uri="{FF2B5EF4-FFF2-40B4-BE49-F238E27FC236}">
                <a16:creationId xmlns:a16="http://schemas.microsoft.com/office/drawing/2014/main" id="{181B8D01-94C4-E1B4-61F1-309225CF988A}"/>
              </a:ext>
            </a:extLst>
          </p:cNvPr>
          <p:cNvCxnSpPr>
            <a:cxnSpLocks/>
            <a:stCxn id="40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9" name="Tabla_IPN_GE_ME">
            <a:extLst>
              <a:ext uri="{FF2B5EF4-FFF2-40B4-BE49-F238E27FC236}">
                <a16:creationId xmlns:a16="http://schemas.microsoft.com/office/drawing/2014/main" id="{DDD6D7A3-8625-B33E-9DA5-FD3D54944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845981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72.1%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(54,889)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935931"/>
                  </a:ext>
                </a:extLst>
              </a:tr>
            </a:tbl>
          </a:graphicData>
        </a:graphic>
      </p:graphicFrame>
      <p:graphicFrame>
        <p:nvGraphicFramePr>
          <p:cNvPr id="40" name="Tabla_DET_GE_ME">
            <a:extLst>
              <a:ext uri="{FF2B5EF4-FFF2-40B4-BE49-F238E27FC236}">
                <a16:creationId xmlns:a16="http://schemas.microsoft.com/office/drawing/2014/main" id="{6EC8B718-69AB-916E-C7DB-423D8FBFF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261436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6.0%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(3,315)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1" name="Tabla_PAS_GE_ME">
            <a:extLst>
              <a:ext uri="{FF2B5EF4-FFF2-40B4-BE49-F238E27FC236}">
                <a16:creationId xmlns:a16="http://schemas.microsoft.com/office/drawing/2014/main" id="{5CEF526F-EB6B-6C79-85BA-E5CF9881F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996829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15.8%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(8,692)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2" name="Tabla_PRO_GE_ME">
            <a:extLst>
              <a:ext uri="{FF2B5EF4-FFF2-40B4-BE49-F238E27FC236}">
                <a16:creationId xmlns:a16="http://schemas.microsoft.com/office/drawing/2014/main" id="{AA7CF3D5-FEF8-4FF9-8AFA-37C9C40C9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048613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78.1%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(42,882)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3" name="Grafico _don_GE_ME">
            <a:extLst>
              <a:ext uri="{FF2B5EF4-FFF2-40B4-BE49-F238E27FC236}">
                <a16:creationId xmlns:a16="http://schemas.microsoft.com/office/drawing/2014/main" id="{51608E7F-6CDC-F111-864F-282C2EA67E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787726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7" name="Tabla_DIF_GE_ME">
            <a:extLst>
              <a:ext uri="{FF2B5EF4-FFF2-40B4-BE49-F238E27FC236}">
                <a16:creationId xmlns:a16="http://schemas.microsoft.com/office/drawing/2014/main" id="{D4D6EB81-851B-A88C-18A7-93584E245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702423"/>
              </p:ext>
            </p:extLst>
          </p:nvPr>
        </p:nvGraphicFramePr>
        <p:xfrm>
          <a:off x="11630476" y="1909287"/>
          <a:ext cx="2691084" cy="5607684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228">
                  <a:extLst>
                    <a:ext uri="{9D8B030D-6E8A-4147-A177-3AD203B41FA5}">
                      <a16:colId xmlns:a16="http://schemas.microsoft.com/office/drawing/2014/main" val="684186392"/>
                    </a:ext>
                  </a:extLst>
                </a:gridCol>
                <a:gridCol w="604228">
                  <a:extLst>
                    <a:ext uri="{9D8B030D-6E8A-4147-A177-3AD203B41FA5}">
                      <a16:colId xmlns:a16="http://schemas.microsoft.com/office/drawing/2014/main" val="2257429793"/>
                    </a:ext>
                  </a:extLst>
                </a:gridCol>
              </a:tblGrid>
              <a:tr h="39753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02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54,889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202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53,541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202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661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80.5%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79.9%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  <a:tr h="104202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593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61.9%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61.3%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668854"/>
                  </a:ext>
                </a:extLst>
              </a:tr>
              <a:tr h="104202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94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70.2%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-5.5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352923"/>
                  </a:ext>
                </a:extLst>
              </a:tr>
            </a:tbl>
          </a:graphicData>
        </a:graphic>
      </p:graphicFrame>
      <p:graphicFrame>
        <p:nvGraphicFramePr>
          <p:cNvPr id="4" name="Grafico_bar_GE_ME">
            <a:extLst>
              <a:ext uri="{FF2B5EF4-FFF2-40B4-BE49-F238E27FC236}">
                <a16:creationId xmlns:a16="http://schemas.microsoft.com/office/drawing/2014/main" id="{14A7C042-DC9B-F347-2F71-386CD25215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7282827"/>
              </p:ext>
            </p:extLst>
          </p:nvPr>
        </p:nvGraphicFramePr>
        <p:xfrm>
          <a:off x="5036978" y="2303624"/>
          <a:ext cx="6537600" cy="5213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" name="25 CuadroTexto">
            <a:extLst>
              <a:ext uri="{FF2B5EF4-FFF2-40B4-BE49-F238E27FC236}">
                <a16:creationId xmlns:a16="http://schemas.microsoft.com/office/drawing/2014/main" id="{FFAD7348-71D5-F6BF-A1EB-7C46898F3722}"/>
              </a:ext>
            </a:extLst>
          </p:cNvPr>
          <p:cNvSpPr txBox="1"/>
          <p:nvPr/>
        </p:nvSpPr>
        <p:spPr>
          <a:xfrm>
            <a:off x="11640498" y="7685699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</p:spTree>
    <p:extLst>
      <p:ext uri="{BB962C8B-B14F-4D97-AF65-F5344CB8AC3E}">
        <p14:creationId xmlns:p14="http://schemas.microsoft.com/office/powerpoint/2010/main" val="962877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9B6FA-F9CF-D4D7-9F34-54FC5FE63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4" descr="eenfoque fiscal – Reforma Fiscal">
            <a:hlinkClick r:id="rId3" action="ppaction://hlinksldjump"/>
            <a:extLst>
              <a:ext uri="{FF2B5EF4-FFF2-40B4-BE49-F238E27FC236}">
                <a16:creationId xmlns:a16="http://schemas.microsoft.com/office/drawing/2014/main" id="{759D9D42-82FF-1833-705A-D320ED8BB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229" y="3794046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4" descr="eenfoque fiscal – Reforma Fiscal">
            <a:hlinkClick r:id="rId5" action="ppaction://hlinksldjump"/>
            <a:extLst>
              <a:ext uri="{FF2B5EF4-FFF2-40B4-BE49-F238E27FC236}">
                <a16:creationId xmlns:a16="http://schemas.microsoft.com/office/drawing/2014/main" id="{8E7EE1C4-7FFC-E433-8849-022035C60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229" y="5046604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4" descr="eenfoque fiscal – Reforma Fiscal">
            <a:hlinkClick r:id="rId6" action="ppaction://hlinksldjump"/>
            <a:extLst>
              <a:ext uri="{FF2B5EF4-FFF2-40B4-BE49-F238E27FC236}">
                <a16:creationId xmlns:a16="http://schemas.microsoft.com/office/drawing/2014/main" id="{61913511-E89F-260A-233E-E54D2FBBF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229" y="6296773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39C6E07-5A28-D1EB-325A-0AB186013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Grupo Elektra 1Q 2026</a:t>
            </a:r>
          </a:p>
        </p:txBody>
      </p:sp>
      <p:pic>
        <p:nvPicPr>
          <p:cNvPr id="28" name="Imagen 32">
            <a:hlinkClick r:id="rId7" action="ppaction://hlinksldjump"/>
            <a:extLst>
              <a:ext uri="{FF2B5EF4-FFF2-40B4-BE49-F238E27FC236}">
                <a16:creationId xmlns:a16="http://schemas.microsoft.com/office/drawing/2014/main" id="{A68870C1-39C5-E873-182D-C3283B50FC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89 CuadroTexto">
            <a:extLst>
              <a:ext uri="{FF2B5EF4-FFF2-40B4-BE49-F238E27FC236}">
                <a16:creationId xmlns:a16="http://schemas.microsoft.com/office/drawing/2014/main" id="{75C85E92-3790-3335-F49F-D22BFBB077AA}"/>
              </a:ext>
            </a:extLst>
          </p:cNvPr>
          <p:cNvSpPr txBox="1"/>
          <p:nvPr/>
        </p:nvSpPr>
        <p:spPr>
          <a:xfrm>
            <a:off x="459942" y="1554275"/>
            <a:ext cx="4197140" cy="988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Masivo</a:t>
            </a:r>
          </a:p>
        </p:txBody>
      </p:sp>
      <p:grpSp>
        <p:nvGrpSpPr>
          <p:cNvPr id="31" name="Agrupar 49">
            <a:extLst>
              <a:ext uri="{FF2B5EF4-FFF2-40B4-BE49-F238E27FC236}">
                <a16:creationId xmlns:a16="http://schemas.microsoft.com/office/drawing/2014/main" id="{3CB04010-736F-78EA-ECE1-07BA76E44F7E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32" name="CuadroTexto 33">
              <a:extLst>
                <a:ext uri="{FF2B5EF4-FFF2-40B4-BE49-F238E27FC236}">
                  <a16:creationId xmlns:a16="http://schemas.microsoft.com/office/drawing/2014/main" id="{744C96C5-C733-0457-C639-448D8CF71C4C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3" name="CuadroTexto 34">
              <a:extLst>
                <a:ext uri="{FF2B5EF4-FFF2-40B4-BE49-F238E27FC236}">
                  <a16:creationId xmlns:a16="http://schemas.microsoft.com/office/drawing/2014/main" id="{75476FCE-F5FE-6843-6D9E-A2C9733BA688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4" name="CuadroTexto 35">
              <a:extLst>
                <a:ext uri="{FF2B5EF4-FFF2-40B4-BE49-F238E27FC236}">
                  <a16:creationId xmlns:a16="http://schemas.microsoft.com/office/drawing/2014/main" id="{3668763E-B576-D53A-9145-D23A8C77D567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5" name="83 Rectángulo">
              <a:extLst>
                <a:ext uri="{FF2B5EF4-FFF2-40B4-BE49-F238E27FC236}">
                  <a16:creationId xmlns:a16="http://schemas.microsoft.com/office/drawing/2014/main" id="{3949C7D8-C722-DF38-A834-8F239E51141F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6" name="84 Rectángulo">
              <a:extLst>
                <a:ext uri="{FF2B5EF4-FFF2-40B4-BE49-F238E27FC236}">
                  <a16:creationId xmlns:a16="http://schemas.microsoft.com/office/drawing/2014/main" id="{3DDFFCDF-8CBA-C242-03B0-D1E5046B8773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7" name="17 Rectángulo">
              <a:extLst>
                <a:ext uri="{FF2B5EF4-FFF2-40B4-BE49-F238E27FC236}">
                  <a16:creationId xmlns:a16="http://schemas.microsoft.com/office/drawing/2014/main" id="{08C7CD30-EF67-436F-22CD-1DCDA7C150E8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43A3CA76-4762-C5AB-3FB4-D0573CE4D4E4}"/>
              </a:ext>
            </a:extLst>
          </p:cNvPr>
          <p:cNvCxnSpPr>
            <a:cxnSpLocks/>
            <a:stCxn id="30" idx="3"/>
            <a:endCxn id="43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9" name="Conector angular 25">
            <a:extLst>
              <a:ext uri="{FF2B5EF4-FFF2-40B4-BE49-F238E27FC236}">
                <a16:creationId xmlns:a16="http://schemas.microsoft.com/office/drawing/2014/main" id="{82744551-DC05-96B1-3302-9C2AD9CA8F47}"/>
              </a:ext>
            </a:extLst>
          </p:cNvPr>
          <p:cNvCxnSpPr>
            <a:cxnSpLocks/>
            <a:stCxn id="30" idx="1"/>
            <a:endCxn id="42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0" name="Conector angular 25">
            <a:extLst>
              <a:ext uri="{FF2B5EF4-FFF2-40B4-BE49-F238E27FC236}">
                <a16:creationId xmlns:a16="http://schemas.microsoft.com/office/drawing/2014/main" id="{ED15AF7F-2787-536E-8E28-CD8E471F1E14}"/>
              </a:ext>
            </a:extLst>
          </p:cNvPr>
          <p:cNvCxnSpPr>
            <a:cxnSpLocks/>
            <a:stCxn id="41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0" name="Tabla_IPN_GE_ME_SMM">
            <a:extLst>
              <a:ext uri="{FF2B5EF4-FFF2-40B4-BE49-F238E27FC236}">
                <a16:creationId xmlns:a16="http://schemas.microsoft.com/office/drawing/2014/main" id="{02E02031-70D6-E916-B83A-90E42003C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764874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72.1%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(53,541)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154582"/>
                  </a:ext>
                </a:extLst>
              </a:tr>
            </a:tbl>
          </a:graphicData>
        </a:graphic>
      </p:graphicFrame>
      <p:graphicFrame>
        <p:nvGraphicFramePr>
          <p:cNvPr id="41" name="Tabla_DET_GE_ME_SMM">
            <a:extLst>
              <a:ext uri="{FF2B5EF4-FFF2-40B4-BE49-F238E27FC236}">
                <a16:creationId xmlns:a16="http://schemas.microsoft.com/office/drawing/2014/main" id="{347A8F8E-EE22-5B43-478D-186DEBE72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753651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6.1%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(3,266)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2" name="Tabla_PAS_GE_ME_SMM">
            <a:extLst>
              <a:ext uri="{FF2B5EF4-FFF2-40B4-BE49-F238E27FC236}">
                <a16:creationId xmlns:a16="http://schemas.microsoft.com/office/drawing/2014/main" id="{A834CB5B-758A-B970-CD4D-0E2E35766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786045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15.7%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(8,407)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3" name="Tabla_PRO_GE_ME_SMM">
            <a:extLst>
              <a:ext uri="{FF2B5EF4-FFF2-40B4-BE49-F238E27FC236}">
                <a16:creationId xmlns:a16="http://schemas.microsoft.com/office/drawing/2014/main" id="{0FBFB9BA-03C5-32CA-723A-A30EAD65B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797372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78.2%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(41,868)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4" name="Grafico _don_GE_ME_SMM">
            <a:extLst>
              <a:ext uri="{FF2B5EF4-FFF2-40B4-BE49-F238E27FC236}">
                <a16:creationId xmlns:a16="http://schemas.microsoft.com/office/drawing/2014/main" id="{98FFEEF4-E3DC-05CE-A0E8-D8556F797E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740268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7" name="Tabla_DIF_GE_ME_SMM">
            <a:extLst>
              <a:ext uri="{FF2B5EF4-FFF2-40B4-BE49-F238E27FC236}">
                <a16:creationId xmlns:a16="http://schemas.microsoft.com/office/drawing/2014/main" id="{83D6EACD-FD6B-BA21-4B14-6FC433258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867696"/>
              </p:ext>
            </p:extLst>
          </p:nvPr>
        </p:nvGraphicFramePr>
        <p:xfrm>
          <a:off x="11619995" y="1726407"/>
          <a:ext cx="2692800" cy="5365272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191175067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1810364471"/>
                    </a:ext>
                  </a:extLst>
                </a:gridCol>
              </a:tblGrid>
              <a:tr h="363592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0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53,541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0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34,097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0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13,317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+10.0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51299"/>
                  </a:ext>
                </a:extLst>
              </a:tr>
              <a:tr h="1250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6,127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48.8%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49.9%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</a:tbl>
          </a:graphicData>
        </a:graphic>
      </p:graphicFrame>
      <p:graphicFrame>
        <p:nvGraphicFramePr>
          <p:cNvPr id="4" name="Grafico_bar_GE_ME_SMM">
            <a:extLst>
              <a:ext uri="{FF2B5EF4-FFF2-40B4-BE49-F238E27FC236}">
                <a16:creationId xmlns:a16="http://schemas.microsoft.com/office/drawing/2014/main" id="{65751E57-AE85-A901-D156-0D1FE34E8F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4488795"/>
              </p:ext>
            </p:extLst>
          </p:nvPr>
        </p:nvGraphicFramePr>
        <p:xfrm>
          <a:off x="5029509" y="2082801"/>
          <a:ext cx="6537600" cy="500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" name="25 CuadroTexto">
            <a:extLst>
              <a:ext uri="{FF2B5EF4-FFF2-40B4-BE49-F238E27FC236}">
                <a16:creationId xmlns:a16="http://schemas.microsoft.com/office/drawing/2014/main" id="{F8A85B64-3CFE-79A5-D7CE-627F1C2F69B4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</p:spTree>
    <p:extLst>
      <p:ext uri="{BB962C8B-B14F-4D97-AF65-F5344CB8AC3E}">
        <p14:creationId xmlns:p14="http://schemas.microsoft.com/office/powerpoint/2010/main" val="1210975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92B87-9C8A-6B91-CE1A-1D6CF3F83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eenfoque fiscal – Reforma Fiscal">
            <a:hlinkClick r:id="rId3" action="ppaction://hlinksldjump"/>
            <a:extLst>
              <a:ext uri="{FF2B5EF4-FFF2-40B4-BE49-F238E27FC236}">
                <a16:creationId xmlns:a16="http://schemas.microsoft.com/office/drawing/2014/main" id="{AC7D0B7A-3F5B-BA35-DF8A-7B57DE55C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079" y="4253536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25 CuadroTexto">
            <a:extLst>
              <a:ext uri="{FF2B5EF4-FFF2-40B4-BE49-F238E27FC236}">
                <a16:creationId xmlns:a16="http://schemas.microsoft.com/office/drawing/2014/main" id="{58CB0E04-33DD-CDE3-8BC7-727075B71EB0}"/>
              </a:ext>
            </a:extLst>
          </p:cNvPr>
          <p:cNvSpPr txBox="1"/>
          <p:nvPr/>
        </p:nvSpPr>
        <p:spPr>
          <a:xfrm>
            <a:off x="11753108" y="7058983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0A097C-AFC8-49B9-F2DD-DC7289B4E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pic>
        <p:nvPicPr>
          <p:cNvPr id="5" name="Imagen 32">
            <a:hlinkClick r:id="rId5" action="ppaction://hlinksldjump"/>
            <a:extLst>
              <a:ext uri="{FF2B5EF4-FFF2-40B4-BE49-F238E27FC236}">
                <a16:creationId xmlns:a16="http://schemas.microsoft.com/office/drawing/2014/main" id="{06A8C590-408A-3CE6-B87B-A1E1F2E90A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89 CuadroTexto">
            <a:extLst>
              <a:ext uri="{FF2B5EF4-FFF2-40B4-BE49-F238E27FC236}">
                <a16:creationId xmlns:a16="http://schemas.microsoft.com/office/drawing/2014/main" id="{E29F70F0-B03E-D29C-3204-BBB7CCC32331}"/>
              </a:ext>
            </a:extLst>
          </p:cNvPr>
          <p:cNvSpPr txBox="1"/>
          <p:nvPr/>
        </p:nvSpPr>
        <p:spPr>
          <a:xfrm>
            <a:off x="459942" y="1554275"/>
            <a:ext cx="41971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Masivo - Canales De Venta</a:t>
            </a:r>
          </a:p>
        </p:txBody>
      </p:sp>
      <p:grpSp>
        <p:nvGrpSpPr>
          <p:cNvPr id="29" name="Agrupar 49">
            <a:extLst>
              <a:ext uri="{FF2B5EF4-FFF2-40B4-BE49-F238E27FC236}">
                <a16:creationId xmlns:a16="http://schemas.microsoft.com/office/drawing/2014/main" id="{A50C278E-7BA0-6A50-C9AB-0A15113B6B6F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30" name="CuadroTexto 33">
              <a:extLst>
                <a:ext uri="{FF2B5EF4-FFF2-40B4-BE49-F238E27FC236}">
                  <a16:creationId xmlns:a16="http://schemas.microsoft.com/office/drawing/2014/main" id="{CD280FC6-E32D-1164-DD96-64C4A9016500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1" name="CuadroTexto 34">
              <a:extLst>
                <a:ext uri="{FF2B5EF4-FFF2-40B4-BE49-F238E27FC236}">
                  <a16:creationId xmlns:a16="http://schemas.microsoft.com/office/drawing/2014/main" id="{B16DE482-46F0-7054-F6F8-F1BDE94203CD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2" name="CuadroTexto 35">
              <a:extLst>
                <a:ext uri="{FF2B5EF4-FFF2-40B4-BE49-F238E27FC236}">
                  <a16:creationId xmlns:a16="http://schemas.microsoft.com/office/drawing/2014/main" id="{AC999BEB-2E94-EE1A-DEB0-AE9835EF6057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3" name="83 Rectángulo">
              <a:extLst>
                <a:ext uri="{FF2B5EF4-FFF2-40B4-BE49-F238E27FC236}">
                  <a16:creationId xmlns:a16="http://schemas.microsoft.com/office/drawing/2014/main" id="{E25156DC-4076-D0C8-513E-C9B100BE3E01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4" name="84 Rectángulo">
              <a:extLst>
                <a:ext uri="{FF2B5EF4-FFF2-40B4-BE49-F238E27FC236}">
                  <a16:creationId xmlns:a16="http://schemas.microsoft.com/office/drawing/2014/main" id="{10918EFD-BF74-A21B-08E8-01A9527F3AE9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5" name="17 Rectángulo">
              <a:extLst>
                <a:ext uri="{FF2B5EF4-FFF2-40B4-BE49-F238E27FC236}">
                  <a16:creationId xmlns:a16="http://schemas.microsoft.com/office/drawing/2014/main" id="{4FBF7C2C-8166-BD23-2116-4A0C62A17F9B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6" name="Conector angular 25">
            <a:extLst>
              <a:ext uri="{FF2B5EF4-FFF2-40B4-BE49-F238E27FC236}">
                <a16:creationId xmlns:a16="http://schemas.microsoft.com/office/drawing/2014/main" id="{31431DAE-C230-3DEB-C9B3-FA272F18499B}"/>
              </a:ext>
            </a:extLst>
          </p:cNvPr>
          <p:cNvCxnSpPr>
            <a:cxnSpLocks/>
            <a:stCxn id="28" idx="3"/>
            <a:endCxn id="41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7" name="Conector angular 25">
            <a:extLst>
              <a:ext uri="{FF2B5EF4-FFF2-40B4-BE49-F238E27FC236}">
                <a16:creationId xmlns:a16="http://schemas.microsoft.com/office/drawing/2014/main" id="{CE970C23-87D0-774F-2E94-BAD2F3D765CE}"/>
              </a:ext>
            </a:extLst>
          </p:cNvPr>
          <p:cNvCxnSpPr>
            <a:cxnSpLocks/>
            <a:stCxn id="28" idx="1"/>
            <a:endCxn id="40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8D9FD322-D0F1-F3AC-0111-A10F6A50027E}"/>
              </a:ext>
            </a:extLst>
          </p:cNvPr>
          <p:cNvCxnSpPr>
            <a:cxnSpLocks/>
            <a:stCxn id="39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8" name="Tabla_IPN_GE_ME_SMM_CV">
            <a:extLst>
              <a:ext uri="{FF2B5EF4-FFF2-40B4-BE49-F238E27FC236}">
                <a16:creationId xmlns:a16="http://schemas.microsoft.com/office/drawing/2014/main" id="{41684F2B-761D-BB80-5DB6-EB107913F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126779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76.2%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(34,097)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233529"/>
                  </a:ext>
                </a:extLst>
              </a:tr>
            </a:tbl>
          </a:graphicData>
        </a:graphic>
      </p:graphicFrame>
      <p:graphicFrame>
        <p:nvGraphicFramePr>
          <p:cNvPr id="39" name="Tabla_DET_GE_ME_SMM_CV">
            <a:extLst>
              <a:ext uri="{FF2B5EF4-FFF2-40B4-BE49-F238E27FC236}">
                <a16:creationId xmlns:a16="http://schemas.microsoft.com/office/drawing/2014/main" id="{65BBF71F-4312-261C-0C67-E5DBCECCC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45169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4.6%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(1,555)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0" name="Tabla_PAS_GE_ME_SMM_CV">
            <a:extLst>
              <a:ext uri="{FF2B5EF4-FFF2-40B4-BE49-F238E27FC236}">
                <a16:creationId xmlns:a16="http://schemas.microsoft.com/office/drawing/2014/main" id="{8065162D-F2F3-640A-FCAF-0C6DD8C94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636080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14.6%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(4,995)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1" name="Tabla_PRO_GE_ME_SMM_CV">
            <a:extLst>
              <a:ext uri="{FF2B5EF4-FFF2-40B4-BE49-F238E27FC236}">
                <a16:creationId xmlns:a16="http://schemas.microsoft.com/office/drawing/2014/main" id="{83B32C31-07DE-B23D-517D-901483949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43801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80.8%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(27,547)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2" name="Grafico_don_GE_ME_SMM_CV">
            <a:extLst>
              <a:ext uri="{FF2B5EF4-FFF2-40B4-BE49-F238E27FC236}">
                <a16:creationId xmlns:a16="http://schemas.microsoft.com/office/drawing/2014/main" id="{C2AFCF59-E775-174D-E5DA-3C697C77CA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926095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7" name="Tabla_DIF_GE_ME_SMM_CV">
            <a:extLst>
              <a:ext uri="{FF2B5EF4-FFF2-40B4-BE49-F238E27FC236}">
                <a16:creationId xmlns:a16="http://schemas.microsoft.com/office/drawing/2014/main" id="{8FE2D468-29DF-89F2-C3E3-F92B754B3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573972"/>
              </p:ext>
            </p:extLst>
          </p:nvPr>
        </p:nvGraphicFramePr>
        <p:xfrm>
          <a:off x="11648384" y="1553053"/>
          <a:ext cx="2692800" cy="5396388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3109897156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1950319631"/>
                    </a:ext>
                  </a:extLst>
                </a:gridCol>
              </a:tblGrid>
              <a:tr h="361928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689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34,097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689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33,577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689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382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  <a:tr h="100689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137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78.1%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668854"/>
                  </a:ext>
                </a:extLst>
              </a:tr>
              <a:tr h="10068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1" i="0" u="none" strike="noStrike" dirty="0">
                          <a:effectLst/>
                          <a:latin typeface="Montserrat" panose="00000500000000000000" pitchFamily="2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587726"/>
                  </a:ext>
                </a:extLst>
              </a:tr>
            </a:tbl>
          </a:graphicData>
        </a:graphic>
      </p:graphicFrame>
      <p:graphicFrame>
        <p:nvGraphicFramePr>
          <p:cNvPr id="4" name="Grafico_bar_GE_ME_SMM_CV">
            <a:extLst>
              <a:ext uri="{FF2B5EF4-FFF2-40B4-BE49-F238E27FC236}">
                <a16:creationId xmlns:a16="http://schemas.microsoft.com/office/drawing/2014/main" id="{897D9A30-18F6-CEF3-977F-0271AD3D30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2025368"/>
              </p:ext>
            </p:extLst>
          </p:nvPr>
        </p:nvGraphicFramePr>
        <p:xfrm>
          <a:off x="5029510" y="1899921"/>
          <a:ext cx="6537600" cy="5049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750463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E5AC0-18CC-CC81-3ED1-EE3C276E0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09D6E-5F65-6123-4ED8-2F8B5440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pic>
        <p:nvPicPr>
          <p:cNvPr id="5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14D1D639-2BA0-6BAF-1733-B0BA277C14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89 CuadroTexto">
            <a:extLst>
              <a:ext uri="{FF2B5EF4-FFF2-40B4-BE49-F238E27FC236}">
                <a16:creationId xmlns:a16="http://schemas.microsoft.com/office/drawing/2014/main" id="{96A364CE-6725-FFD4-A201-B6F2020DD7D9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Masivo - Canales de venta – Canales Digitales</a:t>
            </a:r>
          </a:p>
        </p:txBody>
      </p:sp>
      <p:grpSp>
        <p:nvGrpSpPr>
          <p:cNvPr id="27" name="Agrupar 49">
            <a:extLst>
              <a:ext uri="{FF2B5EF4-FFF2-40B4-BE49-F238E27FC236}">
                <a16:creationId xmlns:a16="http://schemas.microsoft.com/office/drawing/2014/main" id="{222A90B9-3EF4-8242-8262-D96BCD5735E5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8" name="CuadroTexto 33">
              <a:extLst>
                <a:ext uri="{FF2B5EF4-FFF2-40B4-BE49-F238E27FC236}">
                  <a16:creationId xmlns:a16="http://schemas.microsoft.com/office/drawing/2014/main" id="{5A2586EC-63A1-701A-2DFE-EFBFAD47B0AC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9" name="CuadroTexto 34">
              <a:extLst>
                <a:ext uri="{FF2B5EF4-FFF2-40B4-BE49-F238E27FC236}">
                  <a16:creationId xmlns:a16="http://schemas.microsoft.com/office/drawing/2014/main" id="{F53B4943-34C5-AD9D-074F-72E05A7F51EE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0" name="CuadroTexto 35">
              <a:extLst>
                <a:ext uri="{FF2B5EF4-FFF2-40B4-BE49-F238E27FC236}">
                  <a16:creationId xmlns:a16="http://schemas.microsoft.com/office/drawing/2014/main" id="{50DE4A2F-E7DC-1804-87E2-B32DE1429862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1" name="83 Rectángulo">
              <a:extLst>
                <a:ext uri="{FF2B5EF4-FFF2-40B4-BE49-F238E27FC236}">
                  <a16:creationId xmlns:a16="http://schemas.microsoft.com/office/drawing/2014/main" id="{47FD3DA6-E223-7415-623A-8C94598EB162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2" name="84 Rectángulo">
              <a:extLst>
                <a:ext uri="{FF2B5EF4-FFF2-40B4-BE49-F238E27FC236}">
                  <a16:creationId xmlns:a16="http://schemas.microsoft.com/office/drawing/2014/main" id="{0CB55E96-DF01-4614-B666-70EBAEDAFF90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3" name="17 Rectángulo">
              <a:extLst>
                <a:ext uri="{FF2B5EF4-FFF2-40B4-BE49-F238E27FC236}">
                  <a16:creationId xmlns:a16="http://schemas.microsoft.com/office/drawing/2014/main" id="{EA9E8724-E357-8714-6402-D24D27B208FD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4" name="Conector angular 25">
            <a:extLst>
              <a:ext uri="{FF2B5EF4-FFF2-40B4-BE49-F238E27FC236}">
                <a16:creationId xmlns:a16="http://schemas.microsoft.com/office/drawing/2014/main" id="{A850F90E-E891-C9F3-D400-F2D64E488C0A}"/>
              </a:ext>
            </a:extLst>
          </p:cNvPr>
          <p:cNvCxnSpPr>
            <a:cxnSpLocks/>
            <a:stCxn id="26" idx="3"/>
            <a:endCxn id="39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5" name="Conector angular 25">
            <a:extLst>
              <a:ext uri="{FF2B5EF4-FFF2-40B4-BE49-F238E27FC236}">
                <a16:creationId xmlns:a16="http://schemas.microsoft.com/office/drawing/2014/main" id="{872915DA-7570-1EA2-C014-7F3A4013232C}"/>
              </a:ext>
            </a:extLst>
          </p:cNvPr>
          <p:cNvCxnSpPr>
            <a:cxnSpLocks/>
            <a:stCxn id="26" idx="1"/>
            <a:endCxn id="38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6" name="Conector angular 25">
            <a:extLst>
              <a:ext uri="{FF2B5EF4-FFF2-40B4-BE49-F238E27FC236}">
                <a16:creationId xmlns:a16="http://schemas.microsoft.com/office/drawing/2014/main" id="{178D5B41-9B2D-F0E9-0BC5-695FC2A52430}"/>
              </a:ext>
            </a:extLst>
          </p:cNvPr>
          <p:cNvCxnSpPr>
            <a:cxnSpLocks/>
            <a:stCxn id="37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6" name="Tabla_IPN_GE_CD">
            <a:extLst>
              <a:ext uri="{FF2B5EF4-FFF2-40B4-BE49-F238E27FC236}">
                <a16:creationId xmlns:a16="http://schemas.microsoft.com/office/drawing/2014/main" id="{997F108C-6548-4786-5A46-CF450BA13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002800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62.3%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(382)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273618"/>
                  </a:ext>
                </a:extLst>
              </a:tr>
            </a:tbl>
          </a:graphicData>
        </a:graphic>
      </p:graphicFrame>
      <p:graphicFrame>
        <p:nvGraphicFramePr>
          <p:cNvPr id="37" name="Tabla_DET_GE_CD">
            <a:extLst>
              <a:ext uri="{FF2B5EF4-FFF2-40B4-BE49-F238E27FC236}">
                <a16:creationId xmlns:a16="http://schemas.microsoft.com/office/drawing/2014/main" id="{006E0205-8B62-0ECC-5135-49B6E2DAB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150350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5.5%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(21)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8" name="Tabla_PAS_GE_CD">
            <a:extLst>
              <a:ext uri="{FF2B5EF4-FFF2-40B4-BE49-F238E27FC236}">
                <a16:creationId xmlns:a16="http://schemas.microsoft.com/office/drawing/2014/main" id="{89E56466-FD19-DDBF-94C8-B8D5B31E7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184473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26.7%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(102)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9" name="Tabla_PRO_GE_CD">
            <a:extLst>
              <a:ext uri="{FF2B5EF4-FFF2-40B4-BE49-F238E27FC236}">
                <a16:creationId xmlns:a16="http://schemas.microsoft.com/office/drawing/2014/main" id="{B52F8DB3-CFB1-ACAC-B046-112A8E3CE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099001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67.8%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(259)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0" name="Grafico _don_GE_CD">
            <a:extLst>
              <a:ext uri="{FF2B5EF4-FFF2-40B4-BE49-F238E27FC236}">
                <a16:creationId xmlns:a16="http://schemas.microsoft.com/office/drawing/2014/main" id="{DD62F927-A8C6-7035-8421-83CF8FD3C2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142788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" name="Grafico_bar_GE_CD">
            <a:extLst>
              <a:ext uri="{FF2B5EF4-FFF2-40B4-BE49-F238E27FC236}">
                <a16:creationId xmlns:a16="http://schemas.microsoft.com/office/drawing/2014/main" id="{46C15834-5A54-5FE2-E4CC-D9D982058E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2278471"/>
              </p:ext>
            </p:extLst>
          </p:nvPr>
        </p:nvGraphicFramePr>
        <p:xfrm>
          <a:off x="5034928" y="1899921"/>
          <a:ext cx="6537600" cy="5059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7" name="Tabla_DIF_GE_CD">
            <a:extLst>
              <a:ext uri="{FF2B5EF4-FFF2-40B4-BE49-F238E27FC236}">
                <a16:creationId xmlns:a16="http://schemas.microsoft.com/office/drawing/2014/main" id="{319CCA58-753E-7B5D-E9C2-34C275CD4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820091"/>
              </p:ext>
            </p:extLst>
          </p:nvPr>
        </p:nvGraphicFramePr>
        <p:xfrm>
          <a:off x="11667229" y="1726405"/>
          <a:ext cx="2692800" cy="5036889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113820386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3440054555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896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382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896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314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59.9%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-3.0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896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61.4%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+12.1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</a:tbl>
          </a:graphicData>
        </a:graphic>
      </p:graphicFrame>
      <p:sp>
        <p:nvSpPr>
          <p:cNvPr id="3" name="25 CuadroTexto">
            <a:extLst>
              <a:ext uri="{FF2B5EF4-FFF2-40B4-BE49-F238E27FC236}">
                <a16:creationId xmlns:a16="http://schemas.microsoft.com/office/drawing/2014/main" id="{79AEB6F0-F756-7BE2-1B9F-4CE94D09395B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</p:spTree>
    <p:extLst>
      <p:ext uri="{BB962C8B-B14F-4D97-AF65-F5344CB8AC3E}">
        <p14:creationId xmlns:p14="http://schemas.microsoft.com/office/powerpoint/2010/main" val="3443968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1F383-83FD-3877-B74D-FB5E15A91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5 CuadroTexto">
            <a:extLst>
              <a:ext uri="{FF2B5EF4-FFF2-40B4-BE49-F238E27FC236}">
                <a16:creationId xmlns:a16="http://schemas.microsoft.com/office/drawing/2014/main" id="{6795E5F5-DEF4-E73F-2AF2-302E94FAE257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7B8A1B-28DD-D311-308C-0C41562F3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Grupo Elektra 1Q 2026</a:t>
            </a:r>
          </a:p>
        </p:txBody>
      </p:sp>
      <p:pic>
        <p:nvPicPr>
          <p:cNvPr id="5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98124F82-9003-66B7-0139-3CF0E6BF27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89 CuadroTexto">
            <a:extLst>
              <a:ext uri="{FF2B5EF4-FFF2-40B4-BE49-F238E27FC236}">
                <a16:creationId xmlns:a16="http://schemas.microsoft.com/office/drawing/2014/main" id="{1DCAF52E-48D0-8165-8F7C-B0E0185DC359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Masivo - Empresas</a:t>
            </a:r>
          </a:p>
        </p:txBody>
      </p:sp>
      <p:grpSp>
        <p:nvGrpSpPr>
          <p:cNvPr id="27" name="Agrupar 49">
            <a:extLst>
              <a:ext uri="{FF2B5EF4-FFF2-40B4-BE49-F238E27FC236}">
                <a16:creationId xmlns:a16="http://schemas.microsoft.com/office/drawing/2014/main" id="{C763171D-375C-B844-47AF-976B528E1C80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8" name="CuadroTexto 33">
              <a:extLst>
                <a:ext uri="{FF2B5EF4-FFF2-40B4-BE49-F238E27FC236}">
                  <a16:creationId xmlns:a16="http://schemas.microsoft.com/office/drawing/2014/main" id="{C80A9ABD-1176-FD50-A703-6BA91F7DD0F9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9" name="CuadroTexto 34">
              <a:extLst>
                <a:ext uri="{FF2B5EF4-FFF2-40B4-BE49-F238E27FC236}">
                  <a16:creationId xmlns:a16="http://schemas.microsoft.com/office/drawing/2014/main" id="{FAB171F3-0166-047A-42F6-CB97D953BA08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0" name="CuadroTexto 35">
              <a:extLst>
                <a:ext uri="{FF2B5EF4-FFF2-40B4-BE49-F238E27FC236}">
                  <a16:creationId xmlns:a16="http://schemas.microsoft.com/office/drawing/2014/main" id="{7F062BF1-A4CB-2FE0-7F92-CAFE8AB7C45E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1" name="83 Rectángulo">
              <a:extLst>
                <a:ext uri="{FF2B5EF4-FFF2-40B4-BE49-F238E27FC236}">
                  <a16:creationId xmlns:a16="http://schemas.microsoft.com/office/drawing/2014/main" id="{F7567C3B-F9C9-9DC1-621B-B6E9C398720D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2" name="84 Rectángulo">
              <a:extLst>
                <a:ext uri="{FF2B5EF4-FFF2-40B4-BE49-F238E27FC236}">
                  <a16:creationId xmlns:a16="http://schemas.microsoft.com/office/drawing/2014/main" id="{D61260DD-D8B1-0CC9-186D-01CE0076835D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3" name="17 Rectángulo">
              <a:extLst>
                <a:ext uri="{FF2B5EF4-FFF2-40B4-BE49-F238E27FC236}">
                  <a16:creationId xmlns:a16="http://schemas.microsoft.com/office/drawing/2014/main" id="{18B89FF4-8930-C351-4F71-37620BAFA633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4" name="Conector angular 25">
            <a:extLst>
              <a:ext uri="{FF2B5EF4-FFF2-40B4-BE49-F238E27FC236}">
                <a16:creationId xmlns:a16="http://schemas.microsoft.com/office/drawing/2014/main" id="{F5B85FF1-11B0-19EB-8B36-C127A11A315B}"/>
              </a:ext>
            </a:extLst>
          </p:cNvPr>
          <p:cNvCxnSpPr>
            <a:cxnSpLocks/>
            <a:stCxn id="26" idx="3"/>
            <a:endCxn id="39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5" name="Conector angular 25">
            <a:extLst>
              <a:ext uri="{FF2B5EF4-FFF2-40B4-BE49-F238E27FC236}">
                <a16:creationId xmlns:a16="http://schemas.microsoft.com/office/drawing/2014/main" id="{F9DF9D6D-43D0-7654-7D6E-BE8AB16E62C7}"/>
              </a:ext>
            </a:extLst>
          </p:cNvPr>
          <p:cNvCxnSpPr>
            <a:cxnSpLocks/>
            <a:stCxn id="26" idx="1"/>
            <a:endCxn id="38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6" name="Conector angular 25">
            <a:extLst>
              <a:ext uri="{FF2B5EF4-FFF2-40B4-BE49-F238E27FC236}">
                <a16:creationId xmlns:a16="http://schemas.microsoft.com/office/drawing/2014/main" id="{8CB1548A-9232-9C74-FEAE-CE5DE1EED5A3}"/>
              </a:ext>
            </a:extLst>
          </p:cNvPr>
          <p:cNvCxnSpPr>
            <a:cxnSpLocks/>
            <a:stCxn id="37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6" name="Tabla_IPN_GE_E">
            <a:extLst>
              <a:ext uri="{FF2B5EF4-FFF2-40B4-BE49-F238E27FC236}">
                <a16:creationId xmlns:a16="http://schemas.microsoft.com/office/drawing/2014/main" id="{2A21E191-C899-3DCF-FAA8-0126E77C3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000551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48.8%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(6,127)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074350"/>
                  </a:ext>
                </a:extLst>
              </a:tr>
            </a:tbl>
          </a:graphicData>
        </a:graphic>
      </p:graphicFrame>
      <p:graphicFrame>
        <p:nvGraphicFramePr>
          <p:cNvPr id="37" name="Tabla_DET_GE_E">
            <a:extLst>
              <a:ext uri="{FF2B5EF4-FFF2-40B4-BE49-F238E27FC236}">
                <a16:creationId xmlns:a16="http://schemas.microsoft.com/office/drawing/2014/main" id="{2B0340A4-A5DC-D821-1A27-1890FB472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679910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13.3%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(812)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8" name="Tabla_PAS_GE_E">
            <a:extLst>
              <a:ext uri="{FF2B5EF4-FFF2-40B4-BE49-F238E27FC236}">
                <a16:creationId xmlns:a16="http://schemas.microsoft.com/office/drawing/2014/main" id="{00CFD8EB-6566-12BF-B1E8-850D4664F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830474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24.7%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(1,511)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9" name="Tabla_PRO_GE_E">
            <a:extLst>
              <a:ext uri="{FF2B5EF4-FFF2-40B4-BE49-F238E27FC236}">
                <a16:creationId xmlns:a16="http://schemas.microsoft.com/office/drawing/2014/main" id="{ABBDEBC3-27DC-838D-50CF-1CD32FA5E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493038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62.1%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(3,804)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0" name="Grafico _don_GE_E">
            <a:extLst>
              <a:ext uri="{FF2B5EF4-FFF2-40B4-BE49-F238E27FC236}">
                <a16:creationId xmlns:a16="http://schemas.microsoft.com/office/drawing/2014/main" id="{9D13BC61-C331-7908-74CA-EB24598825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7646724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" name="Grafico_bar_GE_E">
            <a:extLst>
              <a:ext uri="{FF2B5EF4-FFF2-40B4-BE49-F238E27FC236}">
                <a16:creationId xmlns:a16="http://schemas.microsoft.com/office/drawing/2014/main" id="{C2332C8D-214E-0B8C-B2CD-92B6B44791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1572513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7" name="Tabla_DIF_GE_E">
            <a:extLst>
              <a:ext uri="{FF2B5EF4-FFF2-40B4-BE49-F238E27FC236}">
                <a16:creationId xmlns:a16="http://schemas.microsoft.com/office/drawing/2014/main" id="{B19DE48B-FD4C-547E-76D8-F2BE02399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340192"/>
              </p:ext>
            </p:extLst>
          </p:nvPr>
        </p:nvGraphicFramePr>
        <p:xfrm>
          <a:off x="11640498" y="1553689"/>
          <a:ext cx="2692800" cy="5658482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363056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2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6,127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48.8%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49.9%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3,856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47.8%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48.6%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2,040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47.9%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49.9%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-1.9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327080"/>
                  </a:ext>
                </a:extLst>
              </a:tr>
              <a:tr h="882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56.2%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65.7%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-9.4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  <a:tr h="882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89.9%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84.4%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+5.5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668854"/>
                  </a:ext>
                </a:extLst>
              </a:tr>
              <a:tr h="882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60.4%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+13.2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352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856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D6FA9-2692-CA34-D642-9A240FDF3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25 CuadroTexto">
            <a:extLst>
              <a:ext uri="{FF2B5EF4-FFF2-40B4-BE49-F238E27FC236}">
                <a16:creationId xmlns:a16="http://schemas.microsoft.com/office/drawing/2014/main" id="{5BF639EA-FA5E-4EDB-4BAC-DC1A30E02084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7372D9-9BDE-3546-BF12-9D90EC7E3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Grupo Elektra 1Q 2026</a:t>
            </a:r>
          </a:p>
        </p:txBody>
      </p:sp>
      <p:pic>
        <p:nvPicPr>
          <p:cNvPr id="5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109F94FF-5144-127B-08B0-148797D77B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89 CuadroTexto">
            <a:extLst>
              <a:ext uri="{FF2B5EF4-FFF2-40B4-BE49-F238E27FC236}">
                <a16:creationId xmlns:a16="http://schemas.microsoft.com/office/drawing/2014/main" id="{720B7B49-7841-2A47-B0DD-39823A623A4F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Masivo – Unidades De Negocio</a:t>
            </a:r>
          </a:p>
        </p:txBody>
      </p:sp>
      <p:grpSp>
        <p:nvGrpSpPr>
          <p:cNvPr id="26" name="Agrupar 49">
            <a:extLst>
              <a:ext uri="{FF2B5EF4-FFF2-40B4-BE49-F238E27FC236}">
                <a16:creationId xmlns:a16="http://schemas.microsoft.com/office/drawing/2014/main" id="{18802D81-5A87-1070-23E1-3750A82BC64C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7" name="CuadroTexto 33">
              <a:extLst>
                <a:ext uri="{FF2B5EF4-FFF2-40B4-BE49-F238E27FC236}">
                  <a16:creationId xmlns:a16="http://schemas.microsoft.com/office/drawing/2014/main" id="{E957CBE0-57D1-628B-6AEF-055EBE6B903D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8" name="CuadroTexto 34">
              <a:extLst>
                <a:ext uri="{FF2B5EF4-FFF2-40B4-BE49-F238E27FC236}">
                  <a16:creationId xmlns:a16="http://schemas.microsoft.com/office/drawing/2014/main" id="{FB1BAEC9-BBA0-87B0-6FA3-D64EA6C64FD9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9" name="CuadroTexto 35">
              <a:extLst>
                <a:ext uri="{FF2B5EF4-FFF2-40B4-BE49-F238E27FC236}">
                  <a16:creationId xmlns:a16="http://schemas.microsoft.com/office/drawing/2014/main" id="{63B3C53A-9C2E-CF48-32B2-167CA0FE73D6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0" name="83 Rectángulo">
              <a:extLst>
                <a:ext uri="{FF2B5EF4-FFF2-40B4-BE49-F238E27FC236}">
                  <a16:creationId xmlns:a16="http://schemas.microsoft.com/office/drawing/2014/main" id="{C560F33B-37B6-9406-237F-78275BB8A7B3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1" name="84 Rectángulo">
              <a:extLst>
                <a:ext uri="{FF2B5EF4-FFF2-40B4-BE49-F238E27FC236}">
                  <a16:creationId xmlns:a16="http://schemas.microsoft.com/office/drawing/2014/main" id="{E91E6E34-16E6-EBBB-82D7-6422C735EF65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2" name="17 Rectángulo">
              <a:extLst>
                <a:ext uri="{FF2B5EF4-FFF2-40B4-BE49-F238E27FC236}">
                  <a16:creationId xmlns:a16="http://schemas.microsoft.com/office/drawing/2014/main" id="{BE8B9B23-437B-3080-BDC5-CFFB257006A1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3" name="Conector angular 25">
            <a:extLst>
              <a:ext uri="{FF2B5EF4-FFF2-40B4-BE49-F238E27FC236}">
                <a16:creationId xmlns:a16="http://schemas.microsoft.com/office/drawing/2014/main" id="{BD10B5C5-5649-77DF-0863-3E4DABB7CF4F}"/>
              </a:ext>
            </a:extLst>
          </p:cNvPr>
          <p:cNvCxnSpPr>
            <a:cxnSpLocks/>
            <a:stCxn id="36" idx="3"/>
            <a:endCxn id="39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4" name="Conector angular 25">
            <a:extLst>
              <a:ext uri="{FF2B5EF4-FFF2-40B4-BE49-F238E27FC236}">
                <a16:creationId xmlns:a16="http://schemas.microsoft.com/office/drawing/2014/main" id="{F6BD9D45-1568-2183-6A99-5B8F207BF587}"/>
              </a:ext>
            </a:extLst>
          </p:cNvPr>
          <p:cNvCxnSpPr>
            <a:cxnSpLocks/>
            <a:stCxn id="36" idx="1"/>
            <a:endCxn id="38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5" name="Conector angular 25">
            <a:extLst>
              <a:ext uri="{FF2B5EF4-FFF2-40B4-BE49-F238E27FC236}">
                <a16:creationId xmlns:a16="http://schemas.microsoft.com/office/drawing/2014/main" id="{71522BE8-FB6F-6DC8-5886-464C8CF8416F}"/>
              </a:ext>
            </a:extLst>
          </p:cNvPr>
          <p:cNvCxnSpPr>
            <a:cxnSpLocks/>
            <a:stCxn id="37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6" name="Tabla_IPN_GE_UD">
            <a:extLst>
              <a:ext uri="{FF2B5EF4-FFF2-40B4-BE49-F238E27FC236}">
                <a16:creationId xmlns:a16="http://schemas.microsoft.com/office/drawing/2014/main" id="{2E745E71-7358-7824-17FF-96DBA4EDB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963313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72.2%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(13,317)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649005"/>
                  </a:ext>
                </a:extLst>
              </a:tr>
            </a:tbl>
          </a:graphicData>
        </a:graphic>
      </p:graphicFrame>
      <p:graphicFrame>
        <p:nvGraphicFramePr>
          <p:cNvPr id="37" name="Tabla_DET_GE_UD">
            <a:extLst>
              <a:ext uri="{FF2B5EF4-FFF2-40B4-BE49-F238E27FC236}">
                <a16:creationId xmlns:a16="http://schemas.microsoft.com/office/drawing/2014/main" id="{86BB4FE0-F240-4E9E-7AB8-7643C9524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706664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6.8%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(899)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8" name="Tabla_PAS_GE_UD">
            <a:extLst>
              <a:ext uri="{FF2B5EF4-FFF2-40B4-BE49-F238E27FC236}">
                <a16:creationId xmlns:a16="http://schemas.microsoft.com/office/drawing/2014/main" id="{B206E66A-BB3B-0DA7-2383-4BF02A0CE1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82464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14.3%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(1,901)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9" name="Tabla_PRO_GE_UD">
            <a:extLst>
              <a:ext uri="{FF2B5EF4-FFF2-40B4-BE49-F238E27FC236}">
                <a16:creationId xmlns:a16="http://schemas.microsoft.com/office/drawing/2014/main" id="{E69C3762-D1A5-F897-893F-E0D6F48E6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053352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79.0%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(10,517)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0" name="Grafico _don_GE_UD">
            <a:extLst>
              <a:ext uri="{FF2B5EF4-FFF2-40B4-BE49-F238E27FC236}">
                <a16:creationId xmlns:a16="http://schemas.microsoft.com/office/drawing/2014/main" id="{F48F1F8B-AAAC-E415-FF3D-3CC97A77D4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58324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1" name="Grafico_bar_GE_UD">
            <a:extLst>
              <a:ext uri="{FF2B5EF4-FFF2-40B4-BE49-F238E27FC236}">
                <a16:creationId xmlns:a16="http://schemas.microsoft.com/office/drawing/2014/main" id="{3F691999-404A-478A-3208-E80B4B9A30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5633962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2" name="Tabla_DIF_GE_UD">
            <a:extLst>
              <a:ext uri="{FF2B5EF4-FFF2-40B4-BE49-F238E27FC236}">
                <a16:creationId xmlns:a16="http://schemas.microsoft.com/office/drawing/2014/main" id="{8E21C43A-D08E-B135-1021-801704872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345065"/>
              </p:ext>
            </p:extLst>
          </p:nvPr>
        </p:nvGraphicFramePr>
        <p:xfrm>
          <a:off x="11640498" y="1553689"/>
          <a:ext cx="2692800" cy="5658483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36839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13,317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+10.0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13,067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+10.3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136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77.9%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-5.1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327080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114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-1.9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52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30A73-1909-82FB-46A4-665262036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25 CuadroTexto">
            <a:extLst>
              <a:ext uri="{FF2B5EF4-FFF2-40B4-BE49-F238E27FC236}">
                <a16:creationId xmlns:a16="http://schemas.microsoft.com/office/drawing/2014/main" id="{6AB25992-F090-DA71-FB44-5CB59504E278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9" name="Picture 4" descr="eenfoque fiscal – Reforma Fiscal">
            <a:hlinkClick r:id="rId3" action="ppaction://hlinksldjump"/>
            <a:extLst>
              <a:ext uri="{FF2B5EF4-FFF2-40B4-BE49-F238E27FC236}">
                <a16:creationId xmlns:a16="http://schemas.microsoft.com/office/drawing/2014/main" id="{DE13731C-DACF-4DAD-99CA-8E0562ADB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592" y="3703535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4" descr="eenfoque fiscal – Reforma Fiscal">
            <a:hlinkClick r:id="rId5" action="ppaction://hlinksldjump"/>
            <a:extLst>
              <a:ext uri="{FF2B5EF4-FFF2-40B4-BE49-F238E27FC236}">
                <a16:creationId xmlns:a16="http://schemas.microsoft.com/office/drawing/2014/main" id="{921D446C-E52E-06EB-E336-9D7F0F4A3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742" y="5036920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1E7113C-915F-2A52-9D24-A4CDBD670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pic>
        <p:nvPicPr>
          <p:cNvPr id="5" name="Imagen 32">
            <a:hlinkClick r:id="rId6" action="ppaction://hlinksldjump"/>
            <a:extLst>
              <a:ext uri="{FF2B5EF4-FFF2-40B4-BE49-F238E27FC236}">
                <a16:creationId xmlns:a16="http://schemas.microsoft.com/office/drawing/2014/main" id="{8A46331D-5729-487D-B69F-7C1EFAEF37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89 CuadroTexto">
            <a:extLst>
              <a:ext uri="{FF2B5EF4-FFF2-40B4-BE49-F238E27FC236}">
                <a16:creationId xmlns:a16="http://schemas.microsoft.com/office/drawing/2014/main" id="{47793596-12CE-3D27-2F4A-B3D00BF47A71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Corporativo</a:t>
            </a:r>
          </a:p>
        </p:txBody>
      </p:sp>
      <p:grpSp>
        <p:nvGrpSpPr>
          <p:cNvPr id="29" name="Agrupar 49">
            <a:extLst>
              <a:ext uri="{FF2B5EF4-FFF2-40B4-BE49-F238E27FC236}">
                <a16:creationId xmlns:a16="http://schemas.microsoft.com/office/drawing/2014/main" id="{5A8768F6-B8D2-DC2C-9FB5-2763F77BBA05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30" name="CuadroTexto 33">
              <a:extLst>
                <a:ext uri="{FF2B5EF4-FFF2-40B4-BE49-F238E27FC236}">
                  <a16:creationId xmlns:a16="http://schemas.microsoft.com/office/drawing/2014/main" id="{38FF2FD2-7002-83A7-6ABF-D53DD0DC3AED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1" name="CuadroTexto 34">
              <a:extLst>
                <a:ext uri="{FF2B5EF4-FFF2-40B4-BE49-F238E27FC236}">
                  <a16:creationId xmlns:a16="http://schemas.microsoft.com/office/drawing/2014/main" id="{B1D864A0-E2D1-FF8E-D1F9-F2A9C57E65AE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2" name="CuadroTexto 35">
              <a:extLst>
                <a:ext uri="{FF2B5EF4-FFF2-40B4-BE49-F238E27FC236}">
                  <a16:creationId xmlns:a16="http://schemas.microsoft.com/office/drawing/2014/main" id="{94889360-6713-EC0B-1D67-EA0B58731D69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3" name="83 Rectángulo">
              <a:extLst>
                <a:ext uri="{FF2B5EF4-FFF2-40B4-BE49-F238E27FC236}">
                  <a16:creationId xmlns:a16="http://schemas.microsoft.com/office/drawing/2014/main" id="{28015612-1660-3D78-7A62-72C527A682F9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4" name="84 Rectángulo">
              <a:extLst>
                <a:ext uri="{FF2B5EF4-FFF2-40B4-BE49-F238E27FC236}">
                  <a16:creationId xmlns:a16="http://schemas.microsoft.com/office/drawing/2014/main" id="{56D4FDD2-5F19-3ECD-A55D-B09D726EC94F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5" name="17 Rectángulo">
              <a:extLst>
                <a:ext uri="{FF2B5EF4-FFF2-40B4-BE49-F238E27FC236}">
                  <a16:creationId xmlns:a16="http://schemas.microsoft.com/office/drawing/2014/main" id="{BA423004-174F-9331-994E-95CC07D1DE21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6" name="Conector angular 25">
            <a:extLst>
              <a:ext uri="{FF2B5EF4-FFF2-40B4-BE49-F238E27FC236}">
                <a16:creationId xmlns:a16="http://schemas.microsoft.com/office/drawing/2014/main" id="{5ADE2491-3056-66B1-6096-A2D8DC1F5E62}"/>
              </a:ext>
            </a:extLst>
          </p:cNvPr>
          <p:cNvCxnSpPr>
            <a:cxnSpLocks/>
            <a:stCxn id="39" idx="3"/>
            <a:endCxn id="42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7" name="Conector angular 25">
            <a:extLst>
              <a:ext uri="{FF2B5EF4-FFF2-40B4-BE49-F238E27FC236}">
                <a16:creationId xmlns:a16="http://schemas.microsoft.com/office/drawing/2014/main" id="{269EB367-32D7-5AFF-F945-2B1FAFCB3BF1}"/>
              </a:ext>
            </a:extLst>
          </p:cNvPr>
          <p:cNvCxnSpPr>
            <a:cxnSpLocks/>
            <a:stCxn id="39" idx="1"/>
            <a:endCxn id="41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ED1E0C3E-5105-9A1E-6BB2-D5DBCA9029D3}"/>
              </a:ext>
            </a:extLst>
          </p:cNvPr>
          <p:cNvCxnSpPr>
            <a:cxnSpLocks/>
            <a:stCxn id="40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9" name="Tabla_IPN_GE_SMC">
            <a:extLst>
              <a:ext uri="{FF2B5EF4-FFF2-40B4-BE49-F238E27FC236}">
                <a16:creationId xmlns:a16="http://schemas.microsoft.com/office/drawing/2014/main" id="{FBE77C61-AA68-664F-81AD-51BC306BD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406748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61.9%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(593)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655031"/>
                  </a:ext>
                </a:extLst>
              </a:tr>
            </a:tbl>
          </a:graphicData>
        </a:graphic>
      </p:graphicFrame>
      <p:graphicFrame>
        <p:nvGraphicFramePr>
          <p:cNvPr id="40" name="Tabla_DET_GE_SMC">
            <a:extLst>
              <a:ext uri="{FF2B5EF4-FFF2-40B4-BE49-F238E27FC236}">
                <a16:creationId xmlns:a16="http://schemas.microsoft.com/office/drawing/2014/main" id="{54F6FF5A-38F0-FC46-398D-8F581F4A8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080935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5.6%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(33)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1" name="Tabla_PAS_GE_SMC">
            <a:extLst>
              <a:ext uri="{FF2B5EF4-FFF2-40B4-BE49-F238E27FC236}">
                <a16:creationId xmlns:a16="http://schemas.microsoft.com/office/drawing/2014/main" id="{C3C01F54-019C-DF49-725A-BE9DB46D7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968030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27.0%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(160)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2" name="Tabla_PRO_GE_SMC">
            <a:extLst>
              <a:ext uri="{FF2B5EF4-FFF2-40B4-BE49-F238E27FC236}">
                <a16:creationId xmlns:a16="http://schemas.microsoft.com/office/drawing/2014/main" id="{299D8C2F-E6E3-DBD5-A1A2-B9189AC86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033835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67.5%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(400)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3" name="Grafico _don_GE_SMC">
            <a:extLst>
              <a:ext uri="{FF2B5EF4-FFF2-40B4-BE49-F238E27FC236}">
                <a16:creationId xmlns:a16="http://schemas.microsoft.com/office/drawing/2014/main" id="{E607AE86-22F2-1E7B-A3C3-1928433289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151831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44" name="Grafico_bar_GE_SMC">
            <a:extLst>
              <a:ext uri="{FF2B5EF4-FFF2-40B4-BE49-F238E27FC236}">
                <a16:creationId xmlns:a16="http://schemas.microsoft.com/office/drawing/2014/main" id="{CE906145-CCC6-3988-F103-034D417BB3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6711011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45" name="Tabla_DIF_GE_SMC">
            <a:extLst>
              <a:ext uri="{FF2B5EF4-FFF2-40B4-BE49-F238E27FC236}">
                <a16:creationId xmlns:a16="http://schemas.microsoft.com/office/drawing/2014/main" id="{9E5034ED-2C7F-A100-A761-68121C6B6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157602"/>
              </p:ext>
            </p:extLst>
          </p:nvPr>
        </p:nvGraphicFramePr>
        <p:xfrm>
          <a:off x="11640498" y="1553689"/>
          <a:ext cx="2692800" cy="5658483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36839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593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61.9%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61.3%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466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112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37.5%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38.0%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327080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81.2%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-7.9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764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A3BCD-6828-D4CB-8D75-1B12C9F9D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4" descr="eenfoque fiscal – Reforma Fiscal">
            <a:hlinkClick r:id="rId3" action="ppaction://hlinksldjump"/>
            <a:extLst>
              <a:ext uri="{FF2B5EF4-FFF2-40B4-BE49-F238E27FC236}">
                <a16:creationId xmlns:a16="http://schemas.microsoft.com/office/drawing/2014/main" id="{85559760-FE87-1D49-5C69-D63DF54CA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228" y="2857881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4" descr="eenfoque fiscal – Reforma Fiscal">
            <a:hlinkClick r:id="rId5" action="ppaction://hlinksldjump"/>
            <a:extLst>
              <a:ext uri="{FF2B5EF4-FFF2-40B4-BE49-F238E27FC236}">
                <a16:creationId xmlns:a16="http://schemas.microsoft.com/office/drawing/2014/main" id="{5DFAFFB9-5D5F-F6FC-AB9D-A826B9919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028" y="5381448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4" descr="eenfoque fiscal – Reforma Fiscal">
            <a:hlinkClick r:id="rId6" action="ppaction://hlinksldjump"/>
            <a:extLst>
              <a:ext uri="{FF2B5EF4-FFF2-40B4-BE49-F238E27FC236}">
                <a16:creationId xmlns:a16="http://schemas.microsoft.com/office/drawing/2014/main" id="{10426BF1-9781-D32A-538E-35800577F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57" y="3426992"/>
            <a:ext cx="275516" cy="275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1F064BD-703C-BCA6-E4F1-090C6FBF3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5" name="25 CuadroTexto">
            <a:extLst>
              <a:ext uri="{FF2B5EF4-FFF2-40B4-BE49-F238E27FC236}">
                <a16:creationId xmlns:a16="http://schemas.microsoft.com/office/drawing/2014/main" id="{6C9E91C1-0A8A-BD75-C9B7-86C319F59B12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29" name="Imagen 32">
            <a:hlinkClick r:id="rId7" action="ppaction://hlinksldjump"/>
            <a:extLst>
              <a:ext uri="{FF2B5EF4-FFF2-40B4-BE49-F238E27FC236}">
                <a16:creationId xmlns:a16="http://schemas.microsoft.com/office/drawing/2014/main" id="{2C34A6EF-B225-0EED-93F5-C182026A12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89 CuadroTexto">
            <a:extLst>
              <a:ext uri="{FF2B5EF4-FFF2-40B4-BE49-F238E27FC236}">
                <a16:creationId xmlns:a16="http://schemas.microsoft.com/office/drawing/2014/main" id="{0CEFD841-D58F-F7AA-D19E-FA43F5160D52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Corporativo – BIG</a:t>
            </a:r>
          </a:p>
        </p:txBody>
      </p:sp>
      <p:grpSp>
        <p:nvGrpSpPr>
          <p:cNvPr id="31" name="Agrupar 49">
            <a:extLst>
              <a:ext uri="{FF2B5EF4-FFF2-40B4-BE49-F238E27FC236}">
                <a16:creationId xmlns:a16="http://schemas.microsoft.com/office/drawing/2014/main" id="{8D9C0AAE-D2E0-45BD-6A91-F223BBDC2835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32" name="CuadroTexto 33">
              <a:extLst>
                <a:ext uri="{FF2B5EF4-FFF2-40B4-BE49-F238E27FC236}">
                  <a16:creationId xmlns:a16="http://schemas.microsoft.com/office/drawing/2014/main" id="{D487028A-EDA6-D3BA-0A1F-B3BB2632AB49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3" name="CuadroTexto 34">
              <a:extLst>
                <a:ext uri="{FF2B5EF4-FFF2-40B4-BE49-F238E27FC236}">
                  <a16:creationId xmlns:a16="http://schemas.microsoft.com/office/drawing/2014/main" id="{E25C9B2F-6C70-DBDB-9F36-670BE1EEB129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4" name="CuadroTexto 35">
              <a:extLst>
                <a:ext uri="{FF2B5EF4-FFF2-40B4-BE49-F238E27FC236}">
                  <a16:creationId xmlns:a16="http://schemas.microsoft.com/office/drawing/2014/main" id="{4F895FC2-5B02-A1D9-E2DC-DCC648F4B2E4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5" name="83 Rectángulo">
              <a:extLst>
                <a:ext uri="{FF2B5EF4-FFF2-40B4-BE49-F238E27FC236}">
                  <a16:creationId xmlns:a16="http://schemas.microsoft.com/office/drawing/2014/main" id="{E6AC97E2-BCF4-6E2C-4FB1-AE3305E7637C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6" name="84 Rectángulo">
              <a:extLst>
                <a:ext uri="{FF2B5EF4-FFF2-40B4-BE49-F238E27FC236}">
                  <a16:creationId xmlns:a16="http://schemas.microsoft.com/office/drawing/2014/main" id="{780C4EA0-7BA0-9849-5838-6A7FBD832A23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7" name="17 Rectángulo">
              <a:extLst>
                <a:ext uri="{FF2B5EF4-FFF2-40B4-BE49-F238E27FC236}">
                  <a16:creationId xmlns:a16="http://schemas.microsoft.com/office/drawing/2014/main" id="{1E59CDDA-50D6-5293-5CD1-03AB0D518BD7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7F1C0212-65CA-5C54-B6F0-65FA5BF513FE}"/>
              </a:ext>
            </a:extLst>
          </p:cNvPr>
          <p:cNvCxnSpPr>
            <a:cxnSpLocks/>
            <a:stCxn id="41" idx="3"/>
            <a:endCxn id="44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9" name="Conector angular 25">
            <a:extLst>
              <a:ext uri="{FF2B5EF4-FFF2-40B4-BE49-F238E27FC236}">
                <a16:creationId xmlns:a16="http://schemas.microsoft.com/office/drawing/2014/main" id="{6C980571-5C45-141C-5938-BBBF73F8717B}"/>
              </a:ext>
            </a:extLst>
          </p:cNvPr>
          <p:cNvCxnSpPr>
            <a:cxnSpLocks/>
            <a:stCxn id="41" idx="1"/>
            <a:endCxn id="43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0" name="Conector angular 25">
            <a:extLst>
              <a:ext uri="{FF2B5EF4-FFF2-40B4-BE49-F238E27FC236}">
                <a16:creationId xmlns:a16="http://schemas.microsoft.com/office/drawing/2014/main" id="{9B1397E9-593A-B24B-ED05-5F7A250A23E6}"/>
              </a:ext>
            </a:extLst>
          </p:cNvPr>
          <p:cNvCxnSpPr>
            <a:cxnSpLocks/>
            <a:stCxn id="42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41" name="Tabla_IPN_GE_BIG">
            <a:extLst>
              <a:ext uri="{FF2B5EF4-FFF2-40B4-BE49-F238E27FC236}">
                <a16:creationId xmlns:a16="http://schemas.microsoft.com/office/drawing/2014/main" id="{4F9A4F50-374F-AC4B-6718-21B7B1CC2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012231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67.4%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(466)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231290"/>
                  </a:ext>
                </a:extLst>
              </a:tr>
            </a:tbl>
          </a:graphicData>
        </a:graphic>
      </p:graphicFrame>
      <p:graphicFrame>
        <p:nvGraphicFramePr>
          <p:cNvPr id="42" name="Tabla_DET_GE_BIG">
            <a:extLst>
              <a:ext uri="{FF2B5EF4-FFF2-40B4-BE49-F238E27FC236}">
                <a16:creationId xmlns:a16="http://schemas.microsoft.com/office/drawing/2014/main" id="{5AC4F282-E448-403B-D1F9-6399385AB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358712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4.3%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(20)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3" name="Tabla_PAS_GE_BIG">
            <a:extLst>
              <a:ext uri="{FF2B5EF4-FFF2-40B4-BE49-F238E27FC236}">
                <a16:creationId xmlns:a16="http://schemas.microsoft.com/office/drawing/2014/main" id="{5D748D21-E32F-1E69-FE28-6EC5839B9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519455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24.0%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(112)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4" name="Tabla_PRO_GE_BIG">
            <a:extLst>
              <a:ext uri="{FF2B5EF4-FFF2-40B4-BE49-F238E27FC236}">
                <a16:creationId xmlns:a16="http://schemas.microsoft.com/office/drawing/2014/main" id="{AE268DB2-9697-1B15-7412-D5C3A7E86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220206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71.7%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(334)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5" name="Grafico _don_GE_BIG">
            <a:extLst>
              <a:ext uri="{FF2B5EF4-FFF2-40B4-BE49-F238E27FC236}">
                <a16:creationId xmlns:a16="http://schemas.microsoft.com/office/drawing/2014/main" id="{A00357B1-689E-3972-98EA-8783A3B20F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125007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46" name="Grafico_bar_GE_BIG">
            <a:extLst>
              <a:ext uri="{FF2B5EF4-FFF2-40B4-BE49-F238E27FC236}">
                <a16:creationId xmlns:a16="http://schemas.microsoft.com/office/drawing/2014/main" id="{5758A2BF-77F1-A206-FC7B-25C100ED23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6559459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47" name="Tabla_DIF_GE_BIG">
            <a:extLst>
              <a:ext uri="{FF2B5EF4-FFF2-40B4-BE49-F238E27FC236}">
                <a16:creationId xmlns:a16="http://schemas.microsoft.com/office/drawing/2014/main" id="{3501C62A-D1EA-0F92-9725-7942B0746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500429"/>
              </p:ext>
            </p:extLst>
          </p:nvPr>
        </p:nvGraphicFramePr>
        <p:xfrm>
          <a:off x="11640498" y="1615334"/>
          <a:ext cx="2692800" cy="5600263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287342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466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190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55.9%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+6.7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63073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173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74.5%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-3.4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575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66.0%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-8.0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454895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59.3%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70.4%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-11.1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848641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-23.5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84.6%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+15.4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327080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9340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EBCC-36A4-C2BC-8CA9-929048D68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E2F11D-B1D7-E491-27BE-72C3E27C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21" name="25 CuadroTexto">
            <a:extLst>
              <a:ext uri="{FF2B5EF4-FFF2-40B4-BE49-F238E27FC236}">
                <a16:creationId xmlns:a16="http://schemas.microsoft.com/office/drawing/2014/main" id="{DDC852D1-1522-57DE-85D8-CAF8A3DC2299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22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49D683D7-F393-28FC-6D19-59AB24C26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89 CuadroTexto">
            <a:extLst>
              <a:ext uri="{FF2B5EF4-FFF2-40B4-BE49-F238E27FC236}">
                <a16:creationId xmlns:a16="http://schemas.microsoft.com/office/drawing/2014/main" id="{4B7833A5-8D95-427D-D91A-5B66240B77DC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Corporativo – BIG - Canales</a:t>
            </a:r>
          </a:p>
        </p:txBody>
      </p:sp>
      <p:grpSp>
        <p:nvGrpSpPr>
          <p:cNvPr id="24" name="Agrupar 49">
            <a:extLst>
              <a:ext uri="{FF2B5EF4-FFF2-40B4-BE49-F238E27FC236}">
                <a16:creationId xmlns:a16="http://schemas.microsoft.com/office/drawing/2014/main" id="{641AA574-7560-93AC-703B-59BBA469DABF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5" name="CuadroTexto 33">
              <a:extLst>
                <a:ext uri="{FF2B5EF4-FFF2-40B4-BE49-F238E27FC236}">
                  <a16:creationId xmlns:a16="http://schemas.microsoft.com/office/drawing/2014/main" id="{E6D73593-6E37-2834-1A96-61FB0F011701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6" name="CuadroTexto 34">
              <a:extLst>
                <a:ext uri="{FF2B5EF4-FFF2-40B4-BE49-F238E27FC236}">
                  <a16:creationId xmlns:a16="http://schemas.microsoft.com/office/drawing/2014/main" id="{90495BC2-C373-BC05-4329-0D92F6AA0AF2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7" name="CuadroTexto 35">
              <a:extLst>
                <a:ext uri="{FF2B5EF4-FFF2-40B4-BE49-F238E27FC236}">
                  <a16:creationId xmlns:a16="http://schemas.microsoft.com/office/drawing/2014/main" id="{BA8953A6-4425-3FB0-3404-C23F9596914D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8" name="83 Rectángulo">
              <a:extLst>
                <a:ext uri="{FF2B5EF4-FFF2-40B4-BE49-F238E27FC236}">
                  <a16:creationId xmlns:a16="http://schemas.microsoft.com/office/drawing/2014/main" id="{A96917AB-8304-1EBE-8767-186B878D664D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9" name="84 Rectángulo">
              <a:extLst>
                <a:ext uri="{FF2B5EF4-FFF2-40B4-BE49-F238E27FC236}">
                  <a16:creationId xmlns:a16="http://schemas.microsoft.com/office/drawing/2014/main" id="{2976DB75-94DB-6C85-008E-E106B792A38E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0" name="17 Rectángulo">
              <a:extLst>
                <a:ext uri="{FF2B5EF4-FFF2-40B4-BE49-F238E27FC236}">
                  <a16:creationId xmlns:a16="http://schemas.microsoft.com/office/drawing/2014/main" id="{938C16CB-3AD7-4A19-10DC-7331DA95C231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1" name="Conector angular 25">
            <a:extLst>
              <a:ext uri="{FF2B5EF4-FFF2-40B4-BE49-F238E27FC236}">
                <a16:creationId xmlns:a16="http://schemas.microsoft.com/office/drawing/2014/main" id="{5901FC16-1646-71C4-CC4C-21886EE3F507}"/>
              </a:ext>
            </a:extLst>
          </p:cNvPr>
          <p:cNvCxnSpPr>
            <a:cxnSpLocks/>
            <a:stCxn id="34" idx="3"/>
            <a:endCxn id="37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2" name="Conector angular 25">
            <a:extLst>
              <a:ext uri="{FF2B5EF4-FFF2-40B4-BE49-F238E27FC236}">
                <a16:creationId xmlns:a16="http://schemas.microsoft.com/office/drawing/2014/main" id="{9339F854-88DA-A837-487E-531C974939EA}"/>
              </a:ext>
            </a:extLst>
          </p:cNvPr>
          <p:cNvCxnSpPr>
            <a:cxnSpLocks/>
            <a:stCxn id="34" idx="1"/>
            <a:endCxn id="36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3" name="Conector angular 25">
            <a:extLst>
              <a:ext uri="{FF2B5EF4-FFF2-40B4-BE49-F238E27FC236}">
                <a16:creationId xmlns:a16="http://schemas.microsoft.com/office/drawing/2014/main" id="{FB82DEAD-94FE-47FB-5B97-5E818AA35C89}"/>
              </a:ext>
            </a:extLst>
          </p:cNvPr>
          <p:cNvCxnSpPr>
            <a:cxnSpLocks/>
            <a:stCxn id="35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4" name="Tabla_IPN_GE_CANAL">
            <a:extLst>
              <a:ext uri="{FF2B5EF4-FFF2-40B4-BE49-F238E27FC236}">
                <a16:creationId xmlns:a16="http://schemas.microsoft.com/office/drawing/2014/main" id="{0C6ADA61-7723-0AD7-9647-848EB1387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307518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71.1%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(173)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383535"/>
                  </a:ext>
                </a:extLst>
              </a:tr>
            </a:tbl>
          </a:graphicData>
        </a:graphic>
      </p:graphicFrame>
      <p:graphicFrame>
        <p:nvGraphicFramePr>
          <p:cNvPr id="35" name="Tabla_DET_GE_CANAL">
            <a:extLst>
              <a:ext uri="{FF2B5EF4-FFF2-40B4-BE49-F238E27FC236}">
                <a16:creationId xmlns:a16="http://schemas.microsoft.com/office/drawing/2014/main" id="{3B3AAB86-9CCE-70DC-586A-1383A5621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897590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3.5%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(6)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6" name="Tabla_PAS_GE_CANAL">
            <a:extLst>
              <a:ext uri="{FF2B5EF4-FFF2-40B4-BE49-F238E27FC236}">
                <a16:creationId xmlns:a16="http://schemas.microsoft.com/office/drawing/2014/main" id="{A19C8BCD-2BD0-3865-5525-57F9E158B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259770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22.0%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(38)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7" name="Tabla_PRO_GE_CANAL">
            <a:extLst>
              <a:ext uri="{FF2B5EF4-FFF2-40B4-BE49-F238E27FC236}">
                <a16:creationId xmlns:a16="http://schemas.microsoft.com/office/drawing/2014/main" id="{6AB38917-DF70-CB84-1469-11D7F9039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866765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74.6%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(129)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4" name="Grafico _don_GE_CANAL">
            <a:extLst>
              <a:ext uri="{FF2B5EF4-FFF2-40B4-BE49-F238E27FC236}">
                <a16:creationId xmlns:a16="http://schemas.microsoft.com/office/drawing/2014/main" id="{C602A6AB-43FD-0F41-1A73-2FCEB2E09C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177069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5" name="Grafico_bar_GE_CANAL">
            <a:extLst>
              <a:ext uri="{FF2B5EF4-FFF2-40B4-BE49-F238E27FC236}">
                <a16:creationId xmlns:a16="http://schemas.microsoft.com/office/drawing/2014/main" id="{67F01C09-6D2C-ACAB-CC78-7FBA3DD340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1018612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6" name="Tabla_DIF_GE_CANAL">
            <a:extLst>
              <a:ext uri="{FF2B5EF4-FFF2-40B4-BE49-F238E27FC236}">
                <a16:creationId xmlns:a16="http://schemas.microsoft.com/office/drawing/2014/main" id="{AD60A4B5-B557-C49A-5E4F-5B07DFEBF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347069"/>
              </p:ext>
            </p:extLst>
          </p:nvPr>
        </p:nvGraphicFramePr>
        <p:xfrm>
          <a:off x="11640498" y="1615334"/>
          <a:ext cx="2692800" cy="5596835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30987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173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173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74.5%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-3.4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173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63073"/>
                  </a:ext>
                </a:extLst>
              </a:tr>
              <a:tr h="13217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effectLst/>
                          <a:latin typeface="Montserrat" panose="00000500000000000000" pitchFamily="2" charset="0"/>
                        </a:rPr>
                        <a:t>22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1" i="0" u="none" strike="noStrike" dirty="0">
                          <a:effectLst/>
                          <a:latin typeface="Montserrat" panose="00000500000000000000" pitchFamily="2" charset="0"/>
                        </a:rPr>
                        <a:t>59.1%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effectLst/>
                          <a:latin typeface="Montserrat" panose="00000500000000000000" pitchFamily="2" charset="0"/>
                        </a:rPr>
                        <a:t>63.6%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Montserrat" panose="00000500000000000000" pitchFamily="2" charset="0"/>
                        </a:rPr>
                        <a:t>-4.5 </a:t>
                      </a:r>
                      <a:r>
                        <a:rPr lang="es-MX" sz="11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Montserrat" panose="00000500000000000000" pitchFamily="2" charset="0"/>
                        </a:rPr>
                        <a:t>pp</a:t>
                      </a:r>
                      <a:endParaRPr lang="es-MX" sz="11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575"/>
                  </a:ext>
                </a:extLst>
              </a:tr>
              <a:tr h="13217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effectLst/>
                          <a:latin typeface="Montserrat" panose="00000500000000000000" pitchFamily="2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1" i="0" u="none" strike="noStrike" dirty="0">
                          <a:effectLst/>
                          <a:latin typeface="Montserrat" panose="00000500000000000000" pitchFamily="2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454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4727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3D740-196B-5844-F0C3-29BCA1194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90B1949-36EA-143D-B2F4-C81EA23C0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16" name="25 CuadroTexto">
            <a:extLst>
              <a:ext uri="{FF2B5EF4-FFF2-40B4-BE49-F238E27FC236}">
                <a16:creationId xmlns:a16="http://schemas.microsoft.com/office/drawing/2014/main" id="{643ACA60-1D96-ACB7-476F-0EA3F12F0398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23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C32BC786-8DE9-C658-F09E-8F03B56DDC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89 CuadroTexto">
            <a:extLst>
              <a:ext uri="{FF2B5EF4-FFF2-40B4-BE49-F238E27FC236}">
                <a16:creationId xmlns:a16="http://schemas.microsoft.com/office/drawing/2014/main" id="{735E4E66-94C9-78D6-F1C6-0CE4C8D6DEE9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Corporativo – BIG - Segmentos</a:t>
            </a:r>
          </a:p>
        </p:txBody>
      </p:sp>
      <p:grpSp>
        <p:nvGrpSpPr>
          <p:cNvPr id="25" name="Agrupar 49">
            <a:extLst>
              <a:ext uri="{FF2B5EF4-FFF2-40B4-BE49-F238E27FC236}">
                <a16:creationId xmlns:a16="http://schemas.microsoft.com/office/drawing/2014/main" id="{75DE3C78-DEF1-13D8-BA58-5AAB6495E59C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6" name="CuadroTexto 33">
              <a:extLst>
                <a:ext uri="{FF2B5EF4-FFF2-40B4-BE49-F238E27FC236}">
                  <a16:creationId xmlns:a16="http://schemas.microsoft.com/office/drawing/2014/main" id="{BE9A6425-F891-50CA-DB07-BA7E176C324A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7" name="CuadroTexto 34">
              <a:extLst>
                <a:ext uri="{FF2B5EF4-FFF2-40B4-BE49-F238E27FC236}">
                  <a16:creationId xmlns:a16="http://schemas.microsoft.com/office/drawing/2014/main" id="{EDBC68D7-D31C-7094-51E4-11C189B157D3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8" name="CuadroTexto 35">
              <a:extLst>
                <a:ext uri="{FF2B5EF4-FFF2-40B4-BE49-F238E27FC236}">
                  <a16:creationId xmlns:a16="http://schemas.microsoft.com/office/drawing/2014/main" id="{48312FBC-0861-7453-7E05-4360DB1BE3FC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9" name="83 Rectángulo">
              <a:extLst>
                <a:ext uri="{FF2B5EF4-FFF2-40B4-BE49-F238E27FC236}">
                  <a16:creationId xmlns:a16="http://schemas.microsoft.com/office/drawing/2014/main" id="{5E03E0AB-2766-E820-AF33-62D37A5FC6AE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0" name="84 Rectángulo">
              <a:extLst>
                <a:ext uri="{FF2B5EF4-FFF2-40B4-BE49-F238E27FC236}">
                  <a16:creationId xmlns:a16="http://schemas.microsoft.com/office/drawing/2014/main" id="{AFB3FF7F-A5EF-DF02-0E03-460BECBAC1EF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1" name="17 Rectángulo">
              <a:extLst>
                <a:ext uri="{FF2B5EF4-FFF2-40B4-BE49-F238E27FC236}">
                  <a16:creationId xmlns:a16="http://schemas.microsoft.com/office/drawing/2014/main" id="{9938615E-82AE-FA22-DFA1-27A6C9E1DCFB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2" name="Conector angular 25">
            <a:extLst>
              <a:ext uri="{FF2B5EF4-FFF2-40B4-BE49-F238E27FC236}">
                <a16:creationId xmlns:a16="http://schemas.microsoft.com/office/drawing/2014/main" id="{8595B971-BA69-4A5F-0CA8-875B073E84D4}"/>
              </a:ext>
            </a:extLst>
          </p:cNvPr>
          <p:cNvCxnSpPr>
            <a:cxnSpLocks/>
            <a:stCxn id="35" idx="3"/>
            <a:endCxn id="38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3" name="Conector angular 25">
            <a:extLst>
              <a:ext uri="{FF2B5EF4-FFF2-40B4-BE49-F238E27FC236}">
                <a16:creationId xmlns:a16="http://schemas.microsoft.com/office/drawing/2014/main" id="{F4A31FB2-08C9-9A11-5196-888C4F2A0AF5}"/>
              </a:ext>
            </a:extLst>
          </p:cNvPr>
          <p:cNvCxnSpPr>
            <a:cxnSpLocks/>
            <a:stCxn id="35" idx="1"/>
            <a:endCxn id="37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4" name="Conector angular 25">
            <a:extLst>
              <a:ext uri="{FF2B5EF4-FFF2-40B4-BE49-F238E27FC236}">
                <a16:creationId xmlns:a16="http://schemas.microsoft.com/office/drawing/2014/main" id="{3504390B-2C33-BA57-0757-F87090BD1EC3}"/>
              </a:ext>
            </a:extLst>
          </p:cNvPr>
          <p:cNvCxnSpPr>
            <a:cxnSpLocks/>
            <a:stCxn id="36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5" name="Tabla_IPN_GE_SEG">
            <a:extLst>
              <a:ext uri="{FF2B5EF4-FFF2-40B4-BE49-F238E27FC236}">
                <a16:creationId xmlns:a16="http://schemas.microsoft.com/office/drawing/2014/main" id="{E749DD24-FA61-C6F2-8036-A216A9744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702186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76.5%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(17)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718763"/>
                  </a:ext>
                </a:extLst>
              </a:tr>
            </a:tbl>
          </a:graphicData>
        </a:graphic>
      </p:graphicFrame>
      <p:graphicFrame>
        <p:nvGraphicFramePr>
          <p:cNvPr id="36" name="Tabla_DET_GE_SEG">
            <a:extLst>
              <a:ext uri="{FF2B5EF4-FFF2-40B4-BE49-F238E27FC236}">
                <a16:creationId xmlns:a16="http://schemas.microsoft.com/office/drawing/2014/main" id="{6E8893DF-BBD4-DA63-4DFD-99294494A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092096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</a:p>
                    <a:p>
                      <a:pPr algn="ctr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7" name="Tabla_PAS_GE_SEG">
            <a:extLst>
              <a:ext uri="{FF2B5EF4-FFF2-40B4-BE49-F238E27FC236}">
                <a16:creationId xmlns:a16="http://schemas.microsoft.com/office/drawing/2014/main" id="{2C187FCF-3309-E7D0-6E64-31CC3F4DC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717579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23.5%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8" name="Tabla_PRO_GE_SEG">
            <a:extLst>
              <a:ext uri="{FF2B5EF4-FFF2-40B4-BE49-F238E27FC236}">
                <a16:creationId xmlns:a16="http://schemas.microsoft.com/office/drawing/2014/main" id="{8D289918-877C-8F79-3ED2-1A20BAC914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711445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76.5%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(13)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9" name="Grafico _don_GE_SEG">
            <a:extLst>
              <a:ext uri="{FF2B5EF4-FFF2-40B4-BE49-F238E27FC236}">
                <a16:creationId xmlns:a16="http://schemas.microsoft.com/office/drawing/2014/main" id="{947A57E0-E8C3-1349-2939-45ED638C5E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7961122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0" name="Grafico_bar_GE_SEG">
            <a:extLst>
              <a:ext uri="{FF2B5EF4-FFF2-40B4-BE49-F238E27FC236}">
                <a16:creationId xmlns:a16="http://schemas.microsoft.com/office/drawing/2014/main" id="{1CA346F8-15C5-1AA7-52B0-A7EC9A90E7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0666920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1" name="Tabla_DIF_GE_SEG">
            <a:extLst>
              <a:ext uri="{FF2B5EF4-FFF2-40B4-BE49-F238E27FC236}">
                <a16:creationId xmlns:a16="http://schemas.microsoft.com/office/drawing/2014/main" id="{01C8BBC6-ACA4-ADCD-48A4-51ED5A02B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186505"/>
              </p:ext>
            </p:extLst>
          </p:nvPr>
        </p:nvGraphicFramePr>
        <p:xfrm>
          <a:off x="11640498" y="1615333"/>
          <a:ext cx="2692800" cy="5596839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291330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850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-23.5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850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90.9%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-9.1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63073"/>
                  </a:ext>
                </a:extLst>
              </a:tr>
              <a:tr h="176850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-50.0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6836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65E21-4C06-56A9-94D7-B7ECE8A9A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8C3FC4-BC55-99E8-B85F-A6640BD7B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5" name="25 CuadroTexto">
            <a:extLst>
              <a:ext uri="{FF2B5EF4-FFF2-40B4-BE49-F238E27FC236}">
                <a16:creationId xmlns:a16="http://schemas.microsoft.com/office/drawing/2014/main" id="{2DEDDEDD-299E-F18A-F75E-4A95F09F67B1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25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4CD26AEB-6A89-DF2D-9306-B8C635E5F0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89 CuadroTexto">
            <a:extLst>
              <a:ext uri="{FF2B5EF4-FFF2-40B4-BE49-F238E27FC236}">
                <a16:creationId xmlns:a16="http://schemas.microsoft.com/office/drawing/2014/main" id="{DEA295FB-AFCA-9262-380B-A96614D25BF7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Corporativo – BIG – Unidades De Negocios</a:t>
            </a:r>
          </a:p>
        </p:txBody>
      </p:sp>
      <p:grpSp>
        <p:nvGrpSpPr>
          <p:cNvPr id="27" name="Agrupar 49">
            <a:extLst>
              <a:ext uri="{FF2B5EF4-FFF2-40B4-BE49-F238E27FC236}">
                <a16:creationId xmlns:a16="http://schemas.microsoft.com/office/drawing/2014/main" id="{261144D9-BB65-23AC-61BF-0E9409FEA23F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8" name="CuadroTexto 33">
              <a:extLst>
                <a:ext uri="{FF2B5EF4-FFF2-40B4-BE49-F238E27FC236}">
                  <a16:creationId xmlns:a16="http://schemas.microsoft.com/office/drawing/2014/main" id="{4769D44D-228F-04B0-1C41-C8EF9242C9DF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9" name="CuadroTexto 34">
              <a:extLst>
                <a:ext uri="{FF2B5EF4-FFF2-40B4-BE49-F238E27FC236}">
                  <a16:creationId xmlns:a16="http://schemas.microsoft.com/office/drawing/2014/main" id="{162326BA-FF65-8BE7-7086-8390DB2F2A94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0" name="CuadroTexto 35">
              <a:extLst>
                <a:ext uri="{FF2B5EF4-FFF2-40B4-BE49-F238E27FC236}">
                  <a16:creationId xmlns:a16="http://schemas.microsoft.com/office/drawing/2014/main" id="{4AF264B6-8703-F5AB-9093-084C03CB5B02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1" name="83 Rectángulo">
              <a:extLst>
                <a:ext uri="{FF2B5EF4-FFF2-40B4-BE49-F238E27FC236}">
                  <a16:creationId xmlns:a16="http://schemas.microsoft.com/office/drawing/2014/main" id="{BB58930C-D90B-B504-FCDE-80B9F3A7DFDA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2" name="84 Rectángulo">
              <a:extLst>
                <a:ext uri="{FF2B5EF4-FFF2-40B4-BE49-F238E27FC236}">
                  <a16:creationId xmlns:a16="http://schemas.microsoft.com/office/drawing/2014/main" id="{040A748D-FCAD-311E-7B8C-3CA2925147DA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3" name="17 Rectángulo">
              <a:extLst>
                <a:ext uri="{FF2B5EF4-FFF2-40B4-BE49-F238E27FC236}">
                  <a16:creationId xmlns:a16="http://schemas.microsoft.com/office/drawing/2014/main" id="{DB036369-EBDC-3D75-0F09-85ED77091C08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4" name="Conector angular 25">
            <a:extLst>
              <a:ext uri="{FF2B5EF4-FFF2-40B4-BE49-F238E27FC236}">
                <a16:creationId xmlns:a16="http://schemas.microsoft.com/office/drawing/2014/main" id="{C2FFFFBD-206D-309B-0A14-00250506C771}"/>
              </a:ext>
            </a:extLst>
          </p:cNvPr>
          <p:cNvCxnSpPr>
            <a:cxnSpLocks/>
            <a:stCxn id="37" idx="3"/>
            <a:endCxn id="40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5" name="Conector angular 25">
            <a:extLst>
              <a:ext uri="{FF2B5EF4-FFF2-40B4-BE49-F238E27FC236}">
                <a16:creationId xmlns:a16="http://schemas.microsoft.com/office/drawing/2014/main" id="{6470BD99-5490-54D3-CC34-75FC6062D3B1}"/>
              </a:ext>
            </a:extLst>
          </p:cNvPr>
          <p:cNvCxnSpPr>
            <a:cxnSpLocks/>
            <a:stCxn id="37" idx="1"/>
            <a:endCxn id="39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6" name="Conector angular 25">
            <a:extLst>
              <a:ext uri="{FF2B5EF4-FFF2-40B4-BE49-F238E27FC236}">
                <a16:creationId xmlns:a16="http://schemas.microsoft.com/office/drawing/2014/main" id="{9AB5D99A-E1CE-113A-0352-88362B1BF00B}"/>
              </a:ext>
            </a:extLst>
          </p:cNvPr>
          <p:cNvCxnSpPr>
            <a:cxnSpLocks/>
            <a:stCxn id="38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7" name="Tabla_IPN_GE_UDN">
            <a:extLst>
              <a:ext uri="{FF2B5EF4-FFF2-40B4-BE49-F238E27FC236}">
                <a16:creationId xmlns:a16="http://schemas.microsoft.com/office/drawing/2014/main" id="{8C4D3869-AA1A-C976-639B-8F3941800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759611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62.7%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(190)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8361332"/>
                  </a:ext>
                </a:extLst>
              </a:tr>
            </a:tbl>
          </a:graphicData>
        </a:graphic>
      </p:graphicFrame>
      <p:graphicFrame>
        <p:nvGraphicFramePr>
          <p:cNvPr id="38" name="Tabla_DET_GE_UDN">
            <a:extLst>
              <a:ext uri="{FF2B5EF4-FFF2-40B4-BE49-F238E27FC236}">
                <a16:creationId xmlns:a16="http://schemas.microsoft.com/office/drawing/2014/main" id="{091F63D8-BB56-2994-3031-1F1E5B0E9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933295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4.7%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9" name="Tabla_PAS_GE_UDN">
            <a:extLst>
              <a:ext uri="{FF2B5EF4-FFF2-40B4-BE49-F238E27FC236}">
                <a16:creationId xmlns:a16="http://schemas.microsoft.com/office/drawing/2014/main" id="{D4EC7776-AC25-0D7E-6F76-E0F7C124C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439599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27.9%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(53)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0" name="Tabla_PRO_GE_UDN">
            <a:extLst>
              <a:ext uri="{FF2B5EF4-FFF2-40B4-BE49-F238E27FC236}">
                <a16:creationId xmlns:a16="http://schemas.microsoft.com/office/drawing/2014/main" id="{DEAF42E5-F980-E3F6-EA8C-2C9E869678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167790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67.4%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(128)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1" name="Grafico _don_GE_UDN">
            <a:extLst>
              <a:ext uri="{FF2B5EF4-FFF2-40B4-BE49-F238E27FC236}">
                <a16:creationId xmlns:a16="http://schemas.microsoft.com/office/drawing/2014/main" id="{A405D49C-10FD-502E-D244-40888A6967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7471229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2" name="Grafico_bar_GE_UDN">
            <a:extLst>
              <a:ext uri="{FF2B5EF4-FFF2-40B4-BE49-F238E27FC236}">
                <a16:creationId xmlns:a16="http://schemas.microsoft.com/office/drawing/2014/main" id="{08243EC4-5401-A44C-795D-867D745E52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1708335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3" name="Tabla_DIF_GE_UDN">
            <a:extLst>
              <a:ext uri="{FF2B5EF4-FFF2-40B4-BE49-F238E27FC236}">
                <a16:creationId xmlns:a16="http://schemas.microsoft.com/office/drawing/2014/main" id="{149DF693-39B0-F51D-4887-5B2EDA202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504439"/>
              </p:ext>
            </p:extLst>
          </p:nvPr>
        </p:nvGraphicFramePr>
        <p:xfrm>
          <a:off x="11640498" y="1615333"/>
          <a:ext cx="2692800" cy="5666227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221378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190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55.9%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+6.7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79.7%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+3.6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022520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51.9%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61.5%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-9.7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63073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 dirty="0">
                          <a:effectLst/>
                          <a:latin typeface="Montserrat" panose="00000500000000000000" pitchFamily="2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1" i="0" u="none" strike="noStrike" dirty="0">
                          <a:effectLst/>
                          <a:latin typeface="Montserrat" panose="00000500000000000000" pitchFamily="2" charset="0"/>
                        </a:rPr>
                        <a:t>51.9%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effectLst/>
                          <a:latin typeface="Montserrat" panose="00000500000000000000" pitchFamily="2" charset="0"/>
                        </a:rPr>
                        <a:t>61.5%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Montserrat" panose="00000500000000000000" pitchFamily="2" charset="0"/>
                        </a:rPr>
                        <a:t>-9.6 </a:t>
                      </a:r>
                      <a:r>
                        <a:rPr lang="es-MX" sz="11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Montserrat" panose="00000500000000000000" pitchFamily="2" charset="0"/>
                        </a:rPr>
                        <a:t>pp</a:t>
                      </a:r>
                      <a:endParaRPr lang="es-MX" sz="11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9629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08BAF-74EF-CA98-AD66-7E51B49A3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34F57-4DC7-1B80-06BA-2EFA5CCAB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5" name="25 CuadroTexto">
            <a:extLst>
              <a:ext uri="{FF2B5EF4-FFF2-40B4-BE49-F238E27FC236}">
                <a16:creationId xmlns:a16="http://schemas.microsoft.com/office/drawing/2014/main" id="{03155A9E-4733-1983-54B7-CA1A397F517C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9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9C37AD55-C13B-A6E3-E0DE-8743E756A1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89 CuadroTexto">
            <a:extLst>
              <a:ext uri="{FF2B5EF4-FFF2-40B4-BE49-F238E27FC236}">
                <a16:creationId xmlns:a16="http://schemas.microsoft.com/office/drawing/2014/main" id="{9D1DD276-3375-2397-343F-3A69DCC7EF72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Corporativo – Empresas de datos</a:t>
            </a:r>
          </a:p>
        </p:txBody>
      </p:sp>
      <p:grpSp>
        <p:nvGrpSpPr>
          <p:cNvPr id="21" name="Agrupar 49">
            <a:extLst>
              <a:ext uri="{FF2B5EF4-FFF2-40B4-BE49-F238E27FC236}">
                <a16:creationId xmlns:a16="http://schemas.microsoft.com/office/drawing/2014/main" id="{B4316D11-2743-27A1-738A-9CD666BB8AF1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2" name="CuadroTexto 33">
              <a:extLst>
                <a:ext uri="{FF2B5EF4-FFF2-40B4-BE49-F238E27FC236}">
                  <a16:creationId xmlns:a16="http://schemas.microsoft.com/office/drawing/2014/main" id="{1674F986-6336-6FF0-CDF9-2D89024139D7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3" name="CuadroTexto 34">
              <a:extLst>
                <a:ext uri="{FF2B5EF4-FFF2-40B4-BE49-F238E27FC236}">
                  <a16:creationId xmlns:a16="http://schemas.microsoft.com/office/drawing/2014/main" id="{33CF4949-EE6D-9E21-5689-53980094F702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4" name="CuadroTexto 35">
              <a:extLst>
                <a:ext uri="{FF2B5EF4-FFF2-40B4-BE49-F238E27FC236}">
                  <a16:creationId xmlns:a16="http://schemas.microsoft.com/office/drawing/2014/main" id="{45C704FB-0B03-806E-1EF6-081999DC95ED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5" name="83 Rectángulo">
              <a:extLst>
                <a:ext uri="{FF2B5EF4-FFF2-40B4-BE49-F238E27FC236}">
                  <a16:creationId xmlns:a16="http://schemas.microsoft.com/office/drawing/2014/main" id="{0CB10A67-8531-A1A4-441F-1C5941BAA377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6" name="84 Rectángulo">
              <a:extLst>
                <a:ext uri="{FF2B5EF4-FFF2-40B4-BE49-F238E27FC236}">
                  <a16:creationId xmlns:a16="http://schemas.microsoft.com/office/drawing/2014/main" id="{762E9BE7-3C8C-D926-CB46-B11BF6BD0DC8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7" name="17 Rectángulo">
              <a:extLst>
                <a:ext uri="{FF2B5EF4-FFF2-40B4-BE49-F238E27FC236}">
                  <a16:creationId xmlns:a16="http://schemas.microsoft.com/office/drawing/2014/main" id="{C8198A21-9323-C38C-6D06-BB0E8FFC68D9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8" name="Conector angular 25">
            <a:extLst>
              <a:ext uri="{FF2B5EF4-FFF2-40B4-BE49-F238E27FC236}">
                <a16:creationId xmlns:a16="http://schemas.microsoft.com/office/drawing/2014/main" id="{DE3CF523-FF74-89F7-01F7-CC4AE2DCBFC7}"/>
              </a:ext>
            </a:extLst>
          </p:cNvPr>
          <p:cNvCxnSpPr>
            <a:cxnSpLocks/>
            <a:stCxn id="31" idx="3"/>
            <a:endCxn id="34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9" name="Conector angular 25">
            <a:extLst>
              <a:ext uri="{FF2B5EF4-FFF2-40B4-BE49-F238E27FC236}">
                <a16:creationId xmlns:a16="http://schemas.microsoft.com/office/drawing/2014/main" id="{A6AD6AAA-E7C0-A826-EEB0-3ED65F839F49}"/>
              </a:ext>
            </a:extLst>
          </p:cNvPr>
          <p:cNvCxnSpPr>
            <a:cxnSpLocks/>
            <a:stCxn id="31" idx="1"/>
            <a:endCxn id="33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0" name="Conector angular 25">
            <a:extLst>
              <a:ext uri="{FF2B5EF4-FFF2-40B4-BE49-F238E27FC236}">
                <a16:creationId xmlns:a16="http://schemas.microsoft.com/office/drawing/2014/main" id="{298763F3-D219-BA20-9E23-547A5DF8E6F0}"/>
              </a:ext>
            </a:extLst>
          </p:cNvPr>
          <p:cNvCxnSpPr>
            <a:cxnSpLocks/>
            <a:stCxn id="32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1" name="Tabla_IPN_GE_EDD">
            <a:extLst>
              <a:ext uri="{FF2B5EF4-FFF2-40B4-BE49-F238E27FC236}">
                <a16:creationId xmlns:a16="http://schemas.microsoft.com/office/drawing/2014/main" id="{4A27F028-D107-4E33-812B-27088E68E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512215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37.5%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(112)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037754"/>
                  </a:ext>
                </a:extLst>
              </a:tr>
            </a:tbl>
          </a:graphicData>
        </a:graphic>
      </p:graphicFrame>
      <p:graphicFrame>
        <p:nvGraphicFramePr>
          <p:cNvPr id="32" name="Tabla_DET_GE_EDD">
            <a:extLst>
              <a:ext uri="{FF2B5EF4-FFF2-40B4-BE49-F238E27FC236}">
                <a16:creationId xmlns:a16="http://schemas.microsoft.com/office/drawing/2014/main" id="{B7C751CF-49AD-C6FD-7DC8-0BA4081BA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705236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11.6%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3" name="Tabla_PAS_GE_EDD">
            <a:extLst>
              <a:ext uri="{FF2B5EF4-FFF2-40B4-BE49-F238E27FC236}">
                <a16:creationId xmlns:a16="http://schemas.microsoft.com/office/drawing/2014/main" id="{63D64916-8918-D436-5B70-EE3C3A45B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220995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39.3%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4" name="Tabla_PRO_GE_EDD">
            <a:extLst>
              <a:ext uri="{FF2B5EF4-FFF2-40B4-BE49-F238E27FC236}">
                <a16:creationId xmlns:a16="http://schemas.microsoft.com/office/drawing/2014/main" id="{373B6452-A413-EFC5-4204-EBE4820D91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598138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49.1%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(55)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Grafico _don_GE_EDD">
            <a:extLst>
              <a:ext uri="{FF2B5EF4-FFF2-40B4-BE49-F238E27FC236}">
                <a16:creationId xmlns:a16="http://schemas.microsoft.com/office/drawing/2014/main" id="{EEC2A248-7D66-C2EA-07B1-5091C47DFC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392515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6" name="Grafico_bar_GE_EDD">
            <a:extLst>
              <a:ext uri="{FF2B5EF4-FFF2-40B4-BE49-F238E27FC236}">
                <a16:creationId xmlns:a16="http://schemas.microsoft.com/office/drawing/2014/main" id="{5333477F-BAE3-E53A-B03D-B48C6185AC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4462198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7" name="Tabla_DIF_GE_EDD">
            <a:extLst>
              <a:ext uri="{FF2B5EF4-FFF2-40B4-BE49-F238E27FC236}">
                <a16:creationId xmlns:a16="http://schemas.microsoft.com/office/drawing/2014/main" id="{2517A2F7-FADA-AAC1-2A37-E8219A5FA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271404"/>
              </p:ext>
            </p:extLst>
          </p:nvPr>
        </p:nvGraphicFramePr>
        <p:xfrm>
          <a:off x="11640498" y="1615333"/>
          <a:ext cx="2692800" cy="5666227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221378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112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37.5%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38.0%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36.0%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35.0%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022520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56.2%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-6.2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63073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5117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A6799-5876-36A6-7E5E-10F02EEE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779F2-3476-FA94-1444-A786719A4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5" name="25 CuadroTexto">
            <a:extLst>
              <a:ext uri="{FF2B5EF4-FFF2-40B4-BE49-F238E27FC236}">
                <a16:creationId xmlns:a16="http://schemas.microsoft.com/office/drawing/2014/main" id="{42A03115-CD0A-392F-2D3E-9FDF6BADEC54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9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E7E29E43-08EB-548D-6B72-196CA1444E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89 CuadroTexto">
            <a:extLst>
              <a:ext uri="{FF2B5EF4-FFF2-40B4-BE49-F238E27FC236}">
                <a16:creationId xmlns:a16="http://schemas.microsoft.com/office/drawing/2014/main" id="{67E03695-F26C-478A-3318-BDFDCAB7FDB4}"/>
              </a:ext>
            </a:extLst>
          </p:cNvPr>
          <p:cNvSpPr txBox="1"/>
          <p:nvPr/>
        </p:nvSpPr>
        <p:spPr>
          <a:xfrm>
            <a:off x="375047" y="1554275"/>
            <a:ext cx="432000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- Comité Supervisión Países</a:t>
            </a:r>
          </a:p>
        </p:txBody>
      </p:sp>
      <p:grpSp>
        <p:nvGrpSpPr>
          <p:cNvPr id="21" name="Agrupar 49">
            <a:extLst>
              <a:ext uri="{FF2B5EF4-FFF2-40B4-BE49-F238E27FC236}">
                <a16:creationId xmlns:a16="http://schemas.microsoft.com/office/drawing/2014/main" id="{0EF79EB9-8FCB-05F5-A6C6-6CA229C02B02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2" name="CuadroTexto 33">
              <a:extLst>
                <a:ext uri="{FF2B5EF4-FFF2-40B4-BE49-F238E27FC236}">
                  <a16:creationId xmlns:a16="http://schemas.microsoft.com/office/drawing/2014/main" id="{2D4629BD-78D8-B913-AD43-DDA20289E7BE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3" name="CuadroTexto 34">
              <a:extLst>
                <a:ext uri="{FF2B5EF4-FFF2-40B4-BE49-F238E27FC236}">
                  <a16:creationId xmlns:a16="http://schemas.microsoft.com/office/drawing/2014/main" id="{E8AA909E-9D96-C9EB-D24D-F19E445AFC40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4" name="CuadroTexto 35">
              <a:extLst>
                <a:ext uri="{FF2B5EF4-FFF2-40B4-BE49-F238E27FC236}">
                  <a16:creationId xmlns:a16="http://schemas.microsoft.com/office/drawing/2014/main" id="{EA100AAB-9E4F-63F7-432C-B4257C53729E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5" name="83 Rectángulo">
              <a:extLst>
                <a:ext uri="{FF2B5EF4-FFF2-40B4-BE49-F238E27FC236}">
                  <a16:creationId xmlns:a16="http://schemas.microsoft.com/office/drawing/2014/main" id="{CDF70AFA-F6F0-FE3D-E199-9355FE83ACEA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6" name="84 Rectángulo">
              <a:extLst>
                <a:ext uri="{FF2B5EF4-FFF2-40B4-BE49-F238E27FC236}">
                  <a16:creationId xmlns:a16="http://schemas.microsoft.com/office/drawing/2014/main" id="{503A70B1-5DC0-1886-73B9-18E013C70129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7" name="17 Rectángulo">
              <a:extLst>
                <a:ext uri="{FF2B5EF4-FFF2-40B4-BE49-F238E27FC236}">
                  <a16:creationId xmlns:a16="http://schemas.microsoft.com/office/drawing/2014/main" id="{AD1D53F3-DC9F-8162-82F6-2BD31589846D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8" name="Conector angular 25">
            <a:extLst>
              <a:ext uri="{FF2B5EF4-FFF2-40B4-BE49-F238E27FC236}">
                <a16:creationId xmlns:a16="http://schemas.microsoft.com/office/drawing/2014/main" id="{03027E48-E71D-A032-620C-80F4F3A67878}"/>
              </a:ext>
            </a:extLst>
          </p:cNvPr>
          <p:cNvCxnSpPr>
            <a:cxnSpLocks/>
            <a:stCxn id="31" idx="3"/>
            <a:endCxn id="34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9" name="Conector angular 25">
            <a:extLst>
              <a:ext uri="{FF2B5EF4-FFF2-40B4-BE49-F238E27FC236}">
                <a16:creationId xmlns:a16="http://schemas.microsoft.com/office/drawing/2014/main" id="{BD11D595-DE24-7176-19B4-DEC67530D940}"/>
              </a:ext>
            </a:extLst>
          </p:cNvPr>
          <p:cNvCxnSpPr>
            <a:cxnSpLocks/>
            <a:stCxn id="31" idx="1"/>
            <a:endCxn id="33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0" name="Conector angular 25">
            <a:extLst>
              <a:ext uri="{FF2B5EF4-FFF2-40B4-BE49-F238E27FC236}">
                <a16:creationId xmlns:a16="http://schemas.microsoft.com/office/drawing/2014/main" id="{0614763B-0AA0-8658-CF92-0298B52B7A88}"/>
              </a:ext>
            </a:extLst>
          </p:cNvPr>
          <p:cNvCxnSpPr>
            <a:cxnSpLocks/>
            <a:stCxn id="32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1" name="Tabla_IPN_GE_COP">
            <a:extLst>
              <a:ext uri="{FF2B5EF4-FFF2-40B4-BE49-F238E27FC236}">
                <a16:creationId xmlns:a16="http://schemas.microsoft.com/office/drawing/2014/main" id="{F7F49360-BCB4-E8CA-86D7-CF92A5725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819760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66.8%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(5,649)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857853"/>
                  </a:ext>
                </a:extLst>
              </a:tr>
            </a:tbl>
          </a:graphicData>
        </a:graphic>
      </p:graphicFrame>
      <p:graphicFrame>
        <p:nvGraphicFramePr>
          <p:cNvPr id="32" name="Tabla_DET_GE_COP">
            <a:extLst>
              <a:ext uri="{FF2B5EF4-FFF2-40B4-BE49-F238E27FC236}">
                <a16:creationId xmlns:a16="http://schemas.microsoft.com/office/drawing/2014/main" id="{5230D0CC-A5A3-B59E-0162-A6DE16B032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246573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8.3%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(471)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3" name="Tabla_PAS_GE_COP">
            <a:extLst>
              <a:ext uri="{FF2B5EF4-FFF2-40B4-BE49-F238E27FC236}">
                <a16:creationId xmlns:a16="http://schemas.microsoft.com/office/drawing/2014/main" id="{1D8A3A4E-B503-1350-A0DF-B77A092F97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780547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16.6%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(938)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4" name="Tabla_PRO_GE_COP">
            <a:extLst>
              <a:ext uri="{FF2B5EF4-FFF2-40B4-BE49-F238E27FC236}">
                <a16:creationId xmlns:a16="http://schemas.microsoft.com/office/drawing/2014/main" id="{C75024A6-0A0D-36F5-88F5-1A9982036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25762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75.1%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(4,240)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Grafico _don_GE_COP">
            <a:extLst>
              <a:ext uri="{FF2B5EF4-FFF2-40B4-BE49-F238E27FC236}">
                <a16:creationId xmlns:a16="http://schemas.microsoft.com/office/drawing/2014/main" id="{8E22693E-E6D7-F5A9-4FBB-0A8646ED06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883668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6" name="Grafico_bar_GE_COP">
            <a:extLst>
              <a:ext uri="{FF2B5EF4-FFF2-40B4-BE49-F238E27FC236}">
                <a16:creationId xmlns:a16="http://schemas.microsoft.com/office/drawing/2014/main" id="{9284EED1-EF33-B8EB-9B1E-6170C4CE54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4468373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7" name="Tabla_DIF_GE_COP">
            <a:extLst>
              <a:ext uri="{FF2B5EF4-FFF2-40B4-BE49-F238E27FC236}">
                <a16:creationId xmlns:a16="http://schemas.microsoft.com/office/drawing/2014/main" id="{59E05977-17BA-6D57-6918-BEAABC4BE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219823"/>
              </p:ext>
            </p:extLst>
          </p:nvPr>
        </p:nvGraphicFramePr>
        <p:xfrm>
          <a:off x="11640498" y="1615333"/>
          <a:ext cx="2692800" cy="5666227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221378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5,649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66.7%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66.0%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5,589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66.7%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65.9%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022520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77.1%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-5.1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63073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55.6%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+4.4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776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ítulo 38">
            <a:extLst>
              <a:ext uri="{FF2B5EF4-FFF2-40B4-BE49-F238E27FC236}">
                <a16:creationId xmlns:a16="http://schemas.microsoft.com/office/drawing/2014/main" id="{FEDF8239-6CED-DC84-FF7B-9143ECD9B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Despachos 1Q 2026</a:t>
            </a:r>
          </a:p>
        </p:txBody>
      </p:sp>
      <p:sp>
        <p:nvSpPr>
          <p:cNvPr id="3" name="25 CuadroTexto">
            <a:extLst>
              <a:ext uri="{FF2B5EF4-FFF2-40B4-BE49-F238E27FC236}">
                <a16:creationId xmlns:a16="http://schemas.microsoft.com/office/drawing/2014/main" id="{EBDAF6AD-C22A-0726-FB71-241FD8BFABD9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6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1D45400F-2B74-200D-8F59-CB16084E45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89 CuadroTexto">
            <a:extLst>
              <a:ext uri="{FF2B5EF4-FFF2-40B4-BE49-F238E27FC236}">
                <a16:creationId xmlns:a16="http://schemas.microsoft.com/office/drawing/2014/main" id="{7757460A-1AF7-0947-4FC3-C8815C6273EB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Despachos</a:t>
            </a:r>
          </a:p>
        </p:txBody>
      </p:sp>
      <p:grpSp>
        <p:nvGrpSpPr>
          <p:cNvPr id="18" name="Agrupar 49">
            <a:extLst>
              <a:ext uri="{FF2B5EF4-FFF2-40B4-BE49-F238E27FC236}">
                <a16:creationId xmlns:a16="http://schemas.microsoft.com/office/drawing/2014/main" id="{414DA2A0-A642-54B7-DED0-23C577341513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19" name="CuadroTexto 33">
              <a:extLst>
                <a:ext uri="{FF2B5EF4-FFF2-40B4-BE49-F238E27FC236}">
                  <a16:creationId xmlns:a16="http://schemas.microsoft.com/office/drawing/2014/main" id="{0B9C2AFA-5D3A-A4D3-A8EF-57973478BCA2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0" name="CuadroTexto 34">
              <a:extLst>
                <a:ext uri="{FF2B5EF4-FFF2-40B4-BE49-F238E27FC236}">
                  <a16:creationId xmlns:a16="http://schemas.microsoft.com/office/drawing/2014/main" id="{5C2E5DE8-413F-9522-E94E-DAB9CA21FAEE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5" name="CuadroTexto 35">
              <a:extLst>
                <a:ext uri="{FF2B5EF4-FFF2-40B4-BE49-F238E27FC236}">
                  <a16:creationId xmlns:a16="http://schemas.microsoft.com/office/drawing/2014/main" id="{D96446C5-156C-E538-0ED2-CF9A36B8B354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6" name="83 Rectángulo">
              <a:extLst>
                <a:ext uri="{FF2B5EF4-FFF2-40B4-BE49-F238E27FC236}">
                  <a16:creationId xmlns:a16="http://schemas.microsoft.com/office/drawing/2014/main" id="{73980566-BF35-CFA3-9754-388F7CE5F982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7" name="84 Rectángulo">
              <a:extLst>
                <a:ext uri="{FF2B5EF4-FFF2-40B4-BE49-F238E27FC236}">
                  <a16:creationId xmlns:a16="http://schemas.microsoft.com/office/drawing/2014/main" id="{502303FC-A7D1-5365-267F-9F38F1BC9725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8" name="17 Rectángulo">
              <a:extLst>
                <a:ext uri="{FF2B5EF4-FFF2-40B4-BE49-F238E27FC236}">
                  <a16:creationId xmlns:a16="http://schemas.microsoft.com/office/drawing/2014/main" id="{DA113A7E-6FD1-684D-B3AA-EA046E0D31D1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9" name="Conector angular 25">
            <a:extLst>
              <a:ext uri="{FF2B5EF4-FFF2-40B4-BE49-F238E27FC236}">
                <a16:creationId xmlns:a16="http://schemas.microsoft.com/office/drawing/2014/main" id="{A1378D53-D913-D929-8BFE-C041FE99772E}"/>
              </a:ext>
            </a:extLst>
          </p:cNvPr>
          <p:cNvCxnSpPr>
            <a:cxnSpLocks/>
            <a:stCxn id="32" idx="3"/>
            <a:endCxn id="35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0" name="Conector angular 25">
            <a:extLst>
              <a:ext uri="{FF2B5EF4-FFF2-40B4-BE49-F238E27FC236}">
                <a16:creationId xmlns:a16="http://schemas.microsoft.com/office/drawing/2014/main" id="{6DE562F8-E920-E3B2-30E4-BE2640B7222B}"/>
              </a:ext>
            </a:extLst>
          </p:cNvPr>
          <p:cNvCxnSpPr>
            <a:cxnSpLocks/>
            <a:stCxn id="32" idx="1"/>
            <a:endCxn id="34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1" name="Conector angular 25">
            <a:extLst>
              <a:ext uri="{FF2B5EF4-FFF2-40B4-BE49-F238E27FC236}">
                <a16:creationId xmlns:a16="http://schemas.microsoft.com/office/drawing/2014/main" id="{84EE3FAA-F4F0-AABF-754D-3E08FA70BBEB}"/>
              </a:ext>
            </a:extLst>
          </p:cNvPr>
          <p:cNvCxnSpPr>
            <a:cxnSpLocks/>
            <a:stCxn id="33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2" name="Tabla_IPN_GE_DP">
            <a:extLst>
              <a:ext uri="{FF2B5EF4-FFF2-40B4-BE49-F238E27FC236}">
                <a16:creationId xmlns:a16="http://schemas.microsoft.com/office/drawing/2014/main" id="{8A3F198A-1D9D-104E-090B-C938D2CD6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709733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68.8%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(7,073)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395198"/>
                  </a:ext>
                </a:extLst>
              </a:tr>
            </a:tbl>
          </a:graphicData>
        </a:graphic>
      </p:graphicFrame>
      <p:graphicFrame>
        <p:nvGraphicFramePr>
          <p:cNvPr id="33" name="Tabla_DET_GE_DP">
            <a:extLst>
              <a:ext uri="{FF2B5EF4-FFF2-40B4-BE49-F238E27FC236}">
                <a16:creationId xmlns:a16="http://schemas.microsoft.com/office/drawing/2014/main" id="{8317EBFE-4784-5EE2-6A2C-59FB6BB3B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360964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4.8%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(340)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4" name="Tabla_PAS_GE_DP">
            <a:extLst>
              <a:ext uri="{FF2B5EF4-FFF2-40B4-BE49-F238E27FC236}">
                <a16:creationId xmlns:a16="http://schemas.microsoft.com/office/drawing/2014/main" id="{550B8E97-89F1-BF56-7AD1-27E74A868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743161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21.5%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(1,524)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Tabla_PRO_GE_DP">
            <a:extLst>
              <a:ext uri="{FF2B5EF4-FFF2-40B4-BE49-F238E27FC236}">
                <a16:creationId xmlns:a16="http://schemas.microsoft.com/office/drawing/2014/main" id="{6F582F47-8559-FA2F-9BEB-F66F298CB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961066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73.6%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(5,209)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6" name="Grafico _don_GE_DP">
            <a:extLst>
              <a:ext uri="{FF2B5EF4-FFF2-40B4-BE49-F238E27FC236}">
                <a16:creationId xmlns:a16="http://schemas.microsoft.com/office/drawing/2014/main" id="{63C4D576-3616-2A63-611B-07DEFCF4C1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61137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7" name="Grafico_bar_GE_DP">
            <a:extLst>
              <a:ext uri="{FF2B5EF4-FFF2-40B4-BE49-F238E27FC236}">
                <a16:creationId xmlns:a16="http://schemas.microsoft.com/office/drawing/2014/main" id="{FD5D7235-BA91-CD0E-A6B1-E20AD66808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3413497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8" name="Tabla_DIF_GE_DP">
            <a:extLst>
              <a:ext uri="{FF2B5EF4-FFF2-40B4-BE49-F238E27FC236}">
                <a16:creationId xmlns:a16="http://schemas.microsoft.com/office/drawing/2014/main" id="{8102C700-4BB4-3EC3-4E21-B4B29F5D6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366275"/>
              </p:ext>
            </p:extLst>
          </p:nvPr>
        </p:nvGraphicFramePr>
        <p:xfrm>
          <a:off x="11640498" y="1615334"/>
          <a:ext cx="2692800" cy="5601739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285866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516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7,073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68.8%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-0.9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516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1,121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985729"/>
                  </a:ext>
                </a:extLst>
              </a:tr>
              <a:tr h="88516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867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79.8%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78.2%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20110"/>
                  </a:ext>
                </a:extLst>
              </a:tr>
              <a:tr h="88516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+1.9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022520"/>
                  </a:ext>
                </a:extLst>
              </a:tr>
              <a:tr h="88516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155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74.8%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63073"/>
                  </a:ext>
                </a:extLst>
              </a:tr>
              <a:tr h="8851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effectLst/>
                          <a:latin typeface="Montserrat" panose="00000500000000000000" pitchFamily="2" charset="0"/>
                        </a:rPr>
                        <a:t>155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 dirty="0">
                          <a:effectLst/>
                          <a:latin typeface="Montserrat" panose="00000500000000000000" pitchFamily="2" charset="0"/>
                        </a:rPr>
                        <a:t>74.8%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72.2%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Montserrat" panose="00000500000000000000" pitchFamily="2" charset="0"/>
                        </a:rPr>
                        <a:t>2.6 </a:t>
                      </a:r>
                      <a:r>
                        <a:rPr lang="es-MX" sz="1000" b="0" i="0" u="none" strike="noStrike" dirty="0" err="1">
                          <a:solidFill>
                            <a:srgbClr val="00B050"/>
                          </a:solidFill>
                          <a:effectLst/>
                          <a:latin typeface="Montserrat" panose="00000500000000000000" pitchFamily="2" charset="0"/>
                        </a:rPr>
                        <a:t>pp</a:t>
                      </a: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5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A33533B-3DF3-2FFE-27DB-66AA8F0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s-MX" dirty="0">
                <a:cs typeface="Arial" panose="020B0604020202020204" pitchFamily="34" charset="0"/>
              </a:rPr>
              <a:t>IPN TV Azteca 1Q 2026</a:t>
            </a:r>
            <a:endParaRPr lang="es-MX" dirty="0"/>
          </a:p>
        </p:txBody>
      </p:sp>
      <p:sp>
        <p:nvSpPr>
          <p:cNvPr id="11" name="25 CuadroTexto">
            <a:extLst>
              <a:ext uri="{FF2B5EF4-FFF2-40B4-BE49-F238E27FC236}">
                <a16:creationId xmlns:a16="http://schemas.microsoft.com/office/drawing/2014/main" id="{5812A179-0278-D14A-00F4-757CEC8C42E8}"/>
              </a:ext>
            </a:extLst>
          </p:cNvPr>
          <p:cNvSpPr txBox="1"/>
          <p:nvPr/>
        </p:nvSpPr>
        <p:spPr>
          <a:xfrm>
            <a:off x="11640498" y="7879198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2" name="Imagen 32">
            <a:hlinkClick r:id="rId2" action="ppaction://hlinksldjump"/>
            <a:extLst>
              <a:ext uri="{FF2B5EF4-FFF2-40B4-BE49-F238E27FC236}">
                <a16:creationId xmlns:a16="http://schemas.microsoft.com/office/drawing/2014/main" id="{C1DD1012-6DD6-6815-ED8C-6437D06E8F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89 CuadroTexto">
            <a:extLst>
              <a:ext uri="{FF2B5EF4-FFF2-40B4-BE49-F238E27FC236}">
                <a16:creationId xmlns:a16="http://schemas.microsoft.com/office/drawing/2014/main" id="{6F5ECD68-B718-717B-DA0A-5EE060C71721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TV Azteca</a:t>
            </a:r>
          </a:p>
        </p:txBody>
      </p:sp>
      <p:grpSp>
        <p:nvGrpSpPr>
          <p:cNvPr id="14" name="Agrupar 49">
            <a:extLst>
              <a:ext uri="{FF2B5EF4-FFF2-40B4-BE49-F238E27FC236}">
                <a16:creationId xmlns:a16="http://schemas.microsoft.com/office/drawing/2014/main" id="{A6945BDE-23DD-DC9E-DEDE-510EEDB7D427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15" name="CuadroTexto 33">
              <a:extLst>
                <a:ext uri="{FF2B5EF4-FFF2-40B4-BE49-F238E27FC236}">
                  <a16:creationId xmlns:a16="http://schemas.microsoft.com/office/drawing/2014/main" id="{B33AF921-3B5B-6E28-9915-D23980907A81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16" name="CuadroTexto 34">
              <a:extLst>
                <a:ext uri="{FF2B5EF4-FFF2-40B4-BE49-F238E27FC236}">
                  <a16:creationId xmlns:a16="http://schemas.microsoft.com/office/drawing/2014/main" id="{BA9928A8-EAB6-A7DC-3D67-F46E26B2C437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17" name="CuadroTexto 35">
              <a:extLst>
                <a:ext uri="{FF2B5EF4-FFF2-40B4-BE49-F238E27FC236}">
                  <a16:creationId xmlns:a16="http://schemas.microsoft.com/office/drawing/2014/main" id="{BD1885DB-4C4E-2E21-12FD-06C31B6414AD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18" name="83 Rectángulo">
              <a:extLst>
                <a:ext uri="{FF2B5EF4-FFF2-40B4-BE49-F238E27FC236}">
                  <a16:creationId xmlns:a16="http://schemas.microsoft.com/office/drawing/2014/main" id="{59C29C22-C16E-347F-F7AE-F59E6C0D0074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0" name="84 Rectángulo">
              <a:extLst>
                <a:ext uri="{FF2B5EF4-FFF2-40B4-BE49-F238E27FC236}">
                  <a16:creationId xmlns:a16="http://schemas.microsoft.com/office/drawing/2014/main" id="{F1BF2DE4-C541-8985-89C6-0765D4E6A19C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1" name="17 Rectángulo">
              <a:extLst>
                <a:ext uri="{FF2B5EF4-FFF2-40B4-BE49-F238E27FC236}">
                  <a16:creationId xmlns:a16="http://schemas.microsoft.com/office/drawing/2014/main" id="{894B9C2B-706A-7078-3175-7DCF8B6F166A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2" name="Conector angular 25">
            <a:extLst>
              <a:ext uri="{FF2B5EF4-FFF2-40B4-BE49-F238E27FC236}">
                <a16:creationId xmlns:a16="http://schemas.microsoft.com/office/drawing/2014/main" id="{48FB7E53-56BD-7754-011F-D486AE401D2C}"/>
              </a:ext>
            </a:extLst>
          </p:cNvPr>
          <p:cNvCxnSpPr>
            <a:cxnSpLocks/>
            <a:stCxn id="25" idx="3"/>
            <a:endCxn id="28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3" name="Conector angular 25">
            <a:extLst>
              <a:ext uri="{FF2B5EF4-FFF2-40B4-BE49-F238E27FC236}">
                <a16:creationId xmlns:a16="http://schemas.microsoft.com/office/drawing/2014/main" id="{61E38873-F8C4-6067-0F25-20614D7919FD}"/>
              </a:ext>
            </a:extLst>
          </p:cNvPr>
          <p:cNvCxnSpPr>
            <a:cxnSpLocks/>
            <a:stCxn id="25" idx="1"/>
            <a:endCxn id="27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4" name="Conector angular 25">
            <a:extLst>
              <a:ext uri="{FF2B5EF4-FFF2-40B4-BE49-F238E27FC236}">
                <a16:creationId xmlns:a16="http://schemas.microsoft.com/office/drawing/2014/main" id="{027394AB-12BB-F6DA-E3A2-BC381DBCCEC7}"/>
              </a:ext>
            </a:extLst>
          </p:cNvPr>
          <p:cNvCxnSpPr>
            <a:cxnSpLocks/>
            <a:stCxn id="26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5" name="Tabla_IPN_GE_TV">
            <a:extLst>
              <a:ext uri="{FF2B5EF4-FFF2-40B4-BE49-F238E27FC236}">
                <a16:creationId xmlns:a16="http://schemas.microsoft.com/office/drawing/2014/main" id="{FDDE54CB-5D5D-2A25-1B5F-1E4A90E0E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757769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64.8%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(2,651)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134001"/>
                  </a:ext>
                </a:extLst>
              </a:tr>
            </a:tbl>
          </a:graphicData>
        </a:graphic>
      </p:graphicFrame>
      <p:graphicFrame>
        <p:nvGraphicFramePr>
          <p:cNvPr id="26" name="Tabla_DET_GE_TV">
            <a:extLst>
              <a:ext uri="{FF2B5EF4-FFF2-40B4-BE49-F238E27FC236}">
                <a16:creationId xmlns:a16="http://schemas.microsoft.com/office/drawing/2014/main" id="{327126EB-10F0-E4AD-87AD-91A896642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416527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7.0%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(185)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7" name="Tabla_PAS_GE_TV">
            <a:extLst>
              <a:ext uri="{FF2B5EF4-FFF2-40B4-BE49-F238E27FC236}">
                <a16:creationId xmlns:a16="http://schemas.microsoft.com/office/drawing/2014/main" id="{48ABAA67-3351-9CA2-6EE4-C87E04A26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450283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21.2%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(563)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8" name="Tabla_PRO_GE_TV">
            <a:extLst>
              <a:ext uri="{FF2B5EF4-FFF2-40B4-BE49-F238E27FC236}">
                <a16:creationId xmlns:a16="http://schemas.microsoft.com/office/drawing/2014/main" id="{7511000F-28A3-C6E2-9547-C9F21F479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393205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71.8%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(1,903)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9" name="Grafico _don_GE_TV">
            <a:extLst>
              <a:ext uri="{FF2B5EF4-FFF2-40B4-BE49-F238E27FC236}">
                <a16:creationId xmlns:a16="http://schemas.microsoft.com/office/drawing/2014/main" id="{3BBBA267-791D-2C48-D7EB-A2F01CE8AC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803837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2" name="Grafico_bar_TV">
            <a:extLst>
              <a:ext uri="{FF2B5EF4-FFF2-40B4-BE49-F238E27FC236}">
                <a16:creationId xmlns:a16="http://schemas.microsoft.com/office/drawing/2014/main" id="{4E10000E-0383-539C-5D81-52C9FE79DA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3813137"/>
              </p:ext>
            </p:extLst>
          </p:nvPr>
        </p:nvGraphicFramePr>
        <p:xfrm>
          <a:off x="5045089" y="1376185"/>
          <a:ext cx="6526600" cy="6350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9" name="Tabla_DIF_TV">
            <a:extLst>
              <a:ext uri="{FF2B5EF4-FFF2-40B4-BE49-F238E27FC236}">
                <a16:creationId xmlns:a16="http://schemas.microsoft.com/office/drawing/2014/main" id="{381419D1-0F3E-03DB-100B-06B4A79CF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922975"/>
              </p:ext>
            </p:extLst>
          </p:nvPr>
        </p:nvGraphicFramePr>
        <p:xfrm>
          <a:off x="11623551" y="1037231"/>
          <a:ext cx="2715914" cy="6689561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33788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2,651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64.8%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68.4%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60.5%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+7.9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798918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451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119409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219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53.4%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55.6%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612545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179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53.6%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-8.3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227745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154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74.7%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82.3%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-7.6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49603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63.2%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-6.8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537503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66.7%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+3.3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509172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88.9%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-11.1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+25.0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-25.0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 dirty="0">
                          <a:effectLst/>
                          <a:latin typeface="Montserrat" panose="00000500000000000000" pitchFamily="2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 dirty="0">
                          <a:effectLst/>
                          <a:latin typeface="Montserrat" panose="00000500000000000000" pitchFamily="2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 dirty="0">
                          <a:effectLst/>
                          <a:latin typeface="Montserrat" panose="00000500000000000000" pitchFamily="2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 dirty="0">
                          <a:effectLst/>
                          <a:latin typeface="Montserrat" panose="00000500000000000000" pitchFamily="2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 dirty="0">
                          <a:effectLst/>
                          <a:latin typeface="Montserrat" panose="00000500000000000000" pitchFamily="2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ítulo 30">
            <a:extLst>
              <a:ext uri="{FF2B5EF4-FFF2-40B4-BE49-F238E27FC236}">
                <a16:creationId xmlns:a16="http://schemas.microsoft.com/office/drawing/2014/main" id="{BD242D80-6E52-7670-9842-05F71C76D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Totalplay 1Q 2026</a:t>
            </a:r>
          </a:p>
        </p:txBody>
      </p:sp>
      <p:sp>
        <p:nvSpPr>
          <p:cNvPr id="11" name="25 CuadroTexto">
            <a:extLst>
              <a:ext uri="{FF2B5EF4-FFF2-40B4-BE49-F238E27FC236}">
                <a16:creationId xmlns:a16="http://schemas.microsoft.com/office/drawing/2014/main" id="{FC1FDDBF-EB15-A3B3-0F2B-D3DEF81D1DF1}"/>
              </a:ext>
            </a:extLst>
          </p:cNvPr>
          <p:cNvSpPr txBox="1"/>
          <p:nvPr/>
        </p:nvSpPr>
        <p:spPr>
          <a:xfrm>
            <a:off x="11640498" y="7871182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2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A0376544-ED41-66DB-B4F3-E0526285BD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89 CuadroTexto">
            <a:extLst>
              <a:ext uri="{FF2B5EF4-FFF2-40B4-BE49-F238E27FC236}">
                <a16:creationId xmlns:a16="http://schemas.microsoft.com/office/drawing/2014/main" id="{6F902A59-377F-F3F2-8C4E-D6941EA4D25A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Totalplay</a:t>
            </a:r>
          </a:p>
        </p:txBody>
      </p:sp>
      <p:grpSp>
        <p:nvGrpSpPr>
          <p:cNvPr id="14" name="Agrupar 49">
            <a:extLst>
              <a:ext uri="{FF2B5EF4-FFF2-40B4-BE49-F238E27FC236}">
                <a16:creationId xmlns:a16="http://schemas.microsoft.com/office/drawing/2014/main" id="{B792FD3B-1E06-458F-E9CB-33E6FCA3A035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15" name="CuadroTexto 33">
              <a:extLst>
                <a:ext uri="{FF2B5EF4-FFF2-40B4-BE49-F238E27FC236}">
                  <a16:creationId xmlns:a16="http://schemas.microsoft.com/office/drawing/2014/main" id="{E999BE4C-D51F-5514-9066-90DA49FED6C7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16" name="CuadroTexto 34">
              <a:extLst>
                <a:ext uri="{FF2B5EF4-FFF2-40B4-BE49-F238E27FC236}">
                  <a16:creationId xmlns:a16="http://schemas.microsoft.com/office/drawing/2014/main" id="{3509B7EF-531B-A240-35EE-509ECC186AFD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17" name="CuadroTexto 35">
              <a:extLst>
                <a:ext uri="{FF2B5EF4-FFF2-40B4-BE49-F238E27FC236}">
                  <a16:creationId xmlns:a16="http://schemas.microsoft.com/office/drawing/2014/main" id="{DE52F72C-2BCE-5828-AD03-EA9BE8DF28C2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18" name="83 Rectángulo">
              <a:extLst>
                <a:ext uri="{FF2B5EF4-FFF2-40B4-BE49-F238E27FC236}">
                  <a16:creationId xmlns:a16="http://schemas.microsoft.com/office/drawing/2014/main" id="{041DC418-E5EF-8B75-1EDD-DEA9330A8142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19" name="84 Rectángulo">
              <a:extLst>
                <a:ext uri="{FF2B5EF4-FFF2-40B4-BE49-F238E27FC236}">
                  <a16:creationId xmlns:a16="http://schemas.microsoft.com/office/drawing/2014/main" id="{637B7F7F-9C7B-F471-D575-3512525A08FA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0" name="17 Rectángulo">
              <a:extLst>
                <a:ext uri="{FF2B5EF4-FFF2-40B4-BE49-F238E27FC236}">
                  <a16:creationId xmlns:a16="http://schemas.microsoft.com/office/drawing/2014/main" id="{3EFC4A81-ED8C-2F23-D213-05B6BD494B97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1" name="Conector angular 25">
            <a:extLst>
              <a:ext uri="{FF2B5EF4-FFF2-40B4-BE49-F238E27FC236}">
                <a16:creationId xmlns:a16="http://schemas.microsoft.com/office/drawing/2014/main" id="{783AB001-5C70-6C16-991E-FD4014A2B1DA}"/>
              </a:ext>
            </a:extLst>
          </p:cNvPr>
          <p:cNvCxnSpPr>
            <a:cxnSpLocks/>
            <a:stCxn id="24" idx="3"/>
            <a:endCxn id="27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2" name="Conector angular 25">
            <a:extLst>
              <a:ext uri="{FF2B5EF4-FFF2-40B4-BE49-F238E27FC236}">
                <a16:creationId xmlns:a16="http://schemas.microsoft.com/office/drawing/2014/main" id="{A2105509-39EF-848C-5C53-E014E040EE75}"/>
              </a:ext>
            </a:extLst>
          </p:cNvPr>
          <p:cNvCxnSpPr>
            <a:cxnSpLocks/>
            <a:stCxn id="24" idx="1"/>
            <a:endCxn id="26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3" name="Conector angular 25">
            <a:extLst>
              <a:ext uri="{FF2B5EF4-FFF2-40B4-BE49-F238E27FC236}">
                <a16:creationId xmlns:a16="http://schemas.microsoft.com/office/drawing/2014/main" id="{0A4C2556-3BEF-2585-AC4A-AC764D021BE7}"/>
              </a:ext>
            </a:extLst>
          </p:cNvPr>
          <p:cNvCxnSpPr>
            <a:cxnSpLocks/>
            <a:stCxn id="25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4" name="Tabla_IPN_GE_TP">
            <a:extLst>
              <a:ext uri="{FF2B5EF4-FFF2-40B4-BE49-F238E27FC236}">
                <a16:creationId xmlns:a16="http://schemas.microsoft.com/office/drawing/2014/main" id="{B47C1216-481B-38C9-C8AE-D1C72B5637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989769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59.4%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(4,385)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943798"/>
                  </a:ext>
                </a:extLst>
              </a:tr>
            </a:tbl>
          </a:graphicData>
        </a:graphic>
      </p:graphicFrame>
      <p:graphicFrame>
        <p:nvGraphicFramePr>
          <p:cNvPr id="25" name="Tabla_DET_GE_TP">
            <a:extLst>
              <a:ext uri="{FF2B5EF4-FFF2-40B4-BE49-F238E27FC236}">
                <a16:creationId xmlns:a16="http://schemas.microsoft.com/office/drawing/2014/main" id="{21E4732B-57D4-B343-8AFB-B95932A73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624198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8.6%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(375)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6" name="Tabla_PAS_GE_TP">
            <a:extLst>
              <a:ext uri="{FF2B5EF4-FFF2-40B4-BE49-F238E27FC236}">
                <a16:creationId xmlns:a16="http://schemas.microsoft.com/office/drawing/2014/main" id="{4C6CDCF5-7841-DE52-F8BF-D83838280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282463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23.4%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(1,028)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7" name="Tabla_PRO_GE_TP">
            <a:extLst>
              <a:ext uri="{FF2B5EF4-FFF2-40B4-BE49-F238E27FC236}">
                <a16:creationId xmlns:a16="http://schemas.microsoft.com/office/drawing/2014/main" id="{0DF5A4EF-9748-DA21-A199-11B45A822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918057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68.0%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(2,982)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8" name="Grafico _don_GE_TP">
            <a:extLst>
              <a:ext uri="{FF2B5EF4-FFF2-40B4-BE49-F238E27FC236}">
                <a16:creationId xmlns:a16="http://schemas.microsoft.com/office/drawing/2014/main" id="{659CADF4-8BEA-5DAB-C595-85A9B81197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724636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9" name="Grafico_bar_TP">
            <a:extLst>
              <a:ext uri="{FF2B5EF4-FFF2-40B4-BE49-F238E27FC236}">
                <a16:creationId xmlns:a16="http://schemas.microsoft.com/office/drawing/2014/main" id="{C83897A4-2E31-7D2C-39A5-137A4D7194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4154162"/>
              </p:ext>
            </p:extLst>
          </p:nvPr>
        </p:nvGraphicFramePr>
        <p:xfrm>
          <a:off x="5045089" y="1376185"/>
          <a:ext cx="6526600" cy="6350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0" name="Tabla_DIF_TP">
            <a:extLst>
              <a:ext uri="{FF2B5EF4-FFF2-40B4-BE49-F238E27FC236}">
                <a16:creationId xmlns:a16="http://schemas.microsoft.com/office/drawing/2014/main" id="{6567A501-CB68-D10E-F373-28B7F5969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983527"/>
              </p:ext>
            </p:extLst>
          </p:nvPr>
        </p:nvGraphicFramePr>
        <p:xfrm>
          <a:off x="11623551" y="1066800"/>
          <a:ext cx="2715914" cy="6660003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324483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4,385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59.5%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61.0%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1,833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68.0%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035606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838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52.9%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54.0%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-1.2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187349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408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56.4%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58.7%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902852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341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53.7%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60.7%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-7.1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712798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292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40.8%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47.8%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-7.1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470113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194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59.8%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63.1%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-3.3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207775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43.3%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40.8%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+2.4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86.8%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81.1%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+5.7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84.8%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89.6%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-4.8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32.5%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44.2%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-11.7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57.7%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+7.7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88.2%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-11.8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900" b="1" i="0" u="none" strike="noStrike" dirty="0">
                          <a:effectLst/>
                          <a:latin typeface="Montserrat" panose="00000500000000000000" pitchFamily="2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39631-E6C1-CF70-1DF7-DFF102169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0E90E15-4BF2-39DB-4DF6-E8CC1A4AF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IPN Negócios Família 1Q 2026</a:t>
            </a:r>
            <a:endParaRPr lang="es-MX" dirty="0"/>
          </a:p>
        </p:txBody>
      </p:sp>
      <p:sp>
        <p:nvSpPr>
          <p:cNvPr id="18" name="25 CuadroTexto">
            <a:extLst>
              <a:ext uri="{FF2B5EF4-FFF2-40B4-BE49-F238E27FC236}">
                <a16:creationId xmlns:a16="http://schemas.microsoft.com/office/drawing/2014/main" id="{A93CBAEA-A435-B3CB-9089-2FF8D6AD69DF}"/>
              </a:ext>
            </a:extLst>
          </p:cNvPr>
          <p:cNvSpPr txBox="1"/>
          <p:nvPr/>
        </p:nvSpPr>
        <p:spPr>
          <a:xfrm>
            <a:off x="11640498" y="7726798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9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69E68870-E91F-F777-E665-2F50919173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89 CuadroTexto">
            <a:extLst>
              <a:ext uri="{FF2B5EF4-FFF2-40B4-BE49-F238E27FC236}">
                <a16:creationId xmlns:a16="http://schemas.microsoft.com/office/drawing/2014/main" id="{DF20AC73-F87E-883F-5501-1B2C00AB7129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Negocios Familia</a:t>
            </a:r>
          </a:p>
        </p:txBody>
      </p:sp>
      <p:grpSp>
        <p:nvGrpSpPr>
          <p:cNvPr id="25" name="Agrupar 49">
            <a:extLst>
              <a:ext uri="{FF2B5EF4-FFF2-40B4-BE49-F238E27FC236}">
                <a16:creationId xmlns:a16="http://schemas.microsoft.com/office/drawing/2014/main" id="{E46681EA-1C9E-BCCE-6442-61487F4A764D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6" name="CuadroTexto 33">
              <a:extLst>
                <a:ext uri="{FF2B5EF4-FFF2-40B4-BE49-F238E27FC236}">
                  <a16:creationId xmlns:a16="http://schemas.microsoft.com/office/drawing/2014/main" id="{5F3ED8B9-414B-0C08-3760-23CF7486094D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7" name="CuadroTexto 34">
              <a:extLst>
                <a:ext uri="{FF2B5EF4-FFF2-40B4-BE49-F238E27FC236}">
                  <a16:creationId xmlns:a16="http://schemas.microsoft.com/office/drawing/2014/main" id="{54909530-F89E-ADE9-E44A-5A46F6E5611E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8" name="CuadroTexto 35">
              <a:extLst>
                <a:ext uri="{FF2B5EF4-FFF2-40B4-BE49-F238E27FC236}">
                  <a16:creationId xmlns:a16="http://schemas.microsoft.com/office/drawing/2014/main" id="{7631D36F-68FE-1BDB-54E6-96C41ACFBBF0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9" name="83 Rectángulo">
              <a:extLst>
                <a:ext uri="{FF2B5EF4-FFF2-40B4-BE49-F238E27FC236}">
                  <a16:creationId xmlns:a16="http://schemas.microsoft.com/office/drawing/2014/main" id="{FC40BF2C-5039-0E41-A662-3691CC1AA3D7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0" name="84 Rectángulo">
              <a:extLst>
                <a:ext uri="{FF2B5EF4-FFF2-40B4-BE49-F238E27FC236}">
                  <a16:creationId xmlns:a16="http://schemas.microsoft.com/office/drawing/2014/main" id="{390781A0-F673-9E72-EAE4-520DE7A88E70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1" name="17 Rectángulo">
              <a:extLst>
                <a:ext uri="{FF2B5EF4-FFF2-40B4-BE49-F238E27FC236}">
                  <a16:creationId xmlns:a16="http://schemas.microsoft.com/office/drawing/2014/main" id="{EB42819D-6D15-F03B-EC62-1092CF873A28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2" name="Conector angular 25">
            <a:extLst>
              <a:ext uri="{FF2B5EF4-FFF2-40B4-BE49-F238E27FC236}">
                <a16:creationId xmlns:a16="http://schemas.microsoft.com/office/drawing/2014/main" id="{E594717C-7ED8-4AE6-6AFE-4D3115A71060}"/>
              </a:ext>
            </a:extLst>
          </p:cNvPr>
          <p:cNvCxnSpPr>
            <a:cxnSpLocks/>
            <a:stCxn id="35" idx="3"/>
            <a:endCxn id="38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3" name="Conector angular 25">
            <a:extLst>
              <a:ext uri="{FF2B5EF4-FFF2-40B4-BE49-F238E27FC236}">
                <a16:creationId xmlns:a16="http://schemas.microsoft.com/office/drawing/2014/main" id="{4C5CCF59-64E0-9B4F-62C7-48C6EA64AEAC}"/>
              </a:ext>
            </a:extLst>
          </p:cNvPr>
          <p:cNvCxnSpPr>
            <a:cxnSpLocks/>
            <a:stCxn id="35" idx="1"/>
            <a:endCxn id="37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4" name="Conector angular 25">
            <a:extLst>
              <a:ext uri="{FF2B5EF4-FFF2-40B4-BE49-F238E27FC236}">
                <a16:creationId xmlns:a16="http://schemas.microsoft.com/office/drawing/2014/main" id="{26AC4D35-8E39-95E6-10B0-DB012849E997}"/>
              </a:ext>
            </a:extLst>
          </p:cNvPr>
          <p:cNvCxnSpPr>
            <a:cxnSpLocks/>
            <a:stCxn id="36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5" name="Tabla_IPN_GE_NG">
            <a:extLst>
              <a:ext uri="{FF2B5EF4-FFF2-40B4-BE49-F238E27FC236}">
                <a16:creationId xmlns:a16="http://schemas.microsoft.com/office/drawing/2014/main" id="{89C5FC8E-696C-5365-BFB7-817BE64E2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745873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67.1%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(256)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315234"/>
                  </a:ext>
                </a:extLst>
              </a:tr>
            </a:tbl>
          </a:graphicData>
        </a:graphic>
      </p:graphicFrame>
      <p:graphicFrame>
        <p:nvGraphicFramePr>
          <p:cNvPr id="36" name="Tabla_DET_GE_NG">
            <a:extLst>
              <a:ext uri="{FF2B5EF4-FFF2-40B4-BE49-F238E27FC236}">
                <a16:creationId xmlns:a16="http://schemas.microsoft.com/office/drawing/2014/main" id="{2682D04A-BF32-6726-0A39-EAFCFA683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027599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5.9%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7" name="Tabla_PAS_GE_NG">
            <a:extLst>
              <a:ext uri="{FF2B5EF4-FFF2-40B4-BE49-F238E27FC236}">
                <a16:creationId xmlns:a16="http://schemas.microsoft.com/office/drawing/2014/main" id="{1C4564FF-E26C-70F0-FBA3-B3A4D420F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139140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21.1%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(54)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8" name="Tabla_PRO_GE_NG">
            <a:extLst>
              <a:ext uri="{FF2B5EF4-FFF2-40B4-BE49-F238E27FC236}">
                <a16:creationId xmlns:a16="http://schemas.microsoft.com/office/drawing/2014/main" id="{8F93BDB9-2483-8D91-6ECF-BC44CFC7A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957222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73.0%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(187)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9" name="Grafico _don_GE_NG">
            <a:extLst>
              <a:ext uri="{FF2B5EF4-FFF2-40B4-BE49-F238E27FC236}">
                <a16:creationId xmlns:a16="http://schemas.microsoft.com/office/drawing/2014/main" id="{928CE8C9-5B66-A416-63CF-C70A37EC3A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0575848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0" name="Grafico_bar_NG">
            <a:extLst>
              <a:ext uri="{FF2B5EF4-FFF2-40B4-BE49-F238E27FC236}">
                <a16:creationId xmlns:a16="http://schemas.microsoft.com/office/drawing/2014/main" id="{6B4B3711-A592-F205-C817-ED2294AC0C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4147110"/>
              </p:ext>
            </p:extLst>
          </p:nvPr>
        </p:nvGraphicFramePr>
        <p:xfrm>
          <a:off x="5045089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1" name="Tabla_DIF_NG">
            <a:extLst>
              <a:ext uri="{FF2B5EF4-FFF2-40B4-BE49-F238E27FC236}">
                <a16:creationId xmlns:a16="http://schemas.microsoft.com/office/drawing/2014/main" id="{9945FAE6-35EA-C2C2-95CB-10FD84097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2736"/>
              </p:ext>
            </p:extLst>
          </p:nvPr>
        </p:nvGraphicFramePr>
        <p:xfrm>
          <a:off x="11623551" y="1460439"/>
          <a:ext cx="2715914" cy="6029425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4580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256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65.0%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82.5%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58.1%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+24.4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649599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47.8%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37.5%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+10.3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91.7%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83.3%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+8.3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+25.0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-25.0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effectLst/>
                          <a:latin typeface="Montserrat" panose="00000500000000000000" pitchFamily="2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59491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4A81C90-DBA0-4AEA-F96B-262964354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Otros Negocios 1Q 2026</a:t>
            </a:r>
          </a:p>
        </p:txBody>
      </p:sp>
      <p:sp>
        <p:nvSpPr>
          <p:cNvPr id="17" name="25 CuadroTexto">
            <a:extLst>
              <a:ext uri="{FF2B5EF4-FFF2-40B4-BE49-F238E27FC236}">
                <a16:creationId xmlns:a16="http://schemas.microsoft.com/office/drawing/2014/main" id="{D733B985-99EF-E94B-4872-F21FD5191C69}"/>
              </a:ext>
            </a:extLst>
          </p:cNvPr>
          <p:cNvSpPr txBox="1"/>
          <p:nvPr/>
        </p:nvSpPr>
        <p:spPr>
          <a:xfrm>
            <a:off x="11640498" y="7875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8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D94060B8-CA3C-2010-DF6F-B33F1A90DC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89 CuadroTexto">
            <a:extLst>
              <a:ext uri="{FF2B5EF4-FFF2-40B4-BE49-F238E27FC236}">
                <a16:creationId xmlns:a16="http://schemas.microsoft.com/office/drawing/2014/main" id="{97D5A78E-D4C5-A511-D23F-4D401965509F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Otros Negocios</a:t>
            </a:r>
          </a:p>
        </p:txBody>
      </p:sp>
      <p:grpSp>
        <p:nvGrpSpPr>
          <p:cNvPr id="20" name="Agrupar 49">
            <a:extLst>
              <a:ext uri="{FF2B5EF4-FFF2-40B4-BE49-F238E27FC236}">
                <a16:creationId xmlns:a16="http://schemas.microsoft.com/office/drawing/2014/main" id="{469A83CE-39BF-728D-65FC-859F87A37609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5" name="CuadroTexto 33">
              <a:extLst>
                <a:ext uri="{FF2B5EF4-FFF2-40B4-BE49-F238E27FC236}">
                  <a16:creationId xmlns:a16="http://schemas.microsoft.com/office/drawing/2014/main" id="{483F5B21-894A-7C3F-6628-186F69329AAA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6" name="CuadroTexto 34">
              <a:extLst>
                <a:ext uri="{FF2B5EF4-FFF2-40B4-BE49-F238E27FC236}">
                  <a16:creationId xmlns:a16="http://schemas.microsoft.com/office/drawing/2014/main" id="{6677FB1C-6077-BF56-1BC0-E89A2048F4DD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7" name="CuadroTexto 35">
              <a:extLst>
                <a:ext uri="{FF2B5EF4-FFF2-40B4-BE49-F238E27FC236}">
                  <a16:creationId xmlns:a16="http://schemas.microsoft.com/office/drawing/2014/main" id="{19A0E672-E3D8-1811-A27F-2F8DE4C1FE57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8" name="83 Rectángulo">
              <a:extLst>
                <a:ext uri="{FF2B5EF4-FFF2-40B4-BE49-F238E27FC236}">
                  <a16:creationId xmlns:a16="http://schemas.microsoft.com/office/drawing/2014/main" id="{72623D5F-E167-6BA3-9DEF-7BE8EF29E34D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9" name="84 Rectángulo">
              <a:extLst>
                <a:ext uri="{FF2B5EF4-FFF2-40B4-BE49-F238E27FC236}">
                  <a16:creationId xmlns:a16="http://schemas.microsoft.com/office/drawing/2014/main" id="{1ED408AB-D685-D696-BA49-D97D481E7ECC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0" name="17 Rectángulo">
              <a:extLst>
                <a:ext uri="{FF2B5EF4-FFF2-40B4-BE49-F238E27FC236}">
                  <a16:creationId xmlns:a16="http://schemas.microsoft.com/office/drawing/2014/main" id="{6C018355-5C03-C588-DC59-33D6D1EB4381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1" name="Conector angular 25">
            <a:extLst>
              <a:ext uri="{FF2B5EF4-FFF2-40B4-BE49-F238E27FC236}">
                <a16:creationId xmlns:a16="http://schemas.microsoft.com/office/drawing/2014/main" id="{3CE790FB-00B0-BFBC-6A83-52270DA08F74}"/>
              </a:ext>
            </a:extLst>
          </p:cNvPr>
          <p:cNvCxnSpPr>
            <a:cxnSpLocks/>
            <a:stCxn id="34" idx="3"/>
            <a:endCxn id="37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2" name="Conector angular 25">
            <a:extLst>
              <a:ext uri="{FF2B5EF4-FFF2-40B4-BE49-F238E27FC236}">
                <a16:creationId xmlns:a16="http://schemas.microsoft.com/office/drawing/2014/main" id="{254696F2-1E00-E946-1178-CA7C362A100D}"/>
              </a:ext>
            </a:extLst>
          </p:cNvPr>
          <p:cNvCxnSpPr>
            <a:cxnSpLocks/>
            <a:stCxn id="34" idx="1"/>
            <a:endCxn id="36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3" name="Conector angular 25">
            <a:extLst>
              <a:ext uri="{FF2B5EF4-FFF2-40B4-BE49-F238E27FC236}">
                <a16:creationId xmlns:a16="http://schemas.microsoft.com/office/drawing/2014/main" id="{A608109A-F48D-FF34-EA61-8E404B0434F9}"/>
              </a:ext>
            </a:extLst>
          </p:cNvPr>
          <p:cNvCxnSpPr>
            <a:cxnSpLocks/>
            <a:stCxn id="35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4" name="Tabla_IPN_GE_ON">
            <a:extLst>
              <a:ext uri="{FF2B5EF4-FFF2-40B4-BE49-F238E27FC236}">
                <a16:creationId xmlns:a16="http://schemas.microsoft.com/office/drawing/2014/main" id="{BCD0CFF2-88C0-22FA-B68A-20459E7F4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979399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50.4%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(762)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216052"/>
                  </a:ext>
                </a:extLst>
              </a:tr>
            </a:tbl>
          </a:graphicData>
        </a:graphic>
      </p:graphicFrame>
      <p:graphicFrame>
        <p:nvGraphicFramePr>
          <p:cNvPr id="35" name="Tabla_DET_GE_ON">
            <a:extLst>
              <a:ext uri="{FF2B5EF4-FFF2-40B4-BE49-F238E27FC236}">
                <a16:creationId xmlns:a16="http://schemas.microsoft.com/office/drawing/2014/main" id="{3E5FDA7C-7CD2-3584-D023-600D8495E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407066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9.8%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(75)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6" name="Tabla_PAS_GE_ON">
            <a:extLst>
              <a:ext uri="{FF2B5EF4-FFF2-40B4-BE49-F238E27FC236}">
                <a16:creationId xmlns:a16="http://schemas.microsoft.com/office/drawing/2014/main" id="{FEBD6972-6FAE-92B0-ED5C-D874C9C2B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221486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29.9%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(228)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7" name="Tabla_PRO_GE_ON">
            <a:extLst>
              <a:ext uri="{FF2B5EF4-FFF2-40B4-BE49-F238E27FC236}">
                <a16:creationId xmlns:a16="http://schemas.microsoft.com/office/drawing/2014/main" id="{182FC528-439E-F53C-0E1F-81C3A0FC8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769805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60.2%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(459)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8" name="Grafico _don_GE_ON">
            <a:extLst>
              <a:ext uri="{FF2B5EF4-FFF2-40B4-BE49-F238E27FC236}">
                <a16:creationId xmlns:a16="http://schemas.microsoft.com/office/drawing/2014/main" id="{51963C4C-A0E9-60C7-6C05-5126DA30F5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302631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9" name="Grafico_bar_GE_ON">
            <a:extLst>
              <a:ext uri="{FF2B5EF4-FFF2-40B4-BE49-F238E27FC236}">
                <a16:creationId xmlns:a16="http://schemas.microsoft.com/office/drawing/2014/main" id="{09D9E871-F3BA-2C1F-62B4-6B7AF141CC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8177868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0" name="Tabla_DIF_GE_ON">
            <a:extLst>
              <a:ext uri="{FF2B5EF4-FFF2-40B4-BE49-F238E27FC236}">
                <a16:creationId xmlns:a16="http://schemas.microsoft.com/office/drawing/2014/main" id="{5F5F0E39-0DA1-4B4B-972B-E5FB81AC8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128957"/>
              </p:ext>
            </p:extLst>
          </p:nvPr>
        </p:nvGraphicFramePr>
        <p:xfrm>
          <a:off x="11640498" y="1483254"/>
          <a:ext cx="2692800" cy="5728917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43476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353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50.4%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51.8%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-1.4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353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48.7%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51.4%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985729"/>
                  </a:ext>
                </a:extLst>
              </a:tr>
              <a:tr h="132353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57.5%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+17.5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20110"/>
                  </a:ext>
                </a:extLst>
              </a:tr>
              <a:tr h="132353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0225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99DD573B-EF8E-6012-A0D0-C8D2D2EA5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Soporte Estratégico 1Q 2026</a:t>
            </a:r>
          </a:p>
        </p:txBody>
      </p:sp>
      <p:sp>
        <p:nvSpPr>
          <p:cNvPr id="9" name="25 CuadroTexto">
            <a:extLst>
              <a:ext uri="{FF2B5EF4-FFF2-40B4-BE49-F238E27FC236}">
                <a16:creationId xmlns:a16="http://schemas.microsoft.com/office/drawing/2014/main" id="{698ED6E0-6268-331B-1ED8-EBE4A9701456}"/>
              </a:ext>
            </a:extLst>
          </p:cNvPr>
          <p:cNvSpPr txBox="1"/>
          <p:nvPr/>
        </p:nvSpPr>
        <p:spPr>
          <a:xfrm>
            <a:off x="11640498" y="7875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7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228FE22E-BF08-788A-2399-789152AB1D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89 CuadroTexto">
            <a:extLst>
              <a:ext uri="{FF2B5EF4-FFF2-40B4-BE49-F238E27FC236}">
                <a16:creationId xmlns:a16="http://schemas.microsoft.com/office/drawing/2014/main" id="{3F3D40F0-B74B-14F6-9B2D-AE03A7FBB5D0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Soporte Estratégico</a:t>
            </a:r>
          </a:p>
        </p:txBody>
      </p:sp>
      <p:grpSp>
        <p:nvGrpSpPr>
          <p:cNvPr id="19" name="Agrupar 49">
            <a:extLst>
              <a:ext uri="{FF2B5EF4-FFF2-40B4-BE49-F238E27FC236}">
                <a16:creationId xmlns:a16="http://schemas.microsoft.com/office/drawing/2014/main" id="{232171C4-F77F-AB9B-A96D-28FD8B7A3673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0" name="CuadroTexto 33">
              <a:extLst>
                <a:ext uri="{FF2B5EF4-FFF2-40B4-BE49-F238E27FC236}">
                  <a16:creationId xmlns:a16="http://schemas.microsoft.com/office/drawing/2014/main" id="{96E448F8-9601-5016-5983-37D843522082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5" name="CuadroTexto 34">
              <a:extLst>
                <a:ext uri="{FF2B5EF4-FFF2-40B4-BE49-F238E27FC236}">
                  <a16:creationId xmlns:a16="http://schemas.microsoft.com/office/drawing/2014/main" id="{3378084C-DA25-2010-23B8-06ED7DD50F20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6" name="CuadroTexto 35">
              <a:extLst>
                <a:ext uri="{FF2B5EF4-FFF2-40B4-BE49-F238E27FC236}">
                  <a16:creationId xmlns:a16="http://schemas.microsoft.com/office/drawing/2014/main" id="{7E668B03-C2D1-B1A4-A60E-A59485A87072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7" name="83 Rectángulo">
              <a:extLst>
                <a:ext uri="{FF2B5EF4-FFF2-40B4-BE49-F238E27FC236}">
                  <a16:creationId xmlns:a16="http://schemas.microsoft.com/office/drawing/2014/main" id="{D171F09D-9F33-B61C-91EE-25151E1B2B1C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8" name="84 Rectángulo">
              <a:extLst>
                <a:ext uri="{FF2B5EF4-FFF2-40B4-BE49-F238E27FC236}">
                  <a16:creationId xmlns:a16="http://schemas.microsoft.com/office/drawing/2014/main" id="{BA95B00F-BA9D-DC11-8078-5071CF0A9EBC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9" name="17 Rectángulo">
              <a:extLst>
                <a:ext uri="{FF2B5EF4-FFF2-40B4-BE49-F238E27FC236}">
                  <a16:creationId xmlns:a16="http://schemas.microsoft.com/office/drawing/2014/main" id="{878D0871-8ADC-8CC8-C6BE-FA6E266838F0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0" name="Conector angular 25">
            <a:extLst>
              <a:ext uri="{FF2B5EF4-FFF2-40B4-BE49-F238E27FC236}">
                <a16:creationId xmlns:a16="http://schemas.microsoft.com/office/drawing/2014/main" id="{A4C294A7-15ED-67F1-7091-73F4B201ACA9}"/>
              </a:ext>
            </a:extLst>
          </p:cNvPr>
          <p:cNvCxnSpPr>
            <a:cxnSpLocks/>
            <a:stCxn id="33" idx="3"/>
            <a:endCxn id="36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1" name="Conector angular 25">
            <a:extLst>
              <a:ext uri="{FF2B5EF4-FFF2-40B4-BE49-F238E27FC236}">
                <a16:creationId xmlns:a16="http://schemas.microsoft.com/office/drawing/2014/main" id="{092833DA-4E20-28F7-BBC8-9C9F615AC5AD}"/>
              </a:ext>
            </a:extLst>
          </p:cNvPr>
          <p:cNvCxnSpPr>
            <a:cxnSpLocks/>
            <a:stCxn id="33" idx="1"/>
            <a:endCxn id="35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2" name="Conector angular 25">
            <a:extLst>
              <a:ext uri="{FF2B5EF4-FFF2-40B4-BE49-F238E27FC236}">
                <a16:creationId xmlns:a16="http://schemas.microsoft.com/office/drawing/2014/main" id="{ED3E2DDB-237A-C72A-F1E2-042BEF5F73E2}"/>
              </a:ext>
            </a:extLst>
          </p:cNvPr>
          <p:cNvCxnSpPr>
            <a:cxnSpLocks/>
            <a:stCxn id="34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3" name="Tabla_IPN_GE_SP">
            <a:extLst>
              <a:ext uri="{FF2B5EF4-FFF2-40B4-BE49-F238E27FC236}">
                <a16:creationId xmlns:a16="http://schemas.microsoft.com/office/drawing/2014/main" id="{6834DD46-F3F2-3AF1-321B-7E220B1D0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253491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76.3%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(1,008)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481385"/>
                  </a:ext>
                </a:extLst>
              </a:tr>
            </a:tbl>
          </a:graphicData>
        </a:graphic>
      </p:graphicFrame>
      <p:graphicFrame>
        <p:nvGraphicFramePr>
          <p:cNvPr id="34" name="Tabla_DET_GE_SP">
            <a:extLst>
              <a:ext uri="{FF2B5EF4-FFF2-40B4-BE49-F238E27FC236}">
                <a16:creationId xmlns:a16="http://schemas.microsoft.com/office/drawing/2014/main" id="{D6E80F21-EAAB-D16F-2730-B99925685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34569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3.3%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(33)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Tabla_PAS_GE_SP">
            <a:extLst>
              <a:ext uri="{FF2B5EF4-FFF2-40B4-BE49-F238E27FC236}">
                <a16:creationId xmlns:a16="http://schemas.microsoft.com/office/drawing/2014/main" id="{6EE1A9F8-78DE-B605-AEAF-40DD2555F5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725351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17.2%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(173)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6" name="Tabla_PRO_GE_SP">
            <a:extLst>
              <a:ext uri="{FF2B5EF4-FFF2-40B4-BE49-F238E27FC236}">
                <a16:creationId xmlns:a16="http://schemas.microsoft.com/office/drawing/2014/main" id="{14F7365F-DDB3-2B88-74D1-2E853FAE6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388658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79.6%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(802)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7" name="Grafico _don_GE_SP">
            <a:extLst>
              <a:ext uri="{FF2B5EF4-FFF2-40B4-BE49-F238E27FC236}">
                <a16:creationId xmlns:a16="http://schemas.microsoft.com/office/drawing/2014/main" id="{1D6645E7-0405-7756-B0B2-A0CBD90AAE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010713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8" name="Grafico_bar_GE_SP">
            <a:extLst>
              <a:ext uri="{FF2B5EF4-FFF2-40B4-BE49-F238E27FC236}">
                <a16:creationId xmlns:a16="http://schemas.microsoft.com/office/drawing/2014/main" id="{BD26CC92-1D91-2F63-2FE1-5977F8E2ED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2742928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9" name="Tabla_DIF_GE_SP">
            <a:extLst>
              <a:ext uri="{FF2B5EF4-FFF2-40B4-BE49-F238E27FC236}">
                <a16:creationId xmlns:a16="http://schemas.microsoft.com/office/drawing/2014/main" id="{45D22B2F-E87F-1629-7404-330A1B9E6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686456"/>
              </p:ext>
            </p:extLst>
          </p:nvPr>
        </p:nvGraphicFramePr>
        <p:xfrm>
          <a:off x="11640498" y="1554374"/>
          <a:ext cx="2692800" cy="5657797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348792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80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1,008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180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860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-0.4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737947"/>
                  </a:ext>
                </a:extLst>
              </a:tr>
              <a:tr h="106180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83.1%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87.2%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-4.1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985729"/>
                  </a:ext>
                </a:extLst>
              </a:tr>
              <a:tr h="106180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83.1%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+3.1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20110"/>
                  </a:ext>
                </a:extLst>
              </a:tr>
              <a:tr h="106180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0225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B45516C-2917-B91B-54FE-4E684730C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Educación 1Q 2026</a:t>
            </a:r>
          </a:p>
        </p:txBody>
      </p:sp>
      <p:sp>
        <p:nvSpPr>
          <p:cNvPr id="17" name="25 CuadroTexto">
            <a:extLst>
              <a:ext uri="{FF2B5EF4-FFF2-40B4-BE49-F238E27FC236}">
                <a16:creationId xmlns:a16="http://schemas.microsoft.com/office/drawing/2014/main" id="{C779AD7C-DDC7-1F40-D456-E858E7E5B84F}"/>
              </a:ext>
            </a:extLst>
          </p:cNvPr>
          <p:cNvSpPr txBox="1"/>
          <p:nvPr/>
        </p:nvSpPr>
        <p:spPr>
          <a:xfrm>
            <a:off x="11640498" y="744848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8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5576E014-8B36-8819-45B5-8A77581F00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89 CuadroTexto">
            <a:extLst>
              <a:ext uri="{FF2B5EF4-FFF2-40B4-BE49-F238E27FC236}">
                <a16:creationId xmlns:a16="http://schemas.microsoft.com/office/drawing/2014/main" id="{4FA5E740-CB77-D515-08AC-0684F9C9CE15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Educación</a:t>
            </a:r>
          </a:p>
        </p:txBody>
      </p:sp>
      <p:grpSp>
        <p:nvGrpSpPr>
          <p:cNvPr id="20" name="Agrupar 49">
            <a:extLst>
              <a:ext uri="{FF2B5EF4-FFF2-40B4-BE49-F238E27FC236}">
                <a16:creationId xmlns:a16="http://schemas.microsoft.com/office/drawing/2014/main" id="{D8891775-88DE-DF0A-4D79-AC6D97E1F601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4" name="CuadroTexto 33">
              <a:extLst>
                <a:ext uri="{FF2B5EF4-FFF2-40B4-BE49-F238E27FC236}">
                  <a16:creationId xmlns:a16="http://schemas.microsoft.com/office/drawing/2014/main" id="{60E5C23C-09F1-AD74-C833-F13E0473010F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5" name="CuadroTexto 34">
              <a:extLst>
                <a:ext uri="{FF2B5EF4-FFF2-40B4-BE49-F238E27FC236}">
                  <a16:creationId xmlns:a16="http://schemas.microsoft.com/office/drawing/2014/main" id="{4932BE78-D08A-9D52-1B74-9D1A57A6EBAE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6" name="CuadroTexto 35">
              <a:extLst>
                <a:ext uri="{FF2B5EF4-FFF2-40B4-BE49-F238E27FC236}">
                  <a16:creationId xmlns:a16="http://schemas.microsoft.com/office/drawing/2014/main" id="{3CE5C495-5C8B-4B13-333B-D124B7C31D06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7" name="83 Rectángulo">
              <a:extLst>
                <a:ext uri="{FF2B5EF4-FFF2-40B4-BE49-F238E27FC236}">
                  <a16:creationId xmlns:a16="http://schemas.microsoft.com/office/drawing/2014/main" id="{C90B1258-17D3-D163-1F37-B9BFB18EE2CB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8" name="84 Rectángulo">
              <a:extLst>
                <a:ext uri="{FF2B5EF4-FFF2-40B4-BE49-F238E27FC236}">
                  <a16:creationId xmlns:a16="http://schemas.microsoft.com/office/drawing/2014/main" id="{7E04639A-9FED-7074-A1EC-782D1498CBC8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9" name="17 Rectángulo">
              <a:extLst>
                <a:ext uri="{FF2B5EF4-FFF2-40B4-BE49-F238E27FC236}">
                  <a16:creationId xmlns:a16="http://schemas.microsoft.com/office/drawing/2014/main" id="{9B5F52E5-021F-02BC-197D-F438B5F4D75B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0" name="Conector angular 25">
            <a:extLst>
              <a:ext uri="{FF2B5EF4-FFF2-40B4-BE49-F238E27FC236}">
                <a16:creationId xmlns:a16="http://schemas.microsoft.com/office/drawing/2014/main" id="{2A070B9D-3A2F-003F-3D39-0C2FD3A207CC}"/>
              </a:ext>
            </a:extLst>
          </p:cNvPr>
          <p:cNvCxnSpPr>
            <a:cxnSpLocks/>
            <a:stCxn id="33" idx="3"/>
            <a:endCxn id="36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1" name="Conector angular 25">
            <a:extLst>
              <a:ext uri="{FF2B5EF4-FFF2-40B4-BE49-F238E27FC236}">
                <a16:creationId xmlns:a16="http://schemas.microsoft.com/office/drawing/2014/main" id="{D2BA0A88-27B4-9A9C-88F2-B22A302791BF}"/>
              </a:ext>
            </a:extLst>
          </p:cNvPr>
          <p:cNvCxnSpPr>
            <a:cxnSpLocks/>
            <a:stCxn id="33" idx="1"/>
            <a:endCxn id="35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2" name="Conector angular 25">
            <a:extLst>
              <a:ext uri="{FF2B5EF4-FFF2-40B4-BE49-F238E27FC236}">
                <a16:creationId xmlns:a16="http://schemas.microsoft.com/office/drawing/2014/main" id="{BADFC17A-7FF1-CF59-9841-CDF4F3DB1ADD}"/>
              </a:ext>
            </a:extLst>
          </p:cNvPr>
          <p:cNvCxnSpPr>
            <a:cxnSpLocks/>
            <a:stCxn id="34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3" name="Tabla_IPN_GE_ED">
            <a:extLst>
              <a:ext uri="{FF2B5EF4-FFF2-40B4-BE49-F238E27FC236}">
                <a16:creationId xmlns:a16="http://schemas.microsoft.com/office/drawing/2014/main" id="{0A996DF5-3105-8CA2-2275-3AA8A570D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818734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73.3%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(15)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050755"/>
                  </a:ext>
                </a:extLst>
              </a:tr>
            </a:tbl>
          </a:graphicData>
        </a:graphic>
      </p:graphicFrame>
      <p:graphicFrame>
        <p:nvGraphicFramePr>
          <p:cNvPr id="34" name="Tabla_DET_GE_ED">
            <a:extLst>
              <a:ext uri="{FF2B5EF4-FFF2-40B4-BE49-F238E27FC236}">
                <a16:creationId xmlns:a16="http://schemas.microsoft.com/office/drawing/2014/main" id="{EF14034E-7C93-4886-85A7-6F956ED71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013925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</a:p>
                    <a:p>
                      <a:pPr algn="ctr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Tabla_PAS_GE_ED">
            <a:extLst>
              <a:ext uri="{FF2B5EF4-FFF2-40B4-BE49-F238E27FC236}">
                <a16:creationId xmlns:a16="http://schemas.microsoft.com/office/drawing/2014/main" id="{0AFD1F1E-29BF-F2CA-C81C-EF91E0EABC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342605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26.7%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6" name="Tabla_PRO_GE_ED">
            <a:extLst>
              <a:ext uri="{FF2B5EF4-FFF2-40B4-BE49-F238E27FC236}">
                <a16:creationId xmlns:a16="http://schemas.microsoft.com/office/drawing/2014/main" id="{17386931-3537-7E3D-8C58-80E202C49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388538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73.3%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(11)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7" name="Grafico _don_GE_ED">
            <a:extLst>
              <a:ext uri="{FF2B5EF4-FFF2-40B4-BE49-F238E27FC236}">
                <a16:creationId xmlns:a16="http://schemas.microsoft.com/office/drawing/2014/main" id="{DC728469-A457-3A26-898D-7A5A40B559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477335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8" name="Grafico_bar_GE_ED">
            <a:extLst>
              <a:ext uri="{FF2B5EF4-FFF2-40B4-BE49-F238E27FC236}">
                <a16:creationId xmlns:a16="http://schemas.microsoft.com/office/drawing/2014/main" id="{ABECA658-F53E-D4F0-F5DE-E0567331B0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4031393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9" name="Tabla_DIF_GE_ED">
            <a:extLst>
              <a:ext uri="{FF2B5EF4-FFF2-40B4-BE49-F238E27FC236}">
                <a16:creationId xmlns:a16="http://schemas.microsoft.com/office/drawing/2014/main" id="{FD533CAB-C394-A5FD-4A1E-ACDDC5277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548945"/>
              </p:ext>
            </p:extLst>
          </p:nvPr>
        </p:nvGraphicFramePr>
        <p:xfrm>
          <a:off x="11640498" y="1554373"/>
          <a:ext cx="2692800" cy="5657798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368921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295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47.1%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+26.3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295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46.2%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+30.8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737947"/>
                  </a:ext>
                </a:extLst>
              </a:tr>
              <a:tr h="176295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9857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33B6DB7-B22E-802D-0E53-3675D9023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Oficina de la presidencia 1Q 2026</a:t>
            </a:r>
          </a:p>
        </p:txBody>
      </p:sp>
      <p:sp>
        <p:nvSpPr>
          <p:cNvPr id="17" name="25 CuadroTexto">
            <a:extLst>
              <a:ext uri="{FF2B5EF4-FFF2-40B4-BE49-F238E27FC236}">
                <a16:creationId xmlns:a16="http://schemas.microsoft.com/office/drawing/2014/main" id="{F9209A78-43FB-E9A7-38D0-6F29562876A1}"/>
              </a:ext>
            </a:extLst>
          </p:cNvPr>
          <p:cNvSpPr txBox="1"/>
          <p:nvPr/>
        </p:nvSpPr>
        <p:spPr>
          <a:xfrm>
            <a:off x="11640498" y="7736958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8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46ADAA22-416A-19A1-2104-FBD16E0261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89 CuadroTexto">
            <a:extLst>
              <a:ext uri="{FF2B5EF4-FFF2-40B4-BE49-F238E27FC236}">
                <a16:creationId xmlns:a16="http://schemas.microsoft.com/office/drawing/2014/main" id="{08DB4886-8EB5-E7DC-ECA2-A799656AEA77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Oficina de la presidencia</a:t>
            </a:r>
          </a:p>
        </p:txBody>
      </p:sp>
      <p:grpSp>
        <p:nvGrpSpPr>
          <p:cNvPr id="23" name="Agrupar 49">
            <a:extLst>
              <a:ext uri="{FF2B5EF4-FFF2-40B4-BE49-F238E27FC236}">
                <a16:creationId xmlns:a16="http://schemas.microsoft.com/office/drawing/2014/main" id="{04224307-94A7-BFA7-DAFC-F7D9BA0724D4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4" name="CuadroTexto 33">
              <a:extLst>
                <a:ext uri="{FF2B5EF4-FFF2-40B4-BE49-F238E27FC236}">
                  <a16:creationId xmlns:a16="http://schemas.microsoft.com/office/drawing/2014/main" id="{2F60F5AD-560D-8D77-E158-23EA03C24B79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5" name="CuadroTexto 34">
              <a:extLst>
                <a:ext uri="{FF2B5EF4-FFF2-40B4-BE49-F238E27FC236}">
                  <a16:creationId xmlns:a16="http://schemas.microsoft.com/office/drawing/2014/main" id="{85AC9C50-DEE3-3762-8369-4936C98DFF4C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6" name="CuadroTexto 35">
              <a:extLst>
                <a:ext uri="{FF2B5EF4-FFF2-40B4-BE49-F238E27FC236}">
                  <a16:creationId xmlns:a16="http://schemas.microsoft.com/office/drawing/2014/main" id="{9BBDBEF9-783A-22D8-8AA3-4CF0992D2B46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7" name="83 Rectángulo">
              <a:extLst>
                <a:ext uri="{FF2B5EF4-FFF2-40B4-BE49-F238E27FC236}">
                  <a16:creationId xmlns:a16="http://schemas.microsoft.com/office/drawing/2014/main" id="{3D8E2D15-FBCE-D5E9-602C-2D1D44A312E5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8" name="84 Rectángulo">
              <a:extLst>
                <a:ext uri="{FF2B5EF4-FFF2-40B4-BE49-F238E27FC236}">
                  <a16:creationId xmlns:a16="http://schemas.microsoft.com/office/drawing/2014/main" id="{5BCDA360-D757-CDA4-A88F-1454B6F1C56B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9" name="17 Rectángulo">
              <a:extLst>
                <a:ext uri="{FF2B5EF4-FFF2-40B4-BE49-F238E27FC236}">
                  <a16:creationId xmlns:a16="http://schemas.microsoft.com/office/drawing/2014/main" id="{F9150EF1-8F0A-7220-0ED1-A4C220510672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0" name="Conector angular 25">
            <a:extLst>
              <a:ext uri="{FF2B5EF4-FFF2-40B4-BE49-F238E27FC236}">
                <a16:creationId xmlns:a16="http://schemas.microsoft.com/office/drawing/2014/main" id="{48F2FE8D-67A7-B8FF-1F81-BA98CA3097EF}"/>
              </a:ext>
            </a:extLst>
          </p:cNvPr>
          <p:cNvCxnSpPr>
            <a:cxnSpLocks/>
            <a:stCxn id="33" idx="3"/>
            <a:endCxn id="36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1" name="Conector angular 25">
            <a:extLst>
              <a:ext uri="{FF2B5EF4-FFF2-40B4-BE49-F238E27FC236}">
                <a16:creationId xmlns:a16="http://schemas.microsoft.com/office/drawing/2014/main" id="{55579B03-DA25-897D-5E3E-41AFE6A3ABDA}"/>
              </a:ext>
            </a:extLst>
          </p:cNvPr>
          <p:cNvCxnSpPr>
            <a:cxnSpLocks/>
            <a:stCxn id="33" idx="1"/>
            <a:endCxn id="35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2" name="Conector angular 25">
            <a:extLst>
              <a:ext uri="{FF2B5EF4-FFF2-40B4-BE49-F238E27FC236}">
                <a16:creationId xmlns:a16="http://schemas.microsoft.com/office/drawing/2014/main" id="{8775E8E0-2BE9-5E7F-C395-DC12A869A576}"/>
              </a:ext>
            </a:extLst>
          </p:cNvPr>
          <p:cNvCxnSpPr>
            <a:cxnSpLocks/>
            <a:stCxn id="34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3" name="Tabla_IPN_GE_OP">
            <a:extLst>
              <a:ext uri="{FF2B5EF4-FFF2-40B4-BE49-F238E27FC236}">
                <a16:creationId xmlns:a16="http://schemas.microsoft.com/office/drawing/2014/main" id="{46A576A1-C006-683D-4596-95DC966A3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54249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100.0%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(14)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508697"/>
                  </a:ext>
                </a:extLst>
              </a:tr>
            </a:tbl>
          </a:graphicData>
        </a:graphic>
      </p:graphicFrame>
      <p:graphicFrame>
        <p:nvGraphicFramePr>
          <p:cNvPr id="34" name="Tabla_DET_GE_OP">
            <a:extLst>
              <a:ext uri="{FF2B5EF4-FFF2-40B4-BE49-F238E27FC236}">
                <a16:creationId xmlns:a16="http://schemas.microsoft.com/office/drawing/2014/main" id="{EBAB8403-95C7-E591-8F33-2BDE30B19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31403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</a:p>
                    <a:p>
                      <a:pPr algn="ctr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Tabla_PAS_GE_OP">
            <a:extLst>
              <a:ext uri="{FF2B5EF4-FFF2-40B4-BE49-F238E27FC236}">
                <a16:creationId xmlns:a16="http://schemas.microsoft.com/office/drawing/2014/main" id="{DFBB18D3-10D2-A15F-6D58-44469CD99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391325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</a:p>
                    <a:p>
                      <a:pPr algn="ctr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6" name="Tabla_PRO_GE_OP">
            <a:extLst>
              <a:ext uri="{FF2B5EF4-FFF2-40B4-BE49-F238E27FC236}">
                <a16:creationId xmlns:a16="http://schemas.microsoft.com/office/drawing/2014/main" id="{F89DB8A7-B7DD-DC7C-6D6B-33487D7A3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968590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100.0%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(14)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7" name="Grafico _don_GE_OP">
            <a:extLst>
              <a:ext uri="{FF2B5EF4-FFF2-40B4-BE49-F238E27FC236}">
                <a16:creationId xmlns:a16="http://schemas.microsoft.com/office/drawing/2014/main" id="{A9F6D79C-5FD0-EA74-2BB2-D2CCFE3566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3999622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8" name="Grafico_bar_OP">
            <a:extLst>
              <a:ext uri="{FF2B5EF4-FFF2-40B4-BE49-F238E27FC236}">
                <a16:creationId xmlns:a16="http://schemas.microsoft.com/office/drawing/2014/main" id="{EE8D43BD-8039-6098-F3BF-0EAC671BCC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1003238"/>
              </p:ext>
            </p:extLst>
          </p:nvPr>
        </p:nvGraphicFramePr>
        <p:xfrm>
          <a:off x="5045089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9" name="Tabla_DIF_OP">
            <a:extLst>
              <a:ext uri="{FF2B5EF4-FFF2-40B4-BE49-F238E27FC236}">
                <a16:creationId xmlns:a16="http://schemas.microsoft.com/office/drawing/2014/main" id="{404719D0-7991-B18B-C080-C8D7071AC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628097"/>
              </p:ext>
            </p:extLst>
          </p:nvPr>
        </p:nvGraphicFramePr>
        <p:xfrm>
          <a:off x="11623551" y="1460439"/>
          <a:ext cx="2715914" cy="6029424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462112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90.0%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+10.0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+20.0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649599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 dirty="0">
                          <a:effectLst/>
                          <a:latin typeface="Montserrat" panose="00000500000000000000" pitchFamily="2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 dirty="0">
                          <a:effectLst/>
                          <a:latin typeface="Montserrat" panose="00000500000000000000" pitchFamily="2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6111</TotalTime>
  <Words>3263</Words>
  <Application>Microsoft Office PowerPoint</Application>
  <PresentationFormat>Personalizado</PresentationFormat>
  <Paragraphs>1789</Paragraphs>
  <Slides>34</Slides>
  <Notes>22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3" baseType="lpstr">
      <vt:lpstr>Arial</vt:lpstr>
      <vt:lpstr>Calibri</vt:lpstr>
      <vt:lpstr>Calibri Light</vt:lpstr>
      <vt:lpstr>Century Gothic</vt:lpstr>
      <vt:lpstr>Kanit</vt:lpstr>
      <vt:lpstr>Montserrat</vt:lpstr>
      <vt:lpstr>Montserrat ExtraBold</vt:lpstr>
      <vt:lpstr>Office 2013 - Tema de 2022</vt:lpstr>
      <vt:lpstr>think-cell Slide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IPN Grupo Salinas 1Q 2026</vt:lpstr>
      <vt:lpstr>IPN Histórico Grupo Salinas</vt:lpstr>
      <vt:lpstr>Motivos Promotores 1Q 2026 Grupo Salinas</vt:lpstr>
      <vt:lpstr>Motivos Promotores 1Q 2026 Grupo Salinas</vt:lpstr>
      <vt:lpstr>Motivos Promotores 1Q 2026 Grupo Salinas</vt:lpstr>
      <vt:lpstr>Presentación de PowerPoint</vt:lpstr>
      <vt:lpstr>IPN Histórico por Grupo Empresarial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Despachos 1Q 2026</vt:lpstr>
      <vt:lpstr>IPN TV Azteca 1Q 2026</vt:lpstr>
      <vt:lpstr>IPN Totalplay 1Q 2026</vt:lpstr>
      <vt:lpstr>IPN Negócios Família 1Q 2026</vt:lpstr>
      <vt:lpstr>IPN Otros Negocios 1Q 2026</vt:lpstr>
      <vt:lpstr>IPN Soporte Estratégico 1Q 2026</vt:lpstr>
      <vt:lpstr>IPN Educación 1Q 2026</vt:lpstr>
      <vt:lpstr>IPN Oficina de la presidencia 1Q 2026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Kevin Alejandro Elizarraras Moreno</dc:creator>
  <cp:lastModifiedBy>Jesus Noel De Jesus Guerrero</cp:lastModifiedBy>
  <cp:revision>180</cp:revision>
  <dcterms:created xsi:type="dcterms:W3CDTF">2022-08-30T14:57:49Z</dcterms:created>
  <dcterms:modified xsi:type="dcterms:W3CDTF">2026-09-06T03:02:26Z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e3a633-3d5f-462b-ba19-31157bb9a57b_Enabled">
    <vt:lpwstr>true</vt:lpwstr>
  </property>
  <property fmtid="{D5CDD505-2E9C-101B-9397-08002B2CF9AE}" pid="3" name="MSIP_Label_8ae3a633-3d5f-462b-ba19-31157bb9a57b_SetDate">
    <vt:lpwstr>2023-02-28T16:58:16Z</vt:lpwstr>
  </property>
  <property fmtid="{D5CDD505-2E9C-101B-9397-08002B2CF9AE}" pid="4" name="MSIP_Label_8ae3a633-3d5f-462b-ba19-31157bb9a57b_Method">
    <vt:lpwstr>Standard</vt:lpwstr>
  </property>
  <property fmtid="{D5CDD505-2E9C-101B-9397-08002B2CF9AE}" pid="5" name="MSIP_Label_8ae3a633-3d5f-462b-ba19-31157bb9a57b_Name">
    <vt:lpwstr>Uso interno</vt:lpwstr>
  </property>
  <property fmtid="{D5CDD505-2E9C-101B-9397-08002B2CF9AE}" pid="6" name="MSIP_Label_8ae3a633-3d5f-462b-ba19-31157bb9a57b_SiteId">
    <vt:lpwstr>5448d52d-fbb8-4285-8d6f-aa67453bc50c</vt:lpwstr>
  </property>
  <property fmtid="{D5CDD505-2E9C-101B-9397-08002B2CF9AE}" pid="7" name="MSIP_Label_8ae3a633-3d5f-462b-ba19-31157bb9a57b_ActionId">
    <vt:lpwstr>cd950f7b-6da7-4cff-85ed-220078e8d2ad</vt:lpwstr>
  </property>
  <property fmtid="{D5CDD505-2E9C-101B-9397-08002B2CF9AE}" pid="8" name="MSIP_Label_8ae3a633-3d5f-462b-ba19-31157bb9a57b_ContentBits">
    <vt:lpwstr>0</vt:lpwstr>
  </property>
</Properties>
</file>