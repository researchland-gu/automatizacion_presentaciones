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7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6" r:id="rId1"/>
  </p:sldMasterIdLst>
  <p:notesMasterIdLst>
    <p:notesMasterId r:id="rId11"/>
  </p:notesMasterIdLst>
  <p:sldIdLst>
    <p:sldId id="837" r:id="rId2"/>
    <p:sldId id="839" r:id="rId3"/>
    <p:sldId id="858" r:id="rId4"/>
    <p:sldId id="862" r:id="rId5"/>
    <p:sldId id="850" r:id="rId6"/>
    <p:sldId id="844" r:id="rId7"/>
    <p:sldId id="285" r:id="rId8"/>
    <p:sldId id="845" r:id="rId9"/>
    <p:sldId id="846" r:id="rId10"/>
  </p:sldIdLst>
  <p:sldSz cx="14400213" cy="8135938"/>
  <p:notesSz cx="6858000" cy="9144000"/>
  <p:defaultTextStyle>
    <a:defPPr>
      <a:defRPr lang="es-MX"/>
    </a:defPPr>
    <a:lvl1pPr marL="0" algn="l" defTabSz="1077010" rtl="0" eaLnBrk="1" latinLnBrk="0" hangingPunct="1">
      <a:defRPr sz="2144" kern="1200">
        <a:solidFill>
          <a:schemeClr val="tx1"/>
        </a:solidFill>
        <a:latin typeface="+mn-lt"/>
        <a:ea typeface="+mn-ea"/>
        <a:cs typeface="+mn-cs"/>
      </a:defRPr>
    </a:lvl1pPr>
    <a:lvl2pPr marL="538505" algn="l" defTabSz="1077010" rtl="0" eaLnBrk="1" latinLnBrk="0" hangingPunct="1">
      <a:defRPr sz="2144" kern="1200">
        <a:solidFill>
          <a:schemeClr val="tx1"/>
        </a:solidFill>
        <a:latin typeface="+mn-lt"/>
        <a:ea typeface="+mn-ea"/>
        <a:cs typeface="+mn-cs"/>
      </a:defRPr>
    </a:lvl2pPr>
    <a:lvl3pPr marL="1077010" algn="l" defTabSz="1077010" rtl="0" eaLnBrk="1" latinLnBrk="0" hangingPunct="1">
      <a:defRPr sz="2144" kern="1200">
        <a:solidFill>
          <a:schemeClr val="tx1"/>
        </a:solidFill>
        <a:latin typeface="+mn-lt"/>
        <a:ea typeface="+mn-ea"/>
        <a:cs typeface="+mn-cs"/>
      </a:defRPr>
    </a:lvl3pPr>
    <a:lvl4pPr marL="1615515" algn="l" defTabSz="1077010" rtl="0" eaLnBrk="1" latinLnBrk="0" hangingPunct="1">
      <a:defRPr sz="2144" kern="1200">
        <a:solidFill>
          <a:schemeClr val="tx1"/>
        </a:solidFill>
        <a:latin typeface="+mn-lt"/>
        <a:ea typeface="+mn-ea"/>
        <a:cs typeface="+mn-cs"/>
      </a:defRPr>
    </a:lvl4pPr>
    <a:lvl5pPr marL="2154019" algn="l" defTabSz="1077010" rtl="0" eaLnBrk="1" latinLnBrk="0" hangingPunct="1">
      <a:defRPr sz="2144" kern="1200">
        <a:solidFill>
          <a:schemeClr val="tx1"/>
        </a:solidFill>
        <a:latin typeface="+mn-lt"/>
        <a:ea typeface="+mn-ea"/>
        <a:cs typeface="+mn-cs"/>
      </a:defRPr>
    </a:lvl5pPr>
    <a:lvl6pPr marL="2692524" algn="l" defTabSz="1077010" rtl="0" eaLnBrk="1" latinLnBrk="0" hangingPunct="1">
      <a:defRPr sz="2144" kern="1200">
        <a:solidFill>
          <a:schemeClr val="tx1"/>
        </a:solidFill>
        <a:latin typeface="+mn-lt"/>
        <a:ea typeface="+mn-ea"/>
        <a:cs typeface="+mn-cs"/>
      </a:defRPr>
    </a:lvl6pPr>
    <a:lvl7pPr marL="3231029" algn="l" defTabSz="1077010" rtl="0" eaLnBrk="1" latinLnBrk="0" hangingPunct="1">
      <a:defRPr sz="2144" kern="1200">
        <a:solidFill>
          <a:schemeClr val="tx1"/>
        </a:solidFill>
        <a:latin typeface="+mn-lt"/>
        <a:ea typeface="+mn-ea"/>
        <a:cs typeface="+mn-cs"/>
      </a:defRPr>
    </a:lvl7pPr>
    <a:lvl8pPr marL="3769535" algn="l" defTabSz="1077010" rtl="0" eaLnBrk="1" latinLnBrk="0" hangingPunct="1">
      <a:defRPr sz="2144" kern="1200">
        <a:solidFill>
          <a:schemeClr val="tx1"/>
        </a:solidFill>
        <a:latin typeface="+mn-lt"/>
        <a:ea typeface="+mn-ea"/>
        <a:cs typeface="+mn-cs"/>
      </a:defRPr>
    </a:lvl8pPr>
    <a:lvl9pPr marL="4308040" algn="l" defTabSz="1077010" rtl="0" eaLnBrk="1" latinLnBrk="0" hangingPunct="1">
      <a:defRPr sz="2144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563" userDrawn="1">
          <p15:clr>
            <a:srgbClr val="A4A3A4"/>
          </p15:clr>
        </p15:guide>
        <p15:guide id="2" pos="45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0096"/>
    <a:srgbClr val="FD4F58"/>
    <a:srgbClr val="FEE912"/>
    <a:srgbClr val="7030A0"/>
    <a:srgbClr val="360086"/>
    <a:srgbClr val="D1DCF3"/>
    <a:srgbClr val="5800DA"/>
    <a:srgbClr val="E6E6E6"/>
    <a:srgbClr val="00642D"/>
    <a:srgbClr val="C89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667864-612A-4D02-B749-72785961023C}" v="6" dt="2025-05-15T23:24:43.1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031" autoAdjust="0"/>
    <p:restoredTop sz="94660"/>
  </p:normalViewPr>
  <p:slideViewPr>
    <p:cSldViewPr snapToGrid="0">
      <p:cViewPr varScale="1">
        <p:scale>
          <a:sx n="62" d="100"/>
          <a:sy n="62" d="100"/>
        </p:scale>
        <p:origin x="588" y="60"/>
      </p:cViewPr>
      <p:guideLst>
        <p:guide orient="horz" pos="2563"/>
        <p:guide pos="453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vin Alejandro Elizarraras Moreno" userId="2ef3c0b1-acdf-4fc9-bb9a-a89b551e7f4e" providerId="ADAL" clId="{1C667864-612A-4D02-B749-72785961023C}"/>
    <pc:docChg chg="modSld">
      <pc:chgData name="Kevin Alejandro Elizarraras Moreno" userId="2ef3c0b1-acdf-4fc9-bb9a-a89b551e7f4e" providerId="ADAL" clId="{1C667864-612A-4D02-B749-72785961023C}" dt="2025-05-16T00:02:18.137" v="51" actId="113"/>
      <pc:docMkLst>
        <pc:docMk/>
      </pc:docMkLst>
      <pc:sldChg chg="modSp mod">
        <pc:chgData name="Kevin Alejandro Elizarraras Moreno" userId="2ef3c0b1-acdf-4fc9-bb9a-a89b551e7f4e" providerId="ADAL" clId="{1C667864-612A-4D02-B749-72785961023C}" dt="2025-05-16T00:02:18.137" v="51" actId="113"/>
        <pc:sldMkLst>
          <pc:docMk/>
          <pc:sldMk cId="2913851898" sldId="843"/>
        </pc:sldMkLst>
        <pc:graphicFrameChg chg="mod modGraphic">
          <ac:chgData name="Kevin Alejandro Elizarraras Moreno" userId="2ef3c0b1-acdf-4fc9-bb9a-a89b551e7f4e" providerId="ADAL" clId="{1C667864-612A-4D02-B749-72785961023C}" dt="2025-05-16T00:02:18.137" v="51" actId="113"/>
          <ac:graphicFrameMkLst>
            <pc:docMk/>
            <pc:sldMk cId="2913851898" sldId="843"/>
            <ac:graphicFrameMk id="7" creationId="{2AE13E4E-F2DA-6640-872C-A4347C08E4C2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1693034614456775"/>
          <c:y val="0"/>
          <c:w val="0.5830696538554323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 det </c:v>
                </c:pt>
              </c:strCache>
            </c:strRef>
          </c:tx>
          <c:spPr>
            <a:solidFill>
              <a:srgbClr val="FF0000"/>
            </a:solidFill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A-B581-4734-99A7-29D532215BCA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C-B581-4734-99A7-29D532215BCA}"/>
              </c:ext>
            </c:extLst>
          </c:dPt>
          <c:dLbls>
            <c:dLbl>
              <c:idx val="0"/>
              <c:spPr>
                <a:noFill/>
                <a:ln w="24691">
                  <a:noFill/>
                </a:ln>
              </c:spPr>
              <c:txPr>
                <a:bodyPr/>
                <a:lstStyle/>
                <a:p>
                  <a:pPr algn="r">
                    <a:defRPr sz="900" b="1">
                      <a:solidFill>
                        <a:schemeClr val="bg1"/>
                      </a:solidFill>
                    </a:defRPr>
                  </a:pPr>
                  <a:endParaRPr lang="es-MX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0-5B31-4268-8EE2-17B469D836AA}"/>
                </c:ext>
              </c:extLst>
            </c:dLbl>
            <c:dLbl>
              <c:idx val="1"/>
              <c:spPr>
                <a:noFill/>
                <a:ln w="24691">
                  <a:noFill/>
                </a:ln>
              </c:spPr>
              <c:txPr>
                <a:bodyPr/>
                <a:lstStyle/>
                <a:p>
                  <a:pPr algn="r">
                    <a:defRPr sz="900" b="1">
                      <a:solidFill>
                        <a:schemeClr val="bg1"/>
                      </a:solidFill>
                    </a:defRPr>
                  </a:pPr>
                  <a:endParaRPr lang="es-MX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5B31-4268-8EE2-17B469D836AA}"/>
                </c:ext>
              </c:extLst>
            </c:dLbl>
            <c:spPr>
              <a:noFill/>
              <a:ln w="24691"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Hoja1!$A$2:$A$17</c:f>
              <c:strCache>
                <c:ptCount val="16"/>
                <c:pt idx="0">
                  <c:v>Upax - Cecilia Laura Fallabrino</c:v>
                </c:pt>
                <c:pt idx="1">
                  <c:v>Neracode - Gerardo Pizarro Ducuing</c:v>
                </c:pt>
                <c:pt idx="2">
                  <c:v>Mexa Creativa - Jorge Eduardo Ibarra Martínez</c:v>
                </c:pt>
                <c:pt idx="3">
                  <c:v>Experiencia de Usuario - Miguel Angel Flores Reyes</c:v>
                </c:pt>
                <c:pt idx="4">
                  <c:v>Research Land - Pablo Federico Levy Covarrubias</c:v>
                </c:pt>
                <c:pt idx="5">
                  <c:v>Promoespacio - Sergio Jorge Larrañaga Mendiola</c:v>
                </c:pt>
                <c:pt idx="6">
                  <c:v>Despachos - Cecilia Laura Fallabrino</c:v>
                </c:pt>
                <c:pt idx="7">
                  <c:v>Marketing Experience - Jaime Ávalos Peña</c:v>
                </c:pt>
                <c:pt idx="8">
                  <c:v>House Of Films - Luis Fermín Acosta Alonso</c:v>
                </c:pt>
                <c:pt idx="9">
                  <c:v>Trade Marketing - Carlos Alberto Ongay Valle</c:v>
                </c:pt>
                <c:pt idx="10">
                  <c:v>Software Factory - Gerardo Pizarro Ducuing</c:v>
                </c:pt>
                <c:pt idx="11">
                  <c:v>Mas Salud - Cecilia Laura Fallabrino</c:v>
                </c:pt>
                <c:pt idx="12">
                  <c:v>Zeus - Sin Responsable</c:v>
                </c:pt>
                <c:pt idx="13">
                  <c:v>Marketing Upax Corporativo - Franco Vadir Cruzat Albiña</c:v>
                </c:pt>
                <c:pt idx="14">
                  <c:v>Sin Etiqueta</c:v>
                </c:pt>
                <c:pt idx="15">
                  <c:v>Staff Upax - José Manuel Muñoz De Cote Boelsterly</c:v>
                </c:pt>
              </c:strCache>
            </c:strRef>
          </c:cat>
          <c:val>
            <c:numRef>
              <c:f>Hoja1!$B$2:$B$17</c:f>
              <c:numCache>
                <c:formatCode>0.0%</c:formatCode>
                <c:ptCount val="16"/>
                <c:pt idx="0">
                  <c:v>0.33</c:v>
                </c:pt>
                <c:pt idx="1">
                  <c:v>0.33</c:v>
                </c:pt>
                <c:pt idx="2">
                  <c:v>0.33</c:v>
                </c:pt>
                <c:pt idx="3">
                  <c:v>0.33</c:v>
                </c:pt>
                <c:pt idx="4">
                  <c:v>0.33</c:v>
                </c:pt>
                <c:pt idx="5">
                  <c:v>0.33</c:v>
                </c:pt>
                <c:pt idx="6">
                  <c:v>0.33</c:v>
                </c:pt>
                <c:pt idx="7">
                  <c:v>0.33</c:v>
                </c:pt>
                <c:pt idx="8">
                  <c:v>0.33</c:v>
                </c:pt>
                <c:pt idx="9">
                  <c:v>0.33</c:v>
                </c:pt>
                <c:pt idx="10">
                  <c:v>0.33</c:v>
                </c:pt>
                <c:pt idx="11">
                  <c:v>0.33</c:v>
                </c:pt>
                <c:pt idx="12">
                  <c:v>0.33</c:v>
                </c:pt>
                <c:pt idx="13">
                  <c:v>0.33</c:v>
                </c:pt>
                <c:pt idx="14">
                  <c:v>0.33</c:v>
                </c:pt>
                <c:pt idx="15">
                  <c:v>0.33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B31-4268-8EE2-17B469D836AA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 pas 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dLbls>
            <c:dLbl>
              <c:idx val="4"/>
              <c:spPr>
                <a:noFill/>
                <a:ln w="24691">
                  <a:noFill/>
                </a:ln>
              </c:spPr>
              <c:txPr>
                <a:bodyPr/>
                <a:lstStyle/>
                <a:p>
                  <a:pPr algn="r">
                    <a:defRPr sz="900" b="1"/>
                  </a:pPr>
                  <a:endParaRPr lang="es-MX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B-5B31-4268-8EE2-17B469D836AA}"/>
                </c:ext>
              </c:extLst>
            </c:dLbl>
            <c:spPr>
              <a:noFill/>
              <a:ln w="24691">
                <a:noFill/>
              </a:ln>
            </c:spPr>
            <c:txPr>
              <a:bodyPr/>
              <a:lstStyle/>
              <a:p>
                <a:pPr>
                  <a:defRPr sz="900" b="1"/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Hoja1!$A$2:$A$17</c:f>
              <c:strCache>
                <c:ptCount val="16"/>
                <c:pt idx="0">
                  <c:v>Upax - Cecilia Laura Fallabrino</c:v>
                </c:pt>
                <c:pt idx="1">
                  <c:v>Neracode - Gerardo Pizarro Ducuing</c:v>
                </c:pt>
                <c:pt idx="2">
                  <c:v>Mexa Creativa - Jorge Eduardo Ibarra Martínez</c:v>
                </c:pt>
                <c:pt idx="3">
                  <c:v>Experiencia de Usuario - Miguel Angel Flores Reyes</c:v>
                </c:pt>
                <c:pt idx="4">
                  <c:v>Research Land - Pablo Federico Levy Covarrubias</c:v>
                </c:pt>
                <c:pt idx="5">
                  <c:v>Promoespacio - Sergio Jorge Larrañaga Mendiola</c:v>
                </c:pt>
                <c:pt idx="6">
                  <c:v>Despachos - Cecilia Laura Fallabrino</c:v>
                </c:pt>
                <c:pt idx="7">
                  <c:v>Marketing Experience - Jaime Ávalos Peña</c:v>
                </c:pt>
                <c:pt idx="8">
                  <c:v>House Of Films - Luis Fermín Acosta Alonso</c:v>
                </c:pt>
                <c:pt idx="9">
                  <c:v>Trade Marketing - Carlos Alberto Ongay Valle</c:v>
                </c:pt>
                <c:pt idx="10">
                  <c:v>Software Factory - Gerardo Pizarro Ducuing</c:v>
                </c:pt>
                <c:pt idx="11">
                  <c:v>Mas Salud - Cecilia Laura Fallabrino</c:v>
                </c:pt>
                <c:pt idx="12">
                  <c:v>Zeus - Sin Responsable</c:v>
                </c:pt>
                <c:pt idx="13">
                  <c:v>Marketing Upax Corporativo - Franco Vadir Cruzat Albiña</c:v>
                </c:pt>
                <c:pt idx="14">
                  <c:v>Sin Etiqueta</c:v>
                </c:pt>
                <c:pt idx="15">
                  <c:v>Staff Upax - José Manuel Muñoz De Cote Boelsterly</c:v>
                </c:pt>
              </c:strCache>
            </c:strRef>
          </c:cat>
          <c:val>
            <c:numRef>
              <c:f>Hoja1!$C$2:$C$17</c:f>
              <c:numCache>
                <c:formatCode>0.0%</c:formatCode>
                <c:ptCount val="16"/>
                <c:pt idx="0">
                  <c:v>0.33</c:v>
                </c:pt>
                <c:pt idx="1">
                  <c:v>0.33</c:v>
                </c:pt>
                <c:pt idx="2">
                  <c:v>0.33</c:v>
                </c:pt>
                <c:pt idx="3">
                  <c:v>0.33</c:v>
                </c:pt>
                <c:pt idx="4">
                  <c:v>0.33</c:v>
                </c:pt>
                <c:pt idx="5">
                  <c:v>0.33</c:v>
                </c:pt>
                <c:pt idx="6">
                  <c:v>0.33</c:v>
                </c:pt>
                <c:pt idx="7">
                  <c:v>0.33</c:v>
                </c:pt>
                <c:pt idx="8">
                  <c:v>0.33</c:v>
                </c:pt>
                <c:pt idx="9">
                  <c:v>0.33</c:v>
                </c:pt>
                <c:pt idx="10">
                  <c:v>0.33</c:v>
                </c:pt>
                <c:pt idx="11">
                  <c:v>0.33</c:v>
                </c:pt>
                <c:pt idx="12">
                  <c:v>0.33</c:v>
                </c:pt>
                <c:pt idx="13">
                  <c:v>0.33</c:v>
                </c:pt>
                <c:pt idx="14">
                  <c:v>0.33</c:v>
                </c:pt>
                <c:pt idx="15">
                  <c:v>0.33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5B31-4268-8EE2-17B469D836AA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 pro </c:v>
                </c:pt>
              </c:strCache>
            </c:strRef>
          </c:tx>
          <c:spPr>
            <a:solidFill>
              <a:srgbClr val="00B050"/>
            </a:solidFill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2-5B31-4268-8EE2-17B469D836AA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4-5B31-4268-8EE2-17B469D836AA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6-5B31-4268-8EE2-17B469D836AA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8-5B31-4268-8EE2-17B469D836AA}"/>
              </c:ext>
            </c:extLst>
          </c:dPt>
          <c:dPt>
            <c:idx val="13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A-5B31-4268-8EE2-17B469D836AA}"/>
              </c:ext>
            </c:extLst>
          </c:dPt>
          <c:dPt>
            <c:idx val="14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0B-C915-43FF-9F28-A71DCD21181B}"/>
              </c:ext>
            </c:extLst>
          </c:dPt>
          <c:dPt>
            <c:idx val="15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0C-C915-43FF-9F28-A71DCD21181B}"/>
              </c:ext>
            </c:extLst>
          </c:dPt>
          <c:dPt>
            <c:idx val="16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0C-42D1-4421-AA76-26BDB519387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900" b="1">
                    <a:solidFill>
                      <a:schemeClr val="bg1"/>
                    </a:solidFill>
                    <a:latin typeface="Montserrat" panose="00000500000000000000" pitchFamily="2" charset="0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Hoja1!$A$2:$A$17</c:f>
              <c:strCache>
                <c:ptCount val="16"/>
                <c:pt idx="0">
                  <c:v>Upax - Cecilia Laura Fallabrino</c:v>
                </c:pt>
                <c:pt idx="1">
                  <c:v>Neracode - Gerardo Pizarro Ducuing</c:v>
                </c:pt>
                <c:pt idx="2">
                  <c:v>Mexa Creativa - Jorge Eduardo Ibarra Martínez</c:v>
                </c:pt>
                <c:pt idx="3">
                  <c:v>Experiencia de Usuario - Miguel Angel Flores Reyes</c:v>
                </c:pt>
                <c:pt idx="4">
                  <c:v>Research Land - Pablo Federico Levy Covarrubias</c:v>
                </c:pt>
                <c:pt idx="5">
                  <c:v>Promoespacio - Sergio Jorge Larrañaga Mendiola</c:v>
                </c:pt>
                <c:pt idx="6">
                  <c:v>Despachos - Cecilia Laura Fallabrino</c:v>
                </c:pt>
                <c:pt idx="7">
                  <c:v>Marketing Experience - Jaime Ávalos Peña</c:v>
                </c:pt>
                <c:pt idx="8">
                  <c:v>House Of Films - Luis Fermín Acosta Alonso</c:v>
                </c:pt>
                <c:pt idx="9">
                  <c:v>Trade Marketing - Carlos Alberto Ongay Valle</c:v>
                </c:pt>
                <c:pt idx="10">
                  <c:v>Software Factory - Gerardo Pizarro Ducuing</c:v>
                </c:pt>
                <c:pt idx="11">
                  <c:v>Mas Salud - Cecilia Laura Fallabrino</c:v>
                </c:pt>
                <c:pt idx="12">
                  <c:v>Zeus - Sin Responsable</c:v>
                </c:pt>
                <c:pt idx="13">
                  <c:v>Marketing Upax Corporativo - Franco Vadir Cruzat Albiña</c:v>
                </c:pt>
                <c:pt idx="14">
                  <c:v>Sin Etiqueta</c:v>
                </c:pt>
                <c:pt idx="15">
                  <c:v>Staff Upax - José Manuel Muñoz De Cote Boelsterly</c:v>
                </c:pt>
              </c:strCache>
            </c:strRef>
          </c:cat>
          <c:val>
            <c:numRef>
              <c:f>Hoja1!$D$2:$D$17</c:f>
              <c:numCache>
                <c:formatCode>0.0%</c:formatCode>
                <c:ptCount val="16"/>
                <c:pt idx="0">
                  <c:v>0.33</c:v>
                </c:pt>
                <c:pt idx="1">
                  <c:v>0.33</c:v>
                </c:pt>
                <c:pt idx="2">
                  <c:v>0.33</c:v>
                </c:pt>
                <c:pt idx="3">
                  <c:v>0.33</c:v>
                </c:pt>
                <c:pt idx="4">
                  <c:v>0.33</c:v>
                </c:pt>
                <c:pt idx="5">
                  <c:v>0.33</c:v>
                </c:pt>
                <c:pt idx="6">
                  <c:v>0.33</c:v>
                </c:pt>
                <c:pt idx="7">
                  <c:v>0.33</c:v>
                </c:pt>
                <c:pt idx="8">
                  <c:v>0.33</c:v>
                </c:pt>
                <c:pt idx="9">
                  <c:v>0.33</c:v>
                </c:pt>
                <c:pt idx="10">
                  <c:v>0.33</c:v>
                </c:pt>
                <c:pt idx="11">
                  <c:v>0.33</c:v>
                </c:pt>
                <c:pt idx="12">
                  <c:v>0.33</c:v>
                </c:pt>
                <c:pt idx="13">
                  <c:v>0.33</c:v>
                </c:pt>
                <c:pt idx="14">
                  <c:v>0.33</c:v>
                </c:pt>
                <c:pt idx="15">
                  <c:v>0.33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B-5B31-4268-8EE2-17B469D836AA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1648548239"/>
        <c:axId val="1"/>
      </c:barChart>
      <c:catAx>
        <c:axId val="1648548239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1648548239"/>
        <c:crosses val="autoZero"/>
        <c:crossBetween val="between"/>
      </c:valAx>
      <c:spPr>
        <a:noFill/>
        <a:ln w="25360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>
        <a:defRPr sz="1747">
          <a:latin typeface="Montserrat" panose="00000500000000000000" pitchFamily="2" charset="0"/>
        </a:defRPr>
      </a:pPr>
      <a:endParaRPr lang="es-MX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395-4B99-A64C-03FD42ECACDA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6395-4B99-A64C-03FD42ECACDA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395-4B99-A64C-03FD42ECACDA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0.33</c:v>
                </c:pt>
                <c:pt idx="1">
                  <c:v>0.33</c:v>
                </c:pt>
                <c:pt idx="2">
                  <c:v>0.33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95-4B99-A64C-03FD42ECACD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53200225096975307"/>
          <c:y val="0"/>
          <c:w val="0.55453113785765062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 det </c:v>
                </c:pt>
              </c:strCache>
            </c:strRef>
          </c:tx>
          <c:spPr>
            <a:solidFill>
              <a:srgbClr val="FF0000"/>
            </a:solidFill>
          </c:spPr>
          <c:invertIfNegative val="0"/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4-97B7-4182-A4D4-AE05754D0245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A-7590-42B7-B64B-C894C6F3EBF9}"/>
              </c:ext>
            </c:extLst>
          </c:dPt>
          <c:dPt>
            <c:idx val="6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3-5B31-4268-8EE2-17B469D836A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Hoja1!$A$2:$A$10</c:f>
              <c:strCache>
                <c:ptCount val="9"/>
                <c:pt idx="0">
                  <c:v>Researchland - Pablo Federico Levy Covarrubias</c:v>
                </c:pt>
                <c:pt idx="1">
                  <c:v>Customer Insight - Alicia Sarkis Saad</c:v>
                </c:pt>
                <c:pt idx="2">
                  <c:v>Procesamiento de Datos y Calidad - Omar Mata Lemus</c:v>
                </c:pt>
                <c:pt idx="3">
                  <c:v>Landers - Roberto Ramirez Contreras</c:v>
                </c:pt>
                <c:pt idx="4">
                  <c:v>Inteligencia de Negocios - Giovanni Sanabria Perez Moreno</c:v>
                </c:pt>
                <c:pt idx="5">
                  <c:v>Sin Etiqueta</c:v>
                </c:pt>
                <c:pt idx="6">
                  <c:v>Satisfacción y Asuntos Públicos - Jimena Duran Gutierrez</c:v>
                </c:pt>
                <c:pt idx="7">
                  <c:v>Ciencia de Datos - Pablo Fernando Tavera Esparza</c:v>
                </c:pt>
                <c:pt idx="8">
                  <c:v>Comercial - Sergio Castillo Gutierrez</c:v>
                </c:pt>
              </c:strCache>
            </c:strRef>
          </c:cat>
          <c:val>
            <c:numRef>
              <c:f>Hoja1!$B$2:$B$10</c:f>
              <c:numCache>
                <c:formatCode>0.0%</c:formatCode>
                <c:ptCount val="9"/>
                <c:pt idx="0">
                  <c:v>0.33</c:v>
                </c:pt>
                <c:pt idx="1">
                  <c:v>0.33</c:v>
                </c:pt>
                <c:pt idx="2">
                  <c:v>0.33</c:v>
                </c:pt>
                <c:pt idx="3">
                  <c:v>0.33</c:v>
                </c:pt>
                <c:pt idx="4">
                  <c:v>0.33</c:v>
                </c:pt>
                <c:pt idx="5">
                  <c:v>0.33</c:v>
                </c:pt>
                <c:pt idx="6">
                  <c:v>0.33</c:v>
                </c:pt>
                <c:pt idx="7">
                  <c:v>0.33</c:v>
                </c:pt>
                <c:pt idx="8">
                  <c:v>0.33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B31-4268-8EE2-17B469D836AA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 pas 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 b="1"/>
                </a:pPr>
                <a:endParaRPr lang="es-MX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Hoja1!$A$2:$A$10</c:f>
              <c:strCache>
                <c:ptCount val="9"/>
                <c:pt idx="0">
                  <c:v>Researchland - Pablo Federico Levy Covarrubias</c:v>
                </c:pt>
                <c:pt idx="1">
                  <c:v>Customer Insight - Alicia Sarkis Saad</c:v>
                </c:pt>
                <c:pt idx="2">
                  <c:v>Procesamiento de Datos y Calidad - Omar Mata Lemus</c:v>
                </c:pt>
                <c:pt idx="3">
                  <c:v>Landers - Roberto Ramirez Contreras</c:v>
                </c:pt>
                <c:pt idx="4">
                  <c:v>Inteligencia de Negocios - Giovanni Sanabria Perez Moreno</c:v>
                </c:pt>
                <c:pt idx="5">
                  <c:v>Sin Etiqueta</c:v>
                </c:pt>
                <c:pt idx="6">
                  <c:v>Satisfacción y Asuntos Públicos - Jimena Duran Gutierrez</c:v>
                </c:pt>
                <c:pt idx="7">
                  <c:v>Ciencia de Datos - Pablo Fernando Tavera Esparza</c:v>
                </c:pt>
                <c:pt idx="8">
                  <c:v>Comercial - Sergio Castillo Gutierrez</c:v>
                </c:pt>
              </c:strCache>
            </c:strRef>
          </c:cat>
          <c:val>
            <c:numRef>
              <c:f>Hoja1!$C$2:$C$10</c:f>
              <c:numCache>
                <c:formatCode>0.0%</c:formatCode>
                <c:ptCount val="9"/>
                <c:pt idx="0">
                  <c:v>0.33</c:v>
                </c:pt>
                <c:pt idx="1">
                  <c:v>0.33</c:v>
                </c:pt>
                <c:pt idx="2">
                  <c:v>0.33</c:v>
                </c:pt>
                <c:pt idx="3">
                  <c:v>0.33</c:v>
                </c:pt>
                <c:pt idx="4">
                  <c:v>0.33</c:v>
                </c:pt>
                <c:pt idx="5">
                  <c:v>0.33</c:v>
                </c:pt>
                <c:pt idx="6">
                  <c:v>0.33</c:v>
                </c:pt>
                <c:pt idx="7">
                  <c:v>0.33</c:v>
                </c:pt>
                <c:pt idx="8">
                  <c:v>0.33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5B31-4268-8EE2-17B469D836AA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 pro </c:v>
                </c:pt>
              </c:strCache>
            </c:strRef>
          </c:tx>
          <c:spPr>
            <a:solidFill>
              <a:srgbClr val="00B050"/>
            </a:solidFill>
          </c:spPr>
          <c:invertIfNegative val="0"/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A-695E-4368-9CBF-B292162DEDFF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695E-4368-9CBF-B292162DEDFF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C-695E-4368-9CBF-B292162DEDFF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695E-4368-9CBF-B292162DEDFF}"/>
              </c:ext>
            </c:extLst>
          </c:dPt>
          <c:dPt>
            <c:idx val="7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E-695E-4368-9CBF-B292162DEDFF}"/>
              </c:ext>
            </c:extLst>
          </c:dPt>
          <c:dPt>
            <c:idx val="8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A-37A0-44BB-B63E-92A6C938D3F9}"/>
              </c:ext>
            </c:extLst>
          </c:dPt>
          <c:dPt>
            <c:idx val="9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2-5B31-4268-8EE2-17B469D836AA}"/>
              </c:ext>
            </c:extLst>
          </c:dPt>
          <c:dPt>
            <c:idx val="10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4-5B31-4268-8EE2-17B469D836AA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6-5B31-4268-8EE2-17B469D836AA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8-5B31-4268-8EE2-17B469D836AA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A-5B31-4268-8EE2-17B469D836A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Hoja1!$A$2:$A$10</c:f>
              <c:strCache>
                <c:ptCount val="9"/>
                <c:pt idx="0">
                  <c:v>Researchland - Pablo Federico Levy Covarrubias</c:v>
                </c:pt>
                <c:pt idx="1">
                  <c:v>Customer Insight - Alicia Sarkis Saad</c:v>
                </c:pt>
                <c:pt idx="2">
                  <c:v>Procesamiento de Datos y Calidad - Omar Mata Lemus</c:v>
                </c:pt>
                <c:pt idx="3">
                  <c:v>Landers - Roberto Ramirez Contreras</c:v>
                </c:pt>
                <c:pt idx="4">
                  <c:v>Inteligencia de Negocios - Giovanni Sanabria Perez Moreno</c:v>
                </c:pt>
                <c:pt idx="5">
                  <c:v>Sin Etiqueta</c:v>
                </c:pt>
                <c:pt idx="6">
                  <c:v>Satisfacción y Asuntos Públicos - Jimena Duran Gutierrez</c:v>
                </c:pt>
                <c:pt idx="7">
                  <c:v>Ciencia de Datos - Pablo Fernando Tavera Esparza</c:v>
                </c:pt>
                <c:pt idx="8">
                  <c:v>Comercial - Sergio Castillo Gutierrez</c:v>
                </c:pt>
              </c:strCache>
            </c:strRef>
          </c:cat>
          <c:val>
            <c:numRef>
              <c:f>Hoja1!$D$2:$D$10</c:f>
              <c:numCache>
                <c:formatCode>0.0%</c:formatCode>
                <c:ptCount val="9"/>
                <c:pt idx="0">
                  <c:v>0.33</c:v>
                </c:pt>
                <c:pt idx="1">
                  <c:v>0.33</c:v>
                </c:pt>
                <c:pt idx="2">
                  <c:v>0.33</c:v>
                </c:pt>
                <c:pt idx="3">
                  <c:v>0.33</c:v>
                </c:pt>
                <c:pt idx="4">
                  <c:v>0.33</c:v>
                </c:pt>
                <c:pt idx="5">
                  <c:v>0.33</c:v>
                </c:pt>
                <c:pt idx="6">
                  <c:v>0.33</c:v>
                </c:pt>
                <c:pt idx="7">
                  <c:v>0.33</c:v>
                </c:pt>
                <c:pt idx="8">
                  <c:v>0.33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B-5B31-4268-8EE2-17B469D836AA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1648548239"/>
        <c:axId val="1"/>
      </c:barChart>
      <c:catAx>
        <c:axId val="1648548239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1648548239"/>
        <c:crosses val="autoZero"/>
        <c:crossBetween val="between"/>
      </c:valAx>
      <c:spPr>
        <a:noFill/>
        <a:ln w="25360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>
        <a:defRPr sz="1747">
          <a:latin typeface="Montserrat" panose="00000500000000000000" pitchFamily="2" charset="0"/>
        </a:defRPr>
      </a:pPr>
      <a:endParaRPr lang="es-MX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710-4B93-B89B-B07BDE4BBE5D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710-4B93-B89B-B07BDE4BBE5D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5710-4B93-B89B-B07BDE4BBE5D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0.55800000000000005</c:v>
                </c:pt>
                <c:pt idx="1">
                  <c:v>0.32500000000000001</c:v>
                </c:pt>
                <c:pt idx="2">
                  <c:v>0.11700000000000001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710-4B93-B89B-B07BDE4BBE5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38000529742635791"/>
          <c:y val="0"/>
          <c:w val="0.61999470257364209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 det </c:v>
                </c:pt>
              </c:strCache>
            </c:strRef>
          </c:tx>
          <c:spPr>
            <a:solidFill>
              <a:srgbClr val="FF0000"/>
            </a:solidFill>
          </c:spPr>
          <c:invertIfNegative val="0"/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550B-4F1C-A97E-923F2275E90B}"/>
              </c:ext>
            </c:extLst>
          </c:dPt>
          <c:dPt>
            <c:idx val="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A-7590-42B7-B64B-C894C6F3EBF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Hoja1!$A$2:$A$6</c:f>
              <c:strCache>
                <c:ptCount val="5"/>
                <c:pt idx="0">
                  <c:v>Customer Insight - Alicia Sarkis Saad</c:v>
                </c:pt>
                <c:pt idx="1">
                  <c:v>Cuantitativo - Karla Infante Olvera</c:v>
                </c:pt>
                <c:pt idx="2">
                  <c:v>Cualitativos - Cristina Nieto Bernal</c:v>
                </c:pt>
                <c:pt idx="3">
                  <c:v>Mistery Shopper - Paula Avila Duran</c:v>
                </c:pt>
                <c:pt idx="4">
                  <c:v>Sin Etiqueta</c:v>
                </c:pt>
              </c:strCache>
            </c:strRef>
          </c:cat>
          <c:val>
            <c:numRef>
              <c:f>Hoja1!$B$2:$B$6</c:f>
              <c:numCache>
                <c:formatCode>0.0%</c:formatCode>
                <c:ptCount val="5"/>
                <c:pt idx="0">
                  <c:v>0.33</c:v>
                </c:pt>
                <c:pt idx="1">
                  <c:v>0.33</c:v>
                </c:pt>
                <c:pt idx="2">
                  <c:v>0.33</c:v>
                </c:pt>
                <c:pt idx="3">
                  <c:v>0.33</c:v>
                </c:pt>
                <c:pt idx="4">
                  <c:v>0.33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B31-4268-8EE2-17B469D836AA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 pas 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dLbls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5B31-4268-8EE2-17B469D836A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5B31-4268-8EE2-17B469D836AA}"/>
                </c:ext>
              </c:extLst>
            </c:dLbl>
            <c:spPr>
              <a:noFill/>
              <a:ln w="24691">
                <a:noFill/>
              </a:ln>
            </c:spPr>
            <c:txPr>
              <a:bodyPr/>
              <a:lstStyle/>
              <a:p>
                <a:pPr>
                  <a:defRPr sz="1100" b="1"/>
                </a:pPr>
                <a:endParaRPr lang="es-MX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Hoja1!$A$2:$A$6</c:f>
              <c:strCache>
                <c:ptCount val="5"/>
                <c:pt idx="0">
                  <c:v>Customer Insight - Alicia Sarkis Saad</c:v>
                </c:pt>
                <c:pt idx="1">
                  <c:v>Cuantitativo - Karla Infante Olvera</c:v>
                </c:pt>
                <c:pt idx="2">
                  <c:v>Cualitativos - Cristina Nieto Bernal</c:v>
                </c:pt>
                <c:pt idx="3">
                  <c:v>Mistery Shopper - Paula Avila Duran</c:v>
                </c:pt>
                <c:pt idx="4">
                  <c:v>Sin Etiqueta</c:v>
                </c:pt>
              </c:strCache>
            </c:strRef>
          </c:cat>
          <c:val>
            <c:numRef>
              <c:f>Hoja1!$C$2:$C$6</c:f>
              <c:numCache>
                <c:formatCode>0.0%</c:formatCode>
                <c:ptCount val="5"/>
                <c:pt idx="0">
                  <c:v>0.33</c:v>
                </c:pt>
                <c:pt idx="1">
                  <c:v>0.33</c:v>
                </c:pt>
                <c:pt idx="2">
                  <c:v>0.33</c:v>
                </c:pt>
                <c:pt idx="3">
                  <c:v>0.33</c:v>
                </c:pt>
                <c:pt idx="4">
                  <c:v>0.33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5B31-4268-8EE2-17B469D836AA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 pro </c:v>
                </c:pt>
              </c:strCache>
            </c:strRef>
          </c:tx>
          <c:spPr>
            <a:solidFill>
              <a:srgbClr val="00B050"/>
            </a:solidFill>
          </c:spPr>
          <c:invertIfNegative val="0"/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A-695E-4368-9CBF-B292162DEDFF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695E-4368-9CBF-B292162DEDFF}"/>
              </c:ext>
            </c:extLst>
          </c:dPt>
          <c:dPt>
            <c:idx val="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C-695E-4368-9CBF-B292162DEDFF}"/>
              </c:ext>
            </c:extLst>
          </c:dPt>
          <c:dPt>
            <c:idx val="6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D-695E-4368-9CBF-B292162DEDFF}"/>
              </c:ext>
            </c:extLst>
          </c:dPt>
          <c:dPt>
            <c:idx val="7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E-695E-4368-9CBF-B292162DEDFF}"/>
              </c:ext>
            </c:extLst>
          </c:dPt>
          <c:dPt>
            <c:idx val="9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2-5B31-4268-8EE2-17B469D836AA}"/>
              </c:ext>
            </c:extLst>
          </c:dPt>
          <c:dPt>
            <c:idx val="10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4-5B31-4268-8EE2-17B469D836AA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6-5B31-4268-8EE2-17B469D836AA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8-5B31-4268-8EE2-17B469D836AA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A-5B31-4268-8EE2-17B469D836A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Hoja1!$A$2:$A$6</c:f>
              <c:strCache>
                <c:ptCount val="5"/>
                <c:pt idx="0">
                  <c:v>Customer Insight - Alicia Sarkis Saad</c:v>
                </c:pt>
                <c:pt idx="1">
                  <c:v>Cuantitativo - Karla Infante Olvera</c:v>
                </c:pt>
                <c:pt idx="2">
                  <c:v>Cualitativos - Cristina Nieto Bernal</c:v>
                </c:pt>
                <c:pt idx="3">
                  <c:v>Mistery Shopper - Paula Avila Duran</c:v>
                </c:pt>
                <c:pt idx="4">
                  <c:v>Sin Etiqueta</c:v>
                </c:pt>
              </c:strCache>
            </c:strRef>
          </c:cat>
          <c:val>
            <c:numRef>
              <c:f>Hoja1!$D$2:$D$6</c:f>
              <c:numCache>
                <c:formatCode>0.0%</c:formatCode>
                <c:ptCount val="5"/>
                <c:pt idx="0">
                  <c:v>0.33</c:v>
                </c:pt>
                <c:pt idx="1">
                  <c:v>0.33</c:v>
                </c:pt>
                <c:pt idx="2">
                  <c:v>0.33</c:v>
                </c:pt>
                <c:pt idx="3">
                  <c:v>0.33</c:v>
                </c:pt>
                <c:pt idx="4">
                  <c:v>0.33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B-5B31-4268-8EE2-17B469D836AA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1648548239"/>
        <c:axId val="1"/>
      </c:barChart>
      <c:catAx>
        <c:axId val="1648548239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1648548239"/>
        <c:crosses val="autoZero"/>
        <c:crossBetween val="between"/>
      </c:valAx>
      <c:spPr>
        <a:noFill/>
        <a:ln w="25360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>
        <a:defRPr sz="1747">
          <a:latin typeface="Montserrat" panose="00000500000000000000" pitchFamily="2" charset="0"/>
        </a:defRPr>
      </a:pPr>
      <a:endParaRPr lang="es-MX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E61-4DD3-8BF1-324BDD8B5102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E61-4DD3-8BF1-324BDD8B5102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E61-4DD3-8BF1-324BDD8B5102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0.47799999999999998</c:v>
                </c:pt>
                <c:pt idx="1">
                  <c:v>0.435</c:v>
                </c:pt>
                <c:pt idx="2">
                  <c:v>8.6999999999999994E-2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E61-4DD3-8BF1-324BDD8B51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548344964103862"/>
        </c:manualLayout>
      </c:layout>
      <c:lineChart>
        <c:grouping val="standar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IPN</c:v>
                </c:pt>
              </c:strCache>
            </c:strRef>
          </c:tx>
          <c:spPr>
            <a:ln w="28575" cap="rnd">
              <a:solidFill>
                <a:srgbClr val="7030A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7030A0"/>
              </a:solidFill>
              <a:ln w="22225">
                <a:solidFill>
                  <a:srgbClr val="7030A0"/>
                </a:solidFill>
              </a:ln>
              <a:effectLst/>
            </c:spPr>
          </c:marker>
          <c:dLbls>
            <c:dLbl>
              <c:idx val="3"/>
              <c:layout>
                <c:manualLayout>
                  <c:x val="-4.0294411987831111E-2"/>
                  <c:y val="2.032041310612781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AC38-455A-9924-FE84BF24EB91}"/>
                </c:ext>
              </c:extLst>
            </c:dLbl>
            <c:dLbl>
              <c:idx val="4"/>
              <c:layout>
                <c:manualLayout>
                  <c:x val="-1.8931456427910574E-2"/>
                  <c:y val="2.498906817872268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AC38-455A-9924-FE84BF24EB91}"/>
                </c:ext>
              </c:extLst>
            </c:dLbl>
            <c:dLbl>
              <c:idx val="5"/>
              <c:layout>
                <c:manualLayout>
                  <c:x val="-3.9757577955813014E-2"/>
                  <c:y val="1.798608556983046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AC38-455A-9924-FE84BF24EB91}"/>
                </c:ext>
              </c:extLst>
            </c:dLbl>
            <c:dLbl>
              <c:idx val="6"/>
              <c:layout>
                <c:manualLayout>
                  <c:x val="-3.4668744238469495E-2"/>
                  <c:y val="2.498906817872273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AC38-455A-9924-FE84BF24EB91}"/>
                </c:ext>
              </c:extLst>
            </c:dLbl>
            <c:dLbl>
              <c:idx val="7"/>
              <c:layout>
                <c:manualLayout>
                  <c:x val="-3.8069019872907207E-2"/>
                  <c:y val="2.498906817872273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AC38-455A-9924-FE84BF24EB91}"/>
                </c:ext>
              </c:extLst>
            </c:dLbl>
            <c:dLbl>
              <c:idx val="9"/>
              <c:layout>
                <c:manualLayout>
                  <c:x val="-6.6092589594977769E-2"/>
                  <c:y val="1.798608556983044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AC38-455A-9924-FE84BF24EB91}"/>
                </c:ext>
              </c:extLst>
            </c:dLbl>
            <c:dLbl>
              <c:idx val="10"/>
              <c:layout>
                <c:manualLayout>
                  <c:x val="-9.7277120442348305E-3"/>
                  <c:y val="-2.403181008352297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AC38-455A-9924-FE84BF24EB9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Hoja1!$A$2:$A$18</c:f>
              <c:strCache>
                <c:ptCount val="17"/>
                <c:pt idx="0">
                  <c:v>1Q 2022</c:v>
                </c:pt>
                <c:pt idx="1">
                  <c:v>2Q 2022</c:v>
                </c:pt>
                <c:pt idx="2">
                  <c:v>3Q 2022</c:v>
                </c:pt>
                <c:pt idx="3">
                  <c:v>4Q 2022</c:v>
                </c:pt>
                <c:pt idx="4">
                  <c:v>1Q 2023</c:v>
                </c:pt>
                <c:pt idx="5">
                  <c:v>2Q 2023</c:v>
                </c:pt>
                <c:pt idx="6">
                  <c:v>3Q 2023</c:v>
                </c:pt>
                <c:pt idx="7">
                  <c:v>4Q 2023</c:v>
                </c:pt>
                <c:pt idx="8">
                  <c:v>1Q 2024</c:v>
                </c:pt>
                <c:pt idx="9">
                  <c:v>2Q 2024</c:v>
                </c:pt>
                <c:pt idx="10">
                  <c:v>3Q 2024</c:v>
                </c:pt>
                <c:pt idx="11">
                  <c:v>4Q 2024</c:v>
                </c:pt>
                <c:pt idx="12">
                  <c:v>1Q 2025</c:v>
                </c:pt>
                <c:pt idx="13">
                  <c:v>2Q 2025</c:v>
                </c:pt>
                <c:pt idx="14">
                  <c:v>3Q 2025</c:v>
                </c:pt>
                <c:pt idx="15">
                  <c:v>4Q 2025</c:v>
                </c:pt>
                <c:pt idx="16">
                  <c:v>1Q 2026</c:v>
                </c:pt>
              </c:strCache>
            </c:strRef>
          </c:cat>
          <c:val>
            <c:numRef>
              <c:f>Hoja1!$B$2:$B$18</c:f>
              <c:numCache>
                <c:formatCode>0.0%</c:formatCode>
                <c:ptCount val="17"/>
                <c:pt idx="0">
                  <c:v>0.36399999999999999</c:v>
                </c:pt>
                <c:pt idx="1">
                  <c:v>0.317</c:v>
                </c:pt>
                <c:pt idx="2">
                  <c:v>0.5</c:v>
                </c:pt>
                <c:pt idx="3">
                  <c:v>0.45800000000000002</c:v>
                </c:pt>
                <c:pt idx="4">
                  <c:v>0.65200000000000002</c:v>
                </c:pt>
                <c:pt idx="5">
                  <c:v>0.66700000000000004</c:v>
                </c:pt>
                <c:pt idx="6">
                  <c:v>0.67300000000000004</c:v>
                </c:pt>
                <c:pt idx="7">
                  <c:v>0.58699999999999997</c:v>
                </c:pt>
                <c:pt idx="8">
                  <c:v>0.65600000000000003</c:v>
                </c:pt>
                <c:pt idx="9">
                  <c:v>0.55000000000000004</c:v>
                </c:pt>
                <c:pt idx="10">
                  <c:v>0.35</c:v>
                </c:pt>
                <c:pt idx="11">
                  <c:v>0.33900000000000002</c:v>
                </c:pt>
                <c:pt idx="12">
                  <c:v>0.433</c:v>
                </c:pt>
                <c:pt idx="13">
                  <c:v>0.435</c:v>
                </c:pt>
                <c:pt idx="14">
                  <c:v>0.50600000000000001</c:v>
                </c:pt>
                <c:pt idx="15">
                  <c:v>0.46200000000000002</c:v>
                </c:pt>
                <c:pt idx="16">
                  <c:v>0.442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C38-455A-9924-FE84BF24EB91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Promotores</c:v>
                </c:pt>
              </c:strCache>
            </c:strRef>
          </c:tx>
          <c:spPr>
            <a:ln w="28575" cap="rnd">
              <a:solidFill>
                <a:srgbClr val="00B050"/>
              </a:solidFill>
              <a:prstDash val="dash"/>
              <a:round/>
            </a:ln>
            <a:effectLst/>
          </c:spPr>
          <c:marker>
            <c:symbol val="circle"/>
            <c:size val="7"/>
            <c:spPr>
              <a:solidFill>
                <a:srgbClr val="00B050"/>
              </a:solidFill>
              <a:ln w="9525">
                <a:solidFill>
                  <a:srgbClr val="00B050"/>
                </a:solidFill>
                <a:prstDash val="solid"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Hoja1!$A$2:$A$18</c:f>
              <c:strCache>
                <c:ptCount val="17"/>
                <c:pt idx="0">
                  <c:v>1Q 2022</c:v>
                </c:pt>
                <c:pt idx="1">
                  <c:v>2Q 2022</c:v>
                </c:pt>
                <c:pt idx="2">
                  <c:v>3Q 2022</c:v>
                </c:pt>
                <c:pt idx="3">
                  <c:v>4Q 2022</c:v>
                </c:pt>
                <c:pt idx="4">
                  <c:v>1Q 2023</c:v>
                </c:pt>
                <c:pt idx="5">
                  <c:v>2Q 2023</c:v>
                </c:pt>
                <c:pt idx="6">
                  <c:v>3Q 2023</c:v>
                </c:pt>
                <c:pt idx="7">
                  <c:v>4Q 2023</c:v>
                </c:pt>
                <c:pt idx="8">
                  <c:v>1Q 2024</c:v>
                </c:pt>
                <c:pt idx="9">
                  <c:v>2Q 2024</c:v>
                </c:pt>
                <c:pt idx="10">
                  <c:v>3Q 2024</c:v>
                </c:pt>
                <c:pt idx="11">
                  <c:v>4Q 2024</c:v>
                </c:pt>
                <c:pt idx="12">
                  <c:v>1Q 2025</c:v>
                </c:pt>
                <c:pt idx="13">
                  <c:v>2Q 2025</c:v>
                </c:pt>
                <c:pt idx="14">
                  <c:v>3Q 2025</c:v>
                </c:pt>
                <c:pt idx="15">
                  <c:v>4Q 2025</c:v>
                </c:pt>
                <c:pt idx="16">
                  <c:v>1Q 2026</c:v>
                </c:pt>
              </c:strCache>
            </c:strRef>
          </c:cat>
          <c:val>
            <c:numRef>
              <c:f>Hoja1!$C$2:$C$18</c:f>
              <c:numCache>
                <c:formatCode>0.0%</c:formatCode>
                <c:ptCount val="17"/>
                <c:pt idx="0">
                  <c:v>0.54500000000000004</c:v>
                </c:pt>
                <c:pt idx="1">
                  <c:v>0.51200000000000001</c:v>
                </c:pt>
                <c:pt idx="2">
                  <c:v>0.60899999999999999</c:v>
                </c:pt>
                <c:pt idx="3">
                  <c:v>0.60399999999999998</c:v>
                </c:pt>
                <c:pt idx="4">
                  <c:v>0.67400000000000004</c:v>
                </c:pt>
                <c:pt idx="5">
                  <c:v>0.69</c:v>
                </c:pt>
                <c:pt idx="6">
                  <c:v>0.70899999999999996</c:v>
                </c:pt>
                <c:pt idx="7">
                  <c:v>0.66700000000000004</c:v>
                </c:pt>
                <c:pt idx="8">
                  <c:v>0.73399999999999999</c:v>
                </c:pt>
                <c:pt idx="9">
                  <c:v>0.61699999999999999</c:v>
                </c:pt>
                <c:pt idx="10">
                  <c:v>0.5</c:v>
                </c:pt>
                <c:pt idx="11">
                  <c:v>0.49199999999999999</c:v>
                </c:pt>
                <c:pt idx="12">
                  <c:v>0.58299999999999996</c:v>
                </c:pt>
                <c:pt idx="13">
                  <c:v>0.54799999999999993</c:v>
                </c:pt>
                <c:pt idx="14">
                  <c:v>0.60799999999999998</c:v>
                </c:pt>
                <c:pt idx="15">
                  <c:v>0.58799999999999997</c:v>
                </c:pt>
                <c:pt idx="16">
                  <c:v>0.55800000000000005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C38-455A-9924-FE84BF24EB91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Pasivos</c:v>
                </c:pt>
              </c:strCache>
            </c:strRef>
          </c:tx>
          <c:spPr>
            <a:ln w="28575" cap="rnd">
              <a:solidFill>
                <a:srgbClr val="FFC000"/>
              </a:solidFill>
              <a:prstDash val="dash"/>
              <a:round/>
            </a:ln>
            <a:effectLst/>
          </c:spPr>
          <c:marker>
            <c:symbol val="circle"/>
            <c:size val="7"/>
            <c:spPr>
              <a:solidFill>
                <a:srgbClr val="FFC000"/>
              </a:solidFill>
              <a:ln w="9525">
                <a:solidFill>
                  <a:srgbClr val="FFC000"/>
                </a:solidFill>
              </a:ln>
              <a:effectLst/>
            </c:spPr>
          </c:marker>
          <c:dLbls>
            <c:dLbl>
              <c:idx val="9"/>
              <c:layout>
                <c:manualLayout>
                  <c:x val="-4.480744494816629E-2"/>
                  <c:y val="-2.732321190970233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AC38-455A-9924-FE84BF24EB91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AC38-455A-9924-FE84BF24EB9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Hoja1!$A$2:$A$18</c:f>
              <c:strCache>
                <c:ptCount val="17"/>
                <c:pt idx="0">
                  <c:v>1Q 2022</c:v>
                </c:pt>
                <c:pt idx="1">
                  <c:v>2Q 2022</c:v>
                </c:pt>
                <c:pt idx="2">
                  <c:v>3Q 2022</c:v>
                </c:pt>
                <c:pt idx="3">
                  <c:v>4Q 2022</c:v>
                </c:pt>
                <c:pt idx="4">
                  <c:v>1Q 2023</c:v>
                </c:pt>
                <c:pt idx="5">
                  <c:v>2Q 2023</c:v>
                </c:pt>
                <c:pt idx="6">
                  <c:v>3Q 2023</c:v>
                </c:pt>
                <c:pt idx="7">
                  <c:v>4Q 2023</c:v>
                </c:pt>
                <c:pt idx="8">
                  <c:v>1Q 2024</c:v>
                </c:pt>
                <c:pt idx="9">
                  <c:v>2Q 2024</c:v>
                </c:pt>
                <c:pt idx="10">
                  <c:v>3Q 2024</c:v>
                </c:pt>
                <c:pt idx="11">
                  <c:v>4Q 2024</c:v>
                </c:pt>
                <c:pt idx="12">
                  <c:v>1Q 2025</c:v>
                </c:pt>
                <c:pt idx="13">
                  <c:v>2Q 2025</c:v>
                </c:pt>
                <c:pt idx="14">
                  <c:v>3Q 2025</c:v>
                </c:pt>
                <c:pt idx="15">
                  <c:v>4Q 2025</c:v>
                </c:pt>
                <c:pt idx="16">
                  <c:v>1Q 2026</c:v>
                </c:pt>
              </c:strCache>
            </c:strRef>
          </c:cat>
          <c:val>
            <c:numRef>
              <c:f>Hoja1!$D$2:$D$18</c:f>
              <c:numCache>
                <c:formatCode>0.0%</c:formatCode>
                <c:ptCount val="17"/>
                <c:pt idx="0">
                  <c:v>0.27300000000000002</c:v>
                </c:pt>
                <c:pt idx="1">
                  <c:v>0.29299999999999998</c:v>
                </c:pt>
                <c:pt idx="2">
                  <c:v>0.28299999999999997</c:v>
                </c:pt>
                <c:pt idx="3">
                  <c:v>0.25</c:v>
                </c:pt>
                <c:pt idx="4">
                  <c:v>0.30399999999999999</c:v>
                </c:pt>
                <c:pt idx="5">
                  <c:v>0.28599999999999998</c:v>
                </c:pt>
                <c:pt idx="6">
                  <c:v>0.255</c:v>
                </c:pt>
                <c:pt idx="7">
                  <c:v>0.254</c:v>
                </c:pt>
                <c:pt idx="8">
                  <c:v>0.188</c:v>
                </c:pt>
                <c:pt idx="9">
                  <c:v>0.317</c:v>
                </c:pt>
                <c:pt idx="10">
                  <c:v>0.35</c:v>
                </c:pt>
                <c:pt idx="11">
                  <c:v>0.35599999999999998</c:v>
                </c:pt>
                <c:pt idx="12">
                  <c:v>0.26700000000000002</c:v>
                </c:pt>
                <c:pt idx="13">
                  <c:v>0.33899999999999997</c:v>
                </c:pt>
                <c:pt idx="14">
                  <c:v>0.29099999999999998</c:v>
                </c:pt>
                <c:pt idx="15">
                  <c:v>0.28699999999999998</c:v>
                </c:pt>
                <c:pt idx="16">
                  <c:v>0.32500000000000001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C38-455A-9924-FE84BF24EB91}"/>
            </c:ext>
          </c:extLst>
        </c:ser>
        <c:ser>
          <c:idx val="3"/>
          <c:order val="3"/>
          <c:tx>
            <c:strRef>
              <c:f>Hoja1!$E$1</c:f>
              <c:strCache>
                <c:ptCount val="1"/>
                <c:pt idx="0">
                  <c:v>Detractores</c:v>
                </c:pt>
              </c:strCache>
            </c:strRef>
          </c:tx>
          <c:spPr>
            <a:ln w="28575" cap="rnd">
              <a:solidFill>
                <a:srgbClr val="FF0000"/>
              </a:solidFill>
              <a:prstDash val="dash"/>
              <a:round/>
            </a:ln>
            <a:effectLst/>
          </c:spPr>
          <c:marker>
            <c:symbol val="circle"/>
            <c:size val="7"/>
            <c:spPr>
              <a:solidFill>
                <a:srgbClr val="FF0000"/>
              </a:solidFill>
              <a:ln w="9525">
                <a:solidFill>
                  <a:srgbClr val="FF0000"/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1.4177148368501211E-2"/>
                  <c:y val="3.570363157032777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AC38-455A-9924-FE84BF24EB91}"/>
                </c:ext>
              </c:extLst>
            </c:dLbl>
            <c:dLbl>
              <c:idx val="4"/>
              <c:layout>
                <c:manualLayout>
                  <c:x val="-3.6621736889075579E-2"/>
                  <c:y val="-2.265455683710750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AC38-455A-9924-FE84BF24EB91}"/>
                </c:ext>
              </c:extLst>
            </c:dLbl>
            <c:dLbl>
              <c:idx val="5"/>
              <c:layout>
                <c:manualLayout>
                  <c:x val="-4.3710372341761651E-2"/>
                  <c:y val="-2.032022930081008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AC38-455A-9924-FE84BF24EB91}"/>
                </c:ext>
              </c:extLst>
            </c:dLbl>
            <c:dLbl>
              <c:idx val="6"/>
              <c:layout>
                <c:manualLayout>
                  <c:x val="-4.3188977955494361E-2"/>
                  <c:y val="-3.199186698229716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AC38-455A-9924-FE84BF24EB91}"/>
                </c:ext>
              </c:extLst>
            </c:dLbl>
            <c:dLbl>
              <c:idx val="10"/>
              <c:layout>
                <c:manualLayout>
                  <c:x val="-2.2512106336516392E-2"/>
                  <c:y val="-2.732321190970224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AC38-455A-9924-FE84BF24EB9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Hoja1!$A$2:$A$18</c:f>
              <c:strCache>
                <c:ptCount val="17"/>
                <c:pt idx="0">
                  <c:v>1Q 2022</c:v>
                </c:pt>
                <c:pt idx="1">
                  <c:v>2Q 2022</c:v>
                </c:pt>
                <c:pt idx="2">
                  <c:v>3Q 2022</c:v>
                </c:pt>
                <c:pt idx="3">
                  <c:v>4Q 2022</c:v>
                </c:pt>
                <c:pt idx="4">
                  <c:v>1Q 2023</c:v>
                </c:pt>
                <c:pt idx="5">
                  <c:v>2Q 2023</c:v>
                </c:pt>
                <c:pt idx="6">
                  <c:v>3Q 2023</c:v>
                </c:pt>
                <c:pt idx="7">
                  <c:v>4Q 2023</c:v>
                </c:pt>
                <c:pt idx="8">
                  <c:v>1Q 2024</c:v>
                </c:pt>
                <c:pt idx="9">
                  <c:v>2Q 2024</c:v>
                </c:pt>
                <c:pt idx="10">
                  <c:v>3Q 2024</c:v>
                </c:pt>
                <c:pt idx="11">
                  <c:v>4Q 2024</c:v>
                </c:pt>
                <c:pt idx="12">
                  <c:v>1Q 2025</c:v>
                </c:pt>
                <c:pt idx="13">
                  <c:v>2Q 2025</c:v>
                </c:pt>
                <c:pt idx="14">
                  <c:v>3Q 2025</c:v>
                </c:pt>
                <c:pt idx="15">
                  <c:v>4Q 2025</c:v>
                </c:pt>
                <c:pt idx="16">
                  <c:v>1Q 2026</c:v>
                </c:pt>
              </c:strCache>
            </c:strRef>
          </c:cat>
          <c:val>
            <c:numRef>
              <c:f>Hoja1!$E$2:$E$18</c:f>
              <c:numCache>
                <c:formatCode>0.0%</c:formatCode>
                <c:ptCount val="17"/>
                <c:pt idx="0">
                  <c:v>0.182</c:v>
                </c:pt>
                <c:pt idx="1">
                  <c:v>0.19500000000000001</c:v>
                </c:pt>
                <c:pt idx="2">
                  <c:v>0.109</c:v>
                </c:pt>
                <c:pt idx="3">
                  <c:v>0.14599999999999999</c:v>
                </c:pt>
                <c:pt idx="4">
                  <c:v>2.1999999999999999E-2</c:v>
                </c:pt>
                <c:pt idx="5">
                  <c:v>2.4E-2</c:v>
                </c:pt>
                <c:pt idx="6">
                  <c:v>3.5999999999999997E-2</c:v>
                </c:pt>
                <c:pt idx="7">
                  <c:v>7.9000000000000001E-2</c:v>
                </c:pt>
                <c:pt idx="8">
                  <c:v>7.8E-2</c:v>
                </c:pt>
                <c:pt idx="9">
                  <c:v>6.7000000000000004E-2</c:v>
                </c:pt>
                <c:pt idx="10">
                  <c:v>0.15</c:v>
                </c:pt>
                <c:pt idx="11">
                  <c:v>0.153</c:v>
                </c:pt>
                <c:pt idx="12">
                  <c:v>0.15</c:v>
                </c:pt>
                <c:pt idx="13">
                  <c:v>0.113</c:v>
                </c:pt>
                <c:pt idx="14">
                  <c:v>0.10100000000000001</c:v>
                </c:pt>
                <c:pt idx="15">
                  <c:v>0.125</c:v>
                </c:pt>
                <c:pt idx="16">
                  <c:v>0.11700000000000001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C38-455A-9924-FE84BF24EB9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04053359"/>
        <c:axId val="1104052399"/>
      </c:lineChart>
      <c:catAx>
        <c:axId val="11040533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s-MX"/>
          </a:p>
        </c:txPr>
        <c:crossAx val="1104052399"/>
        <c:crosses val="autoZero"/>
        <c:auto val="1"/>
        <c:lblAlgn val="ctr"/>
        <c:lblOffset val="100"/>
        <c:noMultiLvlLbl val="0"/>
      </c:catAx>
      <c:valAx>
        <c:axId val="1104052399"/>
        <c:scaling>
          <c:orientation val="minMax"/>
        </c:scaling>
        <c:delete val="1"/>
        <c:axPos val="l"/>
        <c:numFmt formatCode="0.0%" sourceLinked="1"/>
        <c:majorTickMark val="none"/>
        <c:minorTickMark val="none"/>
        <c:tickLblPos val="nextTo"/>
        <c:crossAx val="1104053359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s-MX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F42C5E-06A3-4F95-B26A-C7C5C507386D}" type="datetimeFigureOut">
              <a:rPr lang="es-MX" smtClean="0"/>
              <a:pPr/>
              <a:t>31/07/2026</a:t>
            </a:fld>
            <a:endParaRPr lang="es-MX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95288" y="685800"/>
            <a:ext cx="60674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AA6188-9C7D-4ACB-9B5E-CC4E5CD048FF}" type="slidenum">
              <a:rPr lang="es-MX" smtClean="0"/>
              <a:pPr/>
              <a:t>‹Nº›</a:t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031718" rtl="0" eaLnBrk="1" latinLnBrk="0" hangingPunct="1">
      <a:defRPr sz="1354" kern="1200">
        <a:solidFill>
          <a:schemeClr val="tx1"/>
        </a:solidFill>
        <a:latin typeface="+mn-lt"/>
        <a:ea typeface="+mn-ea"/>
        <a:cs typeface="+mn-cs"/>
      </a:defRPr>
    </a:lvl1pPr>
    <a:lvl2pPr marL="515859" algn="l" defTabSz="1031718" rtl="0" eaLnBrk="1" latinLnBrk="0" hangingPunct="1">
      <a:defRPr sz="1354" kern="1200">
        <a:solidFill>
          <a:schemeClr val="tx1"/>
        </a:solidFill>
        <a:latin typeface="+mn-lt"/>
        <a:ea typeface="+mn-ea"/>
        <a:cs typeface="+mn-cs"/>
      </a:defRPr>
    </a:lvl2pPr>
    <a:lvl3pPr marL="1031718" algn="l" defTabSz="1031718" rtl="0" eaLnBrk="1" latinLnBrk="0" hangingPunct="1">
      <a:defRPr sz="1354" kern="1200">
        <a:solidFill>
          <a:schemeClr val="tx1"/>
        </a:solidFill>
        <a:latin typeface="+mn-lt"/>
        <a:ea typeface="+mn-ea"/>
        <a:cs typeface="+mn-cs"/>
      </a:defRPr>
    </a:lvl3pPr>
    <a:lvl4pPr marL="1547576" algn="l" defTabSz="1031718" rtl="0" eaLnBrk="1" latinLnBrk="0" hangingPunct="1">
      <a:defRPr sz="1354" kern="1200">
        <a:solidFill>
          <a:schemeClr val="tx1"/>
        </a:solidFill>
        <a:latin typeface="+mn-lt"/>
        <a:ea typeface="+mn-ea"/>
        <a:cs typeface="+mn-cs"/>
      </a:defRPr>
    </a:lvl4pPr>
    <a:lvl5pPr marL="2063435" algn="l" defTabSz="1031718" rtl="0" eaLnBrk="1" latinLnBrk="0" hangingPunct="1">
      <a:defRPr sz="1354" kern="1200">
        <a:solidFill>
          <a:schemeClr val="tx1"/>
        </a:solidFill>
        <a:latin typeface="+mn-lt"/>
        <a:ea typeface="+mn-ea"/>
        <a:cs typeface="+mn-cs"/>
      </a:defRPr>
    </a:lvl5pPr>
    <a:lvl6pPr marL="2579294" algn="l" defTabSz="1031718" rtl="0" eaLnBrk="1" latinLnBrk="0" hangingPunct="1">
      <a:defRPr sz="1354" kern="1200">
        <a:solidFill>
          <a:schemeClr val="tx1"/>
        </a:solidFill>
        <a:latin typeface="+mn-lt"/>
        <a:ea typeface="+mn-ea"/>
        <a:cs typeface="+mn-cs"/>
      </a:defRPr>
    </a:lvl6pPr>
    <a:lvl7pPr marL="3095153" algn="l" defTabSz="1031718" rtl="0" eaLnBrk="1" latinLnBrk="0" hangingPunct="1">
      <a:defRPr sz="1354" kern="1200">
        <a:solidFill>
          <a:schemeClr val="tx1"/>
        </a:solidFill>
        <a:latin typeface="+mn-lt"/>
        <a:ea typeface="+mn-ea"/>
        <a:cs typeface="+mn-cs"/>
      </a:defRPr>
    </a:lvl7pPr>
    <a:lvl8pPr marL="3611011" algn="l" defTabSz="1031718" rtl="0" eaLnBrk="1" latinLnBrk="0" hangingPunct="1">
      <a:defRPr sz="1354" kern="1200">
        <a:solidFill>
          <a:schemeClr val="tx1"/>
        </a:solidFill>
        <a:latin typeface="+mn-lt"/>
        <a:ea typeface="+mn-ea"/>
        <a:cs typeface="+mn-cs"/>
      </a:defRPr>
    </a:lvl8pPr>
    <a:lvl9pPr marL="4126870" algn="l" defTabSz="1031718" rtl="0" eaLnBrk="1" latinLnBrk="0" hangingPunct="1">
      <a:defRPr sz="135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AA4A3B2-8603-91AF-F5E6-8A515C0F682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-1977692" y="-1084791"/>
            <a:ext cx="14400213" cy="8135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555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6211231-253D-537A-3FE3-3F849AEB55A0}"/>
              </a:ext>
            </a:extLst>
          </p:cNvPr>
          <p:cNvPicPr preferRelativeResize="0"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" y="0"/>
            <a:ext cx="14250210" cy="8135938"/>
          </a:xfrm>
          <a:prstGeom prst="rect">
            <a:avLst/>
          </a:prstGeom>
        </p:spPr>
      </p:pic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0FF1CEF-A93E-2B02-B651-88D8EA883A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08839" y="0"/>
            <a:ext cx="8891381" cy="8135938"/>
          </a:xfrm>
          <a:custGeom>
            <a:avLst/>
            <a:gdLst>
              <a:gd name="connsiteX0" fmla="*/ 0 w 7527925"/>
              <a:gd name="connsiteY0" fmla="*/ 0 h 6858000"/>
              <a:gd name="connsiteX1" fmla="*/ 7527925 w 7527925"/>
              <a:gd name="connsiteY1" fmla="*/ 0 h 6858000"/>
              <a:gd name="connsiteX2" fmla="*/ 7527925 w 7527925"/>
              <a:gd name="connsiteY2" fmla="*/ 6858000 h 6858000"/>
              <a:gd name="connsiteX3" fmla="*/ 0 w 7527925"/>
              <a:gd name="connsiteY3" fmla="*/ 6858000 h 6858000"/>
              <a:gd name="connsiteX4" fmla="*/ 0 w 7527925"/>
              <a:gd name="connsiteY4" fmla="*/ 0 h 6858000"/>
              <a:gd name="connsiteX0" fmla="*/ 1993392 w 7527925"/>
              <a:gd name="connsiteY0" fmla="*/ 0 h 6858000"/>
              <a:gd name="connsiteX1" fmla="*/ 7527925 w 7527925"/>
              <a:gd name="connsiteY1" fmla="*/ 0 h 6858000"/>
              <a:gd name="connsiteX2" fmla="*/ 7527925 w 7527925"/>
              <a:gd name="connsiteY2" fmla="*/ 6858000 h 6858000"/>
              <a:gd name="connsiteX3" fmla="*/ 0 w 7527925"/>
              <a:gd name="connsiteY3" fmla="*/ 6858000 h 6858000"/>
              <a:gd name="connsiteX4" fmla="*/ 1993392 w 752792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27925" h="6858000">
                <a:moveTo>
                  <a:pt x="1993392" y="0"/>
                </a:moveTo>
                <a:lnTo>
                  <a:pt x="7527925" y="0"/>
                </a:lnTo>
                <a:lnTo>
                  <a:pt x="7527925" y="6858000"/>
                </a:lnTo>
                <a:lnTo>
                  <a:pt x="0" y="6858000"/>
                </a:lnTo>
                <a:lnTo>
                  <a:pt x="1993392" y="0"/>
                </a:ln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</p:spPr>
        <p:txBody>
          <a:bodyPr lIns="92802" tIns="46401" rIns="92802" bIns="46401"/>
          <a:lstStyle/>
          <a:p>
            <a:endParaRPr lang="x-none" dirty="0"/>
          </a:p>
        </p:txBody>
      </p:sp>
    </p:spTree>
    <p:extLst>
      <p:ext uri="{BB962C8B-B14F-4D97-AF65-F5344CB8AC3E}">
        <p14:creationId xmlns:p14="http://schemas.microsoft.com/office/powerpoint/2010/main" val="40042402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6211231-253D-537A-3FE3-3F849AEB55A0}"/>
              </a:ext>
            </a:extLst>
          </p:cNvPr>
          <p:cNvPicPr preferRelativeResize="0"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" y="0"/>
            <a:ext cx="14250210" cy="8135938"/>
          </a:xfrm>
          <a:prstGeom prst="rect">
            <a:avLst/>
          </a:prstGeom>
        </p:spPr>
      </p:pic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0FF1CEF-A93E-2B02-B651-88D8EA883A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73632" y="-10846"/>
            <a:ext cx="8826581" cy="8146786"/>
          </a:xfrm>
          <a:custGeom>
            <a:avLst/>
            <a:gdLst>
              <a:gd name="connsiteX0" fmla="*/ 0 w 7527925"/>
              <a:gd name="connsiteY0" fmla="*/ 0 h 6858000"/>
              <a:gd name="connsiteX1" fmla="*/ 7527925 w 7527925"/>
              <a:gd name="connsiteY1" fmla="*/ 0 h 6858000"/>
              <a:gd name="connsiteX2" fmla="*/ 7527925 w 7527925"/>
              <a:gd name="connsiteY2" fmla="*/ 6858000 h 6858000"/>
              <a:gd name="connsiteX3" fmla="*/ 0 w 7527925"/>
              <a:gd name="connsiteY3" fmla="*/ 6858000 h 6858000"/>
              <a:gd name="connsiteX4" fmla="*/ 0 w 7527925"/>
              <a:gd name="connsiteY4" fmla="*/ 0 h 6858000"/>
              <a:gd name="connsiteX0" fmla="*/ 1993392 w 7527925"/>
              <a:gd name="connsiteY0" fmla="*/ 0 h 6858000"/>
              <a:gd name="connsiteX1" fmla="*/ 7527925 w 7527925"/>
              <a:gd name="connsiteY1" fmla="*/ 0 h 6858000"/>
              <a:gd name="connsiteX2" fmla="*/ 7527925 w 7527925"/>
              <a:gd name="connsiteY2" fmla="*/ 6858000 h 6858000"/>
              <a:gd name="connsiteX3" fmla="*/ 0 w 7527925"/>
              <a:gd name="connsiteY3" fmla="*/ 6858000 h 6858000"/>
              <a:gd name="connsiteX4" fmla="*/ 1993392 w 7527925"/>
              <a:gd name="connsiteY4" fmla="*/ 0 h 6858000"/>
              <a:gd name="connsiteX0" fmla="*/ 54864 w 7527925"/>
              <a:gd name="connsiteY0" fmla="*/ 0 h 6867144"/>
              <a:gd name="connsiteX1" fmla="*/ 7527925 w 7527925"/>
              <a:gd name="connsiteY1" fmla="*/ 9144 h 6867144"/>
              <a:gd name="connsiteX2" fmla="*/ 7527925 w 7527925"/>
              <a:gd name="connsiteY2" fmla="*/ 6867144 h 6867144"/>
              <a:gd name="connsiteX3" fmla="*/ 0 w 7527925"/>
              <a:gd name="connsiteY3" fmla="*/ 6867144 h 6867144"/>
              <a:gd name="connsiteX4" fmla="*/ 54864 w 7527925"/>
              <a:gd name="connsiteY4" fmla="*/ 0 h 6867144"/>
              <a:gd name="connsiteX0" fmla="*/ 0 w 7473061"/>
              <a:gd name="connsiteY0" fmla="*/ 0 h 6867144"/>
              <a:gd name="connsiteX1" fmla="*/ 7473061 w 7473061"/>
              <a:gd name="connsiteY1" fmla="*/ 9144 h 6867144"/>
              <a:gd name="connsiteX2" fmla="*/ 7473061 w 7473061"/>
              <a:gd name="connsiteY2" fmla="*/ 6867144 h 6867144"/>
              <a:gd name="connsiteX3" fmla="*/ 2084832 w 7473061"/>
              <a:gd name="connsiteY3" fmla="*/ 6867144 h 6867144"/>
              <a:gd name="connsiteX4" fmla="*/ 0 w 7473061"/>
              <a:gd name="connsiteY4" fmla="*/ 0 h 6867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473061" h="6867144">
                <a:moveTo>
                  <a:pt x="0" y="0"/>
                </a:moveTo>
                <a:lnTo>
                  <a:pt x="7473061" y="9144"/>
                </a:lnTo>
                <a:lnTo>
                  <a:pt x="7473061" y="6867144"/>
                </a:lnTo>
                <a:lnTo>
                  <a:pt x="2084832" y="6867144"/>
                </a:lnTo>
                <a:lnTo>
                  <a:pt x="0" y="0"/>
                </a:ln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</p:spPr>
        <p:txBody>
          <a:bodyPr lIns="92802" tIns="46401" rIns="92802" bIns="46401"/>
          <a:lstStyle/>
          <a:p>
            <a:endParaRPr lang="x-none" dirty="0"/>
          </a:p>
        </p:txBody>
      </p:sp>
    </p:spTree>
    <p:extLst>
      <p:ext uri="{BB962C8B-B14F-4D97-AF65-F5344CB8AC3E}">
        <p14:creationId xmlns:p14="http://schemas.microsoft.com/office/powerpoint/2010/main" val="1817610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CDF26197-19E0-479C-4CA1-E8811C47C52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" y="3628"/>
            <a:ext cx="14400213" cy="8132310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61ECCEC4-7EDF-590E-155C-08122F14D135}"/>
              </a:ext>
            </a:extLst>
          </p:cNvPr>
          <p:cNvSpPr/>
          <p:nvPr userDrawn="1"/>
        </p:nvSpPr>
        <p:spPr>
          <a:xfrm>
            <a:off x="11135360" y="7203440"/>
            <a:ext cx="2936240" cy="7705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39531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apositiva de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19757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4"/>
            <a:ext cx="6360094" cy="5368714"/>
          </a:xfrm>
        </p:spPr>
        <p:txBody>
          <a:bodyPr/>
          <a:lstStyle>
            <a:lvl1pPr>
              <a:defRPr sz="3748"/>
            </a:lvl1pPr>
            <a:lvl2pPr>
              <a:defRPr sz="3213"/>
            </a:lvl2pPr>
            <a:lvl3pPr>
              <a:defRPr sz="2678"/>
            </a:lvl3pPr>
            <a:lvl4pPr>
              <a:defRPr sz="2410"/>
            </a:lvl4pPr>
            <a:lvl5pPr>
              <a:defRPr sz="2410"/>
            </a:lvl5pPr>
            <a:lvl6pPr>
              <a:defRPr sz="2410"/>
            </a:lvl6pPr>
            <a:lvl7pPr>
              <a:defRPr sz="2410"/>
            </a:lvl7pPr>
            <a:lvl8pPr>
              <a:defRPr sz="2410"/>
            </a:lvl8pPr>
            <a:lvl9pPr>
              <a:defRPr sz="241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9" y="1898394"/>
            <a:ext cx="6360094" cy="5368714"/>
          </a:xfrm>
        </p:spPr>
        <p:txBody>
          <a:bodyPr/>
          <a:lstStyle>
            <a:lvl1pPr>
              <a:defRPr sz="3748"/>
            </a:lvl1pPr>
            <a:lvl2pPr>
              <a:defRPr sz="3213"/>
            </a:lvl2pPr>
            <a:lvl3pPr>
              <a:defRPr sz="2678"/>
            </a:lvl3pPr>
            <a:lvl4pPr>
              <a:defRPr sz="2410"/>
            </a:lvl4pPr>
            <a:lvl5pPr>
              <a:defRPr sz="2410"/>
            </a:lvl5pPr>
            <a:lvl6pPr>
              <a:defRPr sz="2410"/>
            </a:lvl6pPr>
            <a:lvl7pPr>
              <a:defRPr sz="2410"/>
            </a:lvl7pPr>
            <a:lvl8pPr>
              <a:defRPr sz="2410"/>
            </a:lvl8pPr>
            <a:lvl9pPr>
              <a:defRPr sz="241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5631604-8B21-7E64-D890-60C8F0F2A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F7F7B70-6A16-4639-BCE2-FA8D6CA9A7A1}" type="datetimeFigureOut">
              <a:rPr lang="es-ES"/>
              <a:pPr>
                <a:defRPr/>
              </a:pPr>
              <a:t>31/07/2026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BBCBF10-701F-DC05-BB8C-687228BD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22DACD5-A2A9-35B8-B351-3CB52A88E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49742CC-B160-4A81-A688-4992F1190A2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3205370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68992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25" r:id="rId4"/>
    <p:sldLayoutId id="2147483710" r:id="rId5"/>
    <p:sldLayoutId id="2147483726" r:id="rId6"/>
  </p:sldLayoutIdLst>
  <p:txStyles>
    <p:titleStyle>
      <a:lvl1pPr algn="l" defTabSz="928001" rtl="0" eaLnBrk="1" latinLnBrk="0" hangingPunct="1">
        <a:lnSpc>
          <a:spcPct val="90000"/>
        </a:lnSpc>
        <a:spcBef>
          <a:spcPct val="0"/>
        </a:spcBef>
        <a:buNone/>
        <a:defRPr sz="4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2000" indent="-232000" algn="l" defTabSz="928001" rtl="0" eaLnBrk="1" latinLnBrk="0" hangingPunct="1">
        <a:lnSpc>
          <a:spcPct val="90000"/>
        </a:lnSpc>
        <a:spcBef>
          <a:spcPts val="1015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96000" indent="-232000" algn="l" defTabSz="928001" rtl="0" eaLnBrk="1" latinLnBrk="0" hangingPunct="1">
        <a:lnSpc>
          <a:spcPct val="90000"/>
        </a:lnSpc>
        <a:spcBef>
          <a:spcPts val="50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60001" indent="-232000" algn="l" defTabSz="928001" rtl="0" eaLnBrk="1" latinLnBrk="0" hangingPunct="1">
        <a:lnSpc>
          <a:spcPct val="90000"/>
        </a:lnSpc>
        <a:spcBef>
          <a:spcPts val="507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24000" indent="-232000" algn="l" defTabSz="928001" rtl="0" eaLnBrk="1" latinLnBrk="0" hangingPunct="1">
        <a:lnSpc>
          <a:spcPct val="90000"/>
        </a:lnSpc>
        <a:spcBef>
          <a:spcPts val="507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88001" indent="-232000" algn="l" defTabSz="928001" rtl="0" eaLnBrk="1" latinLnBrk="0" hangingPunct="1">
        <a:lnSpc>
          <a:spcPct val="90000"/>
        </a:lnSpc>
        <a:spcBef>
          <a:spcPts val="507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52001" indent="-232000" algn="l" defTabSz="928001" rtl="0" eaLnBrk="1" latinLnBrk="0" hangingPunct="1">
        <a:lnSpc>
          <a:spcPct val="90000"/>
        </a:lnSpc>
        <a:spcBef>
          <a:spcPts val="507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3016002" indent="-232000" algn="l" defTabSz="928001" rtl="0" eaLnBrk="1" latinLnBrk="0" hangingPunct="1">
        <a:lnSpc>
          <a:spcPct val="90000"/>
        </a:lnSpc>
        <a:spcBef>
          <a:spcPts val="507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80002" indent="-232000" algn="l" defTabSz="928001" rtl="0" eaLnBrk="1" latinLnBrk="0" hangingPunct="1">
        <a:lnSpc>
          <a:spcPct val="90000"/>
        </a:lnSpc>
        <a:spcBef>
          <a:spcPts val="507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944001" indent="-232000" algn="l" defTabSz="928001" rtl="0" eaLnBrk="1" latinLnBrk="0" hangingPunct="1">
        <a:lnSpc>
          <a:spcPct val="90000"/>
        </a:lnSpc>
        <a:spcBef>
          <a:spcPts val="507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x-none"/>
      </a:defPPr>
      <a:lvl1pPr marL="0" algn="l" defTabSz="9280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4000" algn="l" defTabSz="9280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28001" algn="l" defTabSz="9280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2001" algn="l" defTabSz="9280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56001" algn="l" defTabSz="9280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20001" algn="l" defTabSz="9280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84001" algn="l" defTabSz="9280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48002" algn="l" defTabSz="9280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12001" algn="l" defTabSz="9280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png"/><Relationship Id="rId7" Type="http://schemas.openxmlformats.org/officeDocument/2006/relationships/oleObject" Target="../embeddings/oleObject1.bin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emf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slide" Target="slide4.xml"/><Relationship Id="rId7" Type="http://schemas.openxmlformats.org/officeDocument/2006/relationships/image" Target="../media/image12.emf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0.png"/><Relationship Id="rId10" Type="http://schemas.openxmlformats.org/officeDocument/2006/relationships/chart" Target="../charts/chart2.xml"/><Relationship Id="rId4" Type="http://schemas.openxmlformats.org/officeDocument/2006/relationships/image" Target="../media/image14.emf"/><Relationship Id="rId9" Type="http://schemas.openxmlformats.org/officeDocument/2006/relationships/image" Target="../media/image17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5.xml"/><Relationship Id="rId3" Type="http://schemas.openxmlformats.org/officeDocument/2006/relationships/image" Target="../media/image15.png"/><Relationship Id="rId7" Type="http://schemas.openxmlformats.org/officeDocument/2006/relationships/chart" Target="../charts/chart3.xm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png"/><Relationship Id="rId5" Type="http://schemas.openxmlformats.org/officeDocument/2006/relationships/slide" Target="slide3.xml"/><Relationship Id="rId10" Type="http://schemas.openxmlformats.org/officeDocument/2006/relationships/chart" Target="../charts/chart4.xml"/><Relationship Id="rId4" Type="http://schemas.openxmlformats.org/officeDocument/2006/relationships/image" Target="../media/image12.emf"/><Relationship Id="rId9" Type="http://schemas.openxmlformats.org/officeDocument/2006/relationships/image" Target="../media/image17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hart" Target="../charts/chart6.xml"/><Relationship Id="rId3" Type="http://schemas.openxmlformats.org/officeDocument/2006/relationships/image" Target="../media/image12.emf"/><Relationship Id="rId7" Type="http://schemas.openxmlformats.org/officeDocument/2006/relationships/image" Target="../media/image15.png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5" Type="http://schemas.openxmlformats.org/officeDocument/2006/relationships/image" Target="../media/image18.png"/><Relationship Id="rId4" Type="http://schemas.openxmlformats.org/officeDocument/2006/relationships/slide" Target="slid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7" Type="http://schemas.openxmlformats.org/officeDocument/2006/relationships/image" Target="../media/image12.emf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7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2.emf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7" Type="http://schemas.openxmlformats.org/officeDocument/2006/relationships/image" Target="../media/image21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2.emf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7" Type="http://schemas.openxmlformats.org/officeDocument/2006/relationships/image" Target="../media/image21.pn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2.emf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13">
            <a:extLst>
              <a:ext uri="{FF2B5EF4-FFF2-40B4-BE49-F238E27FC236}">
                <a16:creationId xmlns:a16="http://schemas.microsoft.com/office/drawing/2014/main" id="{8762C054-DB0D-CF36-8675-F89CFF721F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86" y="5274045"/>
            <a:ext cx="6592398" cy="738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121917" tIns="60958" rIns="121917" bIns="60958">
            <a:spAutoFit/>
          </a:bodyPr>
          <a:lstStyle/>
          <a:p>
            <a:pPr algn="ctr" defTabSz="954517">
              <a:defRPr/>
            </a:pPr>
            <a:r>
              <a:rPr lang="es-MX" sz="4000" b="1" dirty="0">
                <a:solidFill>
                  <a:prstClr val="white"/>
                </a:solidFill>
                <a:latin typeface="Montserrat" panose="00000500000000000000" pitchFamily="2" charset="0"/>
                <a:ea typeface="Kanit" charset="0"/>
                <a:cs typeface="Kanit" charset="0"/>
              </a:rPr>
              <a:t>IPN COLABORADORES</a:t>
            </a:r>
          </a:p>
        </p:txBody>
      </p:sp>
      <p:pic>
        <p:nvPicPr>
          <p:cNvPr id="5" name="12 Marcador de posición de imagen" descr="ico-destinonegocio-asociacion-istock-getty-images-849x430-1.jpg">
            <a:extLst>
              <a:ext uri="{FF2B5EF4-FFF2-40B4-BE49-F238E27FC236}">
                <a16:creationId xmlns:a16="http://schemas.microsoft.com/office/drawing/2014/main" id="{529C3AED-F0F8-887A-7665-9D3ECFBD7E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107" r="17107"/>
          <a:stretch>
            <a:fillRect/>
          </a:stretch>
        </p:blipFill>
        <p:spPr>
          <a:xfrm>
            <a:off x="5801001" y="511781"/>
            <a:ext cx="7560000" cy="7139677"/>
          </a:xfrm>
          <a:custGeom>
            <a:avLst/>
            <a:gdLst>
              <a:gd name="connsiteX0" fmla="*/ 0 w 7527925"/>
              <a:gd name="connsiteY0" fmla="*/ 0 h 6858000"/>
              <a:gd name="connsiteX1" fmla="*/ 7527925 w 7527925"/>
              <a:gd name="connsiteY1" fmla="*/ 0 h 6858000"/>
              <a:gd name="connsiteX2" fmla="*/ 7527925 w 7527925"/>
              <a:gd name="connsiteY2" fmla="*/ 6858000 h 6858000"/>
              <a:gd name="connsiteX3" fmla="*/ 0 w 7527925"/>
              <a:gd name="connsiteY3" fmla="*/ 6858000 h 6858000"/>
              <a:gd name="connsiteX4" fmla="*/ 0 w 7527925"/>
              <a:gd name="connsiteY4" fmla="*/ 0 h 6858000"/>
              <a:gd name="connsiteX0" fmla="*/ 1993392 w 7527925"/>
              <a:gd name="connsiteY0" fmla="*/ 0 h 6858000"/>
              <a:gd name="connsiteX1" fmla="*/ 7527925 w 7527925"/>
              <a:gd name="connsiteY1" fmla="*/ 0 h 6858000"/>
              <a:gd name="connsiteX2" fmla="*/ 7527925 w 7527925"/>
              <a:gd name="connsiteY2" fmla="*/ 6858000 h 6858000"/>
              <a:gd name="connsiteX3" fmla="*/ 0 w 7527925"/>
              <a:gd name="connsiteY3" fmla="*/ 6858000 h 6858000"/>
              <a:gd name="connsiteX4" fmla="*/ 1993392 w 7527925"/>
              <a:gd name="connsiteY4" fmla="*/ 0 h 6858000"/>
              <a:gd name="connsiteX0" fmla="*/ 54864 w 7527925"/>
              <a:gd name="connsiteY0" fmla="*/ 0 h 6867144"/>
              <a:gd name="connsiteX1" fmla="*/ 7527925 w 7527925"/>
              <a:gd name="connsiteY1" fmla="*/ 9144 h 6867144"/>
              <a:gd name="connsiteX2" fmla="*/ 7527925 w 7527925"/>
              <a:gd name="connsiteY2" fmla="*/ 6867144 h 6867144"/>
              <a:gd name="connsiteX3" fmla="*/ 0 w 7527925"/>
              <a:gd name="connsiteY3" fmla="*/ 6867144 h 6867144"/>
              <a:gd name="connsiteX4" fmla="*/ 54864 w 7527925"/>
              <a:gd name="connsiteY4" fmla="*/ 0 h 6867144"/>
              <a:gd name="connsiteX0" fmla="*/ 0 w 7473061"/>
              <a:gd name="connsiteY0" fmla="*/ 0 h 6867144"/>
              <a:gd name="connsiteX1" fmla="*/ 7473061 w 7473061"/>
              <a:gd name="connsiteY1" fmla="*/ 9144 h 6867144"/>
              <a:gd name="connsiteX2" fmla="*/ 7473061 w 7473061"/>
              <a:gd name="connsiteY2" fmla="*/ 6867144 h 6867144"/>
              <a:gd name="connsiteX3" fmla="*/ 2084832 w 7473061"/>
              <a:gd name="connsiteY3" fmla="*/ 6867144 h 6867144"/>
              <a:gd name="connsiteX4" fmla="*/ 0 w 7473061"/>
              <a:gd name="connsiteY4" fmla="*/ 0 h 6867144"/>
              <a:gd name="connsiteX0" fmla="*/ 0 w 8920861"/>
              <a:gd name="connsiteY0" fmla="*/ 16256 h 6858000"/>
              <a:gd name="connsiteX1" fmla="*/ 8920861 w 8920861"/>
              <a:gd name="connsiteY1" fmla="*/ 0 h 6858000"/>
              <a:gd name="connsiteX2" fmla="*/ 8920861 w 8920861"/>
              <a:gd name="connsiteY2" fmla="*/ 6858000 h 6858000"/>
              <a:gd name="connsiteX3" fmla="*/ 3532632 w 8920861"/>
              <a:gd name="connsiteY3" fmla="*/ 6858000 h 6858000"/>
              <a:gd name="connsiteX4" fmla="*/ 0 w 8920861"/>
              <a:gd name="connsiteY4" fmla="*/ 16256 h 6858000"/>
              <a:gd name="connsiteX0" fmla="*/ 0 w 8196961"/>
              <a:gd name="connsiteY0" fmla="*/ 371856 h 6858000"/>
              <a:gd name="connsiteX1" fmla="*/ 8196961 w 8196961"/>
              <a:gd name="connsiteY1" fmla="*/ 0 h 6858000"/>
              <a:gd name="connsiteX2" fmla="*/ 8196961 w 8196961"/>
              <a:gd name="connsiteY2" fmla="*/ 6858000 h 6858000"/>
              <a:gd name="connsiteX3" fmla="*/ 2808732 w 8196961"/>
              <a:gd name="connsiteY3" fmla="*/ 6858000 h 6858000"/>
              <a:gd name="connsiteX4" fmla="*/ 0 w 8196961"/>
              <a:gd name="connsiteY4" fmla="*/ 371856 h 6858000"/>
              <a:gd name="connsiteX0" fmla="*/ 0 w 8920861"/>
              <a:gd name="connsiteY0" fmla="*/ 0 h 6867144"/>
              <a:gd name="connsiteX1" fmla="*/ 8920861 w 8920861"/>
              <a:gd name="connsiteY1" fmla="*/ 9144 h 6867144"/>
              <a:gd name="connsiteX2" fmla="*/ 8920861 w 8920861"/>
              <a:gd name="connsiteY2" fmla="*/ 6867144 h 6867144"/>
              <a:gd name="connsiteX3" fmla="*/ 3532632 w 8920861"/>
              <a:gd name="connsiteY3" fmla="*/ 6867144 h 6867144"/>
              <a:gd name="connsiteX4" fmla="*/ 0 w 8920861"/>
              <a:gd name="connsiteY4" fmla="*/ 0 h 6867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20861" h="6867144">
                <a:moveTo>
                  <a:pt x="0" y="0"/>
                </a:moveTo>
                <a:lnTo>
                  <a:pt x="8920861" y="9144"/>
                </a:lnTo>
                <a:lnTo>
                  <a:pt x="8920861" y="6867144"/>
                </a:lnTo>
                <a:lnTo>
                  <a:pt x="3532632" y="6867144"/>
                </a:lnTo>
                <a:lnTo>
                  <a:pt x="0" y="0"/>
                </a:ln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</p:spPr>
      </p:pic>
      <p:sp>
        <p:nvSpPr>
          <p:cNvPr id="6" name="CuadroTexto 23">
            <a:extLst>
              <a:ext uri="{FF2B5EF4-FFF2-40B4-BE49-F238E27FC236}">
                <a16:creationId xmlns:a16="http://schemas.microsoft.com/office/drawing/2014/main" id="{D8974103-5597-04D7-9A45-5FDC0F8DAE81}"/>
              </a:ext>
            </a:extLst>
          </p:cNvPr>
          <p:cNvSpPr txBox="1"/>
          <p:nvPr/>
        </p:nvSpPr>
        <p:spPr>
          <a:xfrm>
            <a:off x="1033300" y="3390863"/>
            <a:ext cx="6692771" cy="1354213"/>
          </a:xfrm>
          <a:prstGeom prst="rect">
            <a:avLst/>
          </a:prstGeom>
          <a:noFill/>
        </p:spPr>
        <p:txBody>
          <a:bodyPr wrap="square" lIns="121917" tIns="60958" rIns="121917" bIns="60958">
            <a:spAutoFit/>
          </a:bodyPr>
          <a:lstStyle/>
          <a:p>
            <a:pPr algn="ctr" defTabSz="914354">
              <a:defRPr/>
            </a:pPr>
            <a:r>
              <a:rPr lang="es-MX" sz="4000" b="1" dirty="0">
                <a:solidFill>
                  <a:prstClr val="white"/>
                </a:solidFill>
                <a:latin typeface="Montserrat" panose="00000500000000000000" pitchFamily="2" charset="0"/>
                <a:ea typeface="Kanit" charset="0"/>
                <a:cs typeface="Kanit" charset="0"/>
              </a:rPr>
              <a:t>RESULTADOS </a:t>
            </a:r>
          </a:p>
          <a:p>
            <a:pPr algn="ctr" defTabSz="914354">
              <a:defRPr/>
            </a:pPr>
            <a:r>
              <a:rPr lang="es-MX" sz="4000" b="1" dirty="0">
                <a:solidFill>
                  <a:prstClr val="white"/>
                </a:solidFill>
                <a:latin typeface="Montserrat" panose="00000500000000000000" pitchFamily="2" charset="0"/>
                <a:ea typeface="Kanit" charset="0"/>
                <a:cs typeface="Kanit" charset="0"/>
              </a:rPr>
              <a:t>1Q 2026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24C028D3-450C-4744-8FDB-2AB1C48C0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871" y="6662785"/>
            <a:ext cx="5103628" cy="738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963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a 15">
            <a:extLst>
              <a:ext uri="{FF2B5EF4-FFF2-40B4-BE49-F238E27FC236}">
                <a16:creationId xmlns:a16="http://schemas.microsoft.com/office/drawing/2014/main" id="{1E4D4F86-1BC9-A5F2-F4A5-585E48054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9417086"/>
              </p:ext>
            </p:extLst>
          </p:nvPr>
        </p:nvGraphicFramePr>
        <p:xfrm>
          <a:off x="7913956" y="1615338"/>
          <a:ext cx="5766846" cy="3546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6846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20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¿Cómo lo medimos?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446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MX" sz="16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2512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UNIVERSO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MX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Colaboradores de </a:t>
                      </a:r>
                      <a:r>
                        <a:rPr lang="es-MX" sz="1400" dirty="0" err="1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Researchland</a:t>
                      </a:r>
                      <a:endParaRPr lang="es-MX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MX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TÉCNICA DE LEVANTAMIENTO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Encuesta online en Zeus con una duración promedio de 5 minutos.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ESTRUCTURA DE LA MUESTRA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marL="285750" lvl="1" indent="-285750" defTabSz="228588">
                        <a:buFont typeface="Arial" panose="020B0604020202020204" pitchFamily="34" charset="0"/>
                        <a:buChar char="•"/>
                        <a:tabLst>
                          <a:tab pos="92069" algn="l"/>
                        </a:tabLst>
                        <a:defRPr/>
                      </a:pPr>
                      <a:r>
                        <a:rPr lang="es-ES_tradnl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77 respondieron la encuesta (100% de participación</a:t>
                      </a:r>
                      <a:r>
                        <a:rPr lang="es-ES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pic>
        <p:nvPicPr>
          <p:cNvPr id="52" name="Imagen 21">
            <a:extLst>
              <a:ext uri="{FF2B5EF4-FFF2-40B4-BE49-F238E27FC236}">
                <a16:creationId xmlns:a16="http://schemas.microsoft.com/office/drawing/2014/main" id="{DD068A0F-8670-C786-E094-90619546EB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39" y="1615338"/>
            <a:ext cx="43815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5" name="Imagen 6">
            <a:extLst>
              <a:ext uri="{FF2B5EF4-FFF2-40B4-BE49-F238E27FC236}">
                <a16:creationId xmlns:a16="http://schemas.microsoft.com/office/drawing/2014/main" id="{7DB95018-38FD-085E-F834-74F4D2BB8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4830" y="1615338"/>
            <a:ext cx="43815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6" name="Imagen 3">
            <a:extLst>
              <a:ext uri="{FF2B5EF4-FFF2-40B4-BE49-F238E27FC236}">
                <a16:creationId xmlns:a16="http://schemas.microsoft.com/office/drawing/2014/main" id="{EFDE67FA-FA3F-AD93-A68E-805FDF5B115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280" y="2966243"/>
            <a:ext cx="471487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upo 7">
            <a:extLst>
              <a:ext uri="{FF2B5EF4-FFF2-40B4-BE49-F238E27FC236}">
                <a16:creationId xmlns:a16="http://schemas.microsoft.com/office/drawing/2014/main" id="{F644754C-0E35-C5F2-B429-051FBE6F8FBE}"/>
              </a:ext>
            </a:extLst>
          </p:cNvPr>
          <p:cNvGrpSpPr/>
          <p:nvPr/>
        </p:nvGrpSpPr>
        <p:grpSpPr>
          <a:xfrm>
            <a:off x="543878" y="21121"/>
            <a:ext cx="8094662" cy="1165225"/>
            <a:chOff x="543878" y="21121"/>
            <a:chExt cx="8094662" cy="1165225"/>
          </a:xfrm>
        </p:grpSpPr>
        <p:pic>
          <p:nvPicPr>
            <p:cNvPr id="3" name="Imagen 28">
              <a:extLst>
                <a:ext uri="{FF2B5EF4-FFF2-40B4-BE49-F238E27FC236}">
                  <a16:creationId xmlns:a16="http://schemas.microsoft.com/office/drawing/2014/main" id="{49EE3871-C069-85DE-ECA8-652AE99762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" name="Título 2">
              <a:extLst>
                <a:ext uri="{FF2B5EF4-FFF2-40B4-BE49-F238E27FC236}">
                  <a16:creationId xmlns:a16="http://schemas.microsoft.com/office/drawing/2014/main" id="{BEC719DC-43F6-9D0B-D7DA-EAD4B5FC7F2B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5503863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Metodología</a:t>
              </a:r>
            </a:p>
          </p:txBody>
        </p:sp>
        <p:pic>
          <p:nvPicPr>
            <p:cNvPr id="42" name="Imagen 4">
              <a:extLst>
                <a:ext uri="{FF2B5EF4-FFF2-40B4-BE49-F238E27FC236}">
                  <a16:creationId xmlns:a16="http://schemas.microsoft.com/office/drawing/2014/main" id="{3B1419F7-B2C1-6B6F-8C1F-F030BE31E18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9946" y="206219"/>
              <a:ext cx="749300" cy="6810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9" name="Imagen 8">
            <a:extLst>
              <a:ext uri="{FF2B5EF4-FFF2-40B4-BE49-F238E27FC236}">
                <a16:creationId xmlns:a16="http://schemas.microsoft.com/office/drawing/2014/main" id="{35086666-715E-AD9F-416D-F3F7629D41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45866" y="369733"/>
            <a:ext cx="3234936" cy="468000"/>
          </a:xfrm>
          <a:prstGeom prst="rect">
            <a:avLst/>
          </a:prstGeom>
        </p:spPr>
      </p:pic>
      <p:graphicFrame>
        <p:nvGraphicFramePr>
          <p:cNvPr id="10" name="Tabla 9">
            <a:extLst>
              <a:ext uri="{FF2B5EF4-FFF2-40B4-BE49-F238E27FC236}">
                <a16:creationId xmlns:a16="http://schemas.microsoft.com/office/drawing/2014/main" id="{1AADFC55-2DF4-390A-D823-7FD27175BC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1595209"/>
              </p:ext>
            </p:extLst>
          </p:nvPr>
        </p:nvGraphicFramePr>
        <p:xfrm>
          <a:off x="713904" y="1615338"/>
          <a:ext cx="5770024" cy="192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0024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20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¿Qué Medimos?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446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6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IPN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2512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40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Pensando en tu experiencia general como colaborador de esta empresa y considerando una escala de 0 a 10, donde 0 es “definitivamente no recomendaría” y 10 es “recomendaría ampliamente”, ¿Qué tan dispuesto estarías en recomendar a la empresa / área donde laboras?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grpSp>
        <p:nvGrpSpPr>
          <p:cNvPr id="13" name="Grupo 12">
            <a:extLst>
              <a:ext uri="{FF2B5EF4-FFF2-40B4-BE49-F238E27FC236}">
                <a16:creationId xmlns:a16="http://schemas.microsoft.com/office/drawing/2014/main" id="{DAC51CC0-53D7-1ED2-5EFD-CAF63B5E3D55}"/>
              </a:ext>
            </a:extLst>
          </p:cNvPr>
          <p:cNvGrpSpPr/>
          <p:nvPr/>
        </p:nvGrpSpPr>
        <p:grpSpPr>
          <a:xfrm>
            <a:off x="790916" y="4159462"/>
            <a:ext cx="5616000" cy="993259"/>
            <a:chOff x="717434" y="3608739"/>
            <a:chExt cx="5616000" cy="993259"/>
          </a:xfrm>
        </p:grpSpPr>
        <p:sp>
          <p:nvSpPr>
            <p:cNvPr id="45" name="CuadroTexto 20">
              <a:extLst>
                <a:ext uri="{FF2B5EF4-FFF2-40B4-BE49-F238E27FC236}">
                  <a16:creationId xmlns:a16="http://schemas.microsoft.com/office/drawing/2014/main" id="{F13EED22-08F4-E946-D3A0-CE23B638A51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63656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0-6</a:t>
              </a:r>
            </a:p>
          </p:txBody>
        </p:sp>
        <p:sp>
          <p:nvSpPr>
            <p:cNvPr id="48" name="Rectángulo 6">
              <a:extLst>
                <a:ext uri="{FF2B5EF4-FFF2-40B4-BE49-F238E27FC236}">
                  <a16:creationId xmlns:a16="http://schemas.microsoft.com/office/drawing/2014/main" id="{93CE462E-5745-31A1-13A8-CA078CD76857}"/>
                </a:ext>
              </a:extLst>
            </p:cNvPr>
            <p:cNvSpPr/>
            <p:nvPr/>
          </p:nvSpPr>
          <p:spPr bwMode="auto">
            <a:xfrm>
              <a:off x="2078564" y="4398096"/>
              <a:ext cx="2893741" cy="203902"/>
            </a:xfrm>
            <a:prstGeom prst="rect">
              <a:avLst/>
            </a:prstGeom>
          </p:spPr>
          <p:txBody>
            <a:bodyPr wrap="none" lIns="34290" tIns="17145" rIns="34290" bIns="17145">
              <a:spAutoFit/>
            </a:bodyPr>
            <a:lstStyle/>
            <a:p>
              <a:pPr algn="ctr" defTabSz="457177">
                <a:defRPr/>
              </a:pPr>
              <a:r>
                <a:rPr lang="es-ES_tradnl" sz="1100" b="1" kern="0" dirty="0">
                  <a:solidFill>
                    <a:prstClr val="black"/>
                  </a:solidFill>
                  <a:latin typeface="Montserrat" panose="00000500000000000000" pitchFamily="2" charset="0"/>
                  <a:cs typeface="Kanit" pitchFamily="2" charset="-34"/>
                </a:rPr>
                <a:t> %IPN =  %Promotores – %Detractores </a:t>
              </a:r>
            </a:p>
          </p:txBody>
        </p:sp>
        <p:graphicFrame>
          <p:nvGraphicFramePr>
            <p:cNvPr id="49" name="Object 16">
              <a:extLst>
                <a:ext uri="{FF2B5EF4-FFF2-40B4-BE49-F238E27FC236}">
                  <a16:creationId xmlns:a16="http://schemas.microsoft.com/office/drawing/2014/main" id="{E3AA6CBA-8051-960A-024F-BA6A531C71B0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754341497"/>
                </p:ext>
              </p:extLst>
            </p:nvPr>
          </p:nvGraphicFramePr>
          <p:xfrm>
            <a:off x="717434" y="3904463"/>
            <a:ext cx="5616000" cy="69753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r:id="rId7" imgW="4194412" imgH="701101" progId="">
                    <p:embed/>
                  </p:oleObj>
                </mc:Choice>
                <mc:Fallback>
                  <p:oleObj r:id="rId7" imgW="4194412" imgH="701101" progId="">
                    <p:embed/>
                    <p:pic>
                      <p:nvPicPr>
                        <p:cNvPr id="49" name="Object 16">
                          <a:extLst>
                            <a:ext uri="{FF2B5EF4-FFF2-40B4-BE49-F238E27FC236}">
                              <a16:creationId xmlns:a16="http://schemas.microsoft.com/office/drawing/2014/main" id="{E3AA6CBA-8051-960A-024F-BA6A531C71B0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17434" y="3904463"/>
                          <a:ext cx="5616000" cy="69753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" name="CuadroTexto 20">
              <a:extLst>
                <a:ext uri="{FF2B5EF4-FFF2-40B4-BE49-F238E27FC236}">
                  <a16:creationId xmlns:a16="http://schemas.microsoft.com/office/drawing/2014/main" id="{8DD71170-45C1-4DE9-7BB3-9A75EE252A4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74404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7-8</a:t>
              </a:r>
            </a:p>
          </p:txBody>
        </p:sp>
        <p:sp>
          <p:nvSpPr>
            <p:cNvPr id="12" name="CuadroTexto 20">
              <a:extLst>
                <a:ext uri="{FF2B5EF4-FFF2-40B4-BE49-F238E27FC236}">
                  <a16:creationId xmlns:a16="http://schemas.microsoft.com/office/drawing/2014/main" id="{A15C475E-7652-C00A-8BC5-6725D344EE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61141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9-10</a:t>
              </a:r>
            </a:p>
          </p:txBody>
        </p:sp>
      </p:grpSp>
      <p:graphicFrame>
        <p:nvGraphicFramePr>
          <p:cNvPr id="14" name="Tabla 13">
            <a:extLst>
              <a:ext uri="{FF2B5EF4-FFF2-40B4-BE49-F238E27FC236}">
                <a16:creationId xmlns:a16="http://schemas.microsoft.com/office/drawing/2014/main" id="{5077240C-EF1F-C684-CF53-15064651EF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0501813"/>
              </p:ext>
            </p:extLst>
          </p:nvPr>
        </p:nvGraphicFramePr>
        <p:xfrm>
          <a:off x="713128" y="5758331"/>
          <a:ext cx="5770800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0800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Levantamiento: Del 6 al 19 de Abril</a:t>
                      </a:r>
                      <a:b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</a:br>
                      <a:b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</a:br>
                      <a: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Para el análisis de los resultados se consideró la estructura de Talento GS semana 14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sp>
        <p:nvSpPr>
          <p:cNvPr id="15" name="CuadroTexto 28">
            <a:extLst>
              <a:ext uri="{FF2B5EF4-FFF2-40B4-BE49-F238E27FC236}">
                <a16:creationId xmlns:a16="http://schemas.microsoft.com/office/drawing/2014/main" id="{912BD8F4-BAF7-3FAE-537E-443C46BA13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7640359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9" name="Tabla_IPN_UPAX">
            <a:extLst>
              <a:ext uri="{FF2B5EF4-FFF2-40B4-BE49-F238E27FC236}">
                <a16:creationId xmlns:a16="http://schemas.microsoft.com/office/drawing/2014/main" id="{CA21BAF5-2462-107F-F42B-E372AF99F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49038"/>
              </p:ext>
            </p:extLst>
          </p:nvPr>
        </p:nvGraphicFramePr>
        <p:xfrm>
          <a:off x="1545047" y="363993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33.3%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33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6849345"/>
                  </a:ext>
                </a:extLst>
              </a:tr>
            </a:tbl>
          </a:graphicData>
        </a:graphic>
      </p:graphicFrame>
      <p:graphicFrame>
        <p:nvGraphicFramePr>
          <p:cNvPr id="7" name="Tabla_DIF_UPAX">
            <a:extLst>
              <a:ext uri="{FF2B5EF4-FFF2-40B4-BE49-F238E27FC236}">
                <a16:creationId xmlns:a16="http://schemas.microsoft.com/office/drawing/2014/main" id="{2AE13E4E-F2DA-6640-872C-A4347C08E4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6423885"/>
              </p:ext>
            </p:extLst>
          </p:nvPr>
        </p:nvGraphicFramePr>
        <p:xfrm>
          <a:off x="11665072" y="1361440"/>
          <a:ext cx="2690183" cy="5800368"/>
        </p:xfrm>
        <a:graphic>
          <a:graphicData uri="http://schemas.openxmlformats.org/drawingml/2006/table">
            <a:tbl>
              <a:tblPr/>
              <a:tblGrid>
                <a:gridCol w="783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5531">
                  <a:extLst>
                    <a:ext uri="{9D8B030D-6E8A-4147-A177-3AD203B41FA5}">
                      <a16:colId xmlns:a16="http://schemas.microsoft.com/office/drawing/2014/main" val="182502293"/>
                    </a:ext>
                  </a:extLst>
                </a:gridCol>
                <a:gridCol w="635531">
                  <a:extLst>
                    <a:ext uri="{9D8B030D-6E8A-4147-A177-3AD203B41FA5}">
                      <a16:colId xmlns:a16="http://schemas.microsoft.com/office/drawing/2014/main" val="1512344663"/>
                    </a:ext>
                  </a:extLst>
                </a:gridCol>
                <a:gridCol w="635531">
                  <a:extLst>
                    <a:ext uri="{9D8B030D-6E8A-4147-A177-3AD203B41FA5}">
                      <a16:colId xmlns:a16="http://schemas.microsoft.com/office/drawing/2014/main" val="2701683073"/>
                    </a:ext>
                  </a:extLst>
                </a:gridCol>
              </a:tblGrid>
              <a:tr h="529648"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# </a:t>
                      </a:r>
                      <a:b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</a:br>
                      <a:r>
                        <a:rPr lang="es-MX" sz="800" b="0" i="0" u="none" strike="noStrike" dirty="0">
                          <a:effectLst/>
                          <a:latin typeface="Montserrat" panose="00000500000000000000" pitchFamily="2" charset="0"/>
                        </a:rPr>
                        <a:t>Colaboradores</a:t>
                      </a:r>
                      <a:endParaRPr lang="es-MX" sz="9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8058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9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IPN</a:t>
                      </a:r>
                      <a:br>
                        <a:rPr lang="es-ES_tradnl" sz="9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s-ES_tradnl" sz="9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1Q 2026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8058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9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IPN</a:t>
                      </a:r>
                      <a:br>
                        <a:rPr lang="es-ES_tradnl" sz="9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s-ES_tradnl" sz="9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4Q 2025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Dif vs Ant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4797123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1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 pp</a:t>
                      </a:r>
                      <a:endParaRPr lang="es-MX" sz="1000" b="0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8706612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1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 pp</a:t>
                      </a:r>
                      <a:endParaRPr lang="es-MX" sz="1000" b="0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1005050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1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 pp</a:t>
                      </a:r>
                      <a:endParaRPr lang="es-MX" sz="1000" b="0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8682310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1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 pp</a:t>
                      </a:r>
                      <a:endParaRPr lang="es-MX" sz="1000" b="0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1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 pp</a:t>
                      </a:r>
                      <a:endParaRPr lang="es-MX" sz="1000" b="0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9593863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1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 pp</a:t>
                      </a:r>
                      <a:endParaRPr lang="es-MX" sz="1000" b="0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1490613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1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 pp</a:t>
                      </a:r>
                      <a:endParaRPr lang="es-MX" sz="1000" b="0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9167995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1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 pp</a:t>
                      </a:r>
                      <a:endParaRPr lang="es-MX" sz="1000" b="0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1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 pp</a:t>
                      </a:r>
                      <a:endParaRPr lang="es-MX" sz="1000" b="0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1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9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8058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 pp</a:t>
                      </a:r>
                      <a:endParaRPr kumimoji="0" lang="es-MX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1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 pp</a:t>
                      </a:r>
                      <a:endParaRPr lang="es-MX" sz="1000" b="0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1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 pp</a:t>
                      </a:r>
                      <a:endParaRPr lang="es-MX" sz="1000" b="0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900" b="1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9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8058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 pp</a:t>
                      </a:r>
                      <a:endParaRPr kumimoji="0" lang="es-MX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4802289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900" b="1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9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8058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 pp</a:t>
                      </a:r>
                      <a:endParaRPr kumimoji="0" lang="es-MX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0311921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es-MX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900" b="1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es-MX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9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8058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 </a:t>
                      </a:r>
                      <a:r>
                        <a:rPr kumimoji="0" lang="es-MX" sz="10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pp</a:t>
                      </a:r>
                      <a:endParaRPr kumimoji="0" lang="es-MX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9721041"/>
                  </a:ext>
                </a:extLst>
              </a:tr>
            </a:tbl>
          </a:graphicData>
        </a:graphic>
      </p:graphicFrame>
      <p:graphicFrame>
        <p:nvGraphicFramePr>
          <p:cNvPr id="6" name="Grafico_bar_UPAX">
            <a:extLst>
              <a:ext uri="{FF2B5EF4-FFF2-40B4-BE49-F238E27FC236}">
                <a16:creationId xmlns:a16="http://schemas.microsoft.com/office/drawing/2014/main" id="{195CAC42-85CE-A86B-AF88-8D67814A121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48926965"/>
              </p:ext>
            </p:extLst>
          </p:nvPr>
        </p:nvGraphicFramePr>
        <p:xfrm>
          <a:off x="5034929" y="1910080"/>
          <a:ext cx="6609818" cy="52517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6" name="Tabla_ANTERIO_UPAX">
            <a:extLst>
              <a:ext uri="{FF2B5EF4-FFF2-40B4-BE49-F238E27FC236}">
                <a16:creationId xmlns:a16="http://schemas.microsoft.com/office/drawing/2014/main" id="{F50E6EAF-2D3F-3A45-AC46-46A84E557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9494762"/>
              </p:ext>
            </p:extLst>
          </p:nvPr>
        </p:nvGraphicFramePr>
        <p:xfrm>
          <a:off x="661736" y="6831349"/>
          <a:ext cx="3746623" cy="384764"/>
        </p:xfrm>
        <a:graphic>
          <a:graphicData uri="http://schemas.openxmlformats.org/drawingml/2006/table">
            <a:tbl>
              <a:tblPr/>
              <a:tblGrid>
                <a:gridCol w="2609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1429">
                <a:tc>
                  <a:txBody>
                    <a:bodyPr/>
                    <a:lstStyle/>
                    <a:p>
                      <a:pPr algn="l" fontAlgn="b"/>
                      <a:r>
                        <a:rPr kumimoji="0" lang="es-MX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PARTICIPACI</a:t>
                      </a:r>
                      <a:r>
                        <a:rPr kumimoji="0" lang="es-E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ÓN ANTERIOR</a:t>
                      </a:r>
                      <a:endParaRPr kumimoji="0" lang="es-MX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7F7F7F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622" marR="7622" marT="7620" marB="0" anchor="ctr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20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33.3%</a:t>
                      </a:r>
                    </a:p>
                  </a:txBody>
                  <a:tcPr marL="7622" marR="7622" marT="7620" marB="0" anchor="ctr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335">
                <a:tc>
                  <a:txBody>
                    <a:bodyPr/>
                    <a:lstStyle/>
                    <a:p>
                      <a:pPr algn="l" fontAlgn="b"/>
                      <a:r>
                        <a:rPr kumimoji="0" lang="es-MX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 ANTERIOR</a:t>
                      </a:r>
                    </a:p>
                  </a:txBody>
                  <a:tcPr marL="7622" marR="7622" marT="7620" marB="0" anchor="ctr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20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333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Agrupar 49">
            <a:extLst>
              <a:ext uri="{FF2B5EF4-FFF2-40B4-BE49-F238E27FC236}">
                <a16:creationId xmlns:a16="http://schemas.microsoft.com/office/drawing/2014/main" id="{C6BA2F39-2917-6E4D-29CB-0E66271E7F42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293172"/>
            <a:ext cx="3738563" cy="147637"/>
            <a:chOff x="2553895" y="6539475"/>
            <a:chExt cx="2803936" cy="161793"/>
          </a:xfrm>
        </p:grpSpPr>
        <p:sp>
          <p:nvSpPr>
            <p:cNvPr id="11" name="CuadroTexto 33">
              <a:extLst>
                <a:ext uri="{FF2B5EF4-FFF2-40B4-BE49-F238E27FC236}">
                  <a16:creationId xmlns:a16="http://schemas.microsoft.com/office/drawing/2014/main" id="{733719C4-11AB-E968-46C5-9140AAECDBD4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12" name="CuadroTexto 34">
              <a:extLst>
                <a:ext uri="{FF2B5EF4-FFF2-40B4-BE49-F238E27FC236}">
                  <a16:creationId xmlns:a16="http://schemas.microsoft.com/office/drawing/2014/main" id="{623C705D-6596-501F-3DD4-BEF0C2C67E2D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13" name="CuadroTexto 35">
              <a:extLst>
                <a:ext uri="{FF2B5EF4-FFF2-40B4-BE49-F238E27FC236}">
                  <a16:creationId xmlns:a16="http://schemas.microsoft.com/office/drawing/2014/main" id="{2F13F173-0BA2-ED77-164D-E6719D60F3CE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14" name="83 Rectángulo">
              <a:extLst>
                <a:ext uri="{FF2B5EF4-FFF2-40B4-BE49-F238E27FC236}">
                  <a16:creationId xmlns:a16="http://schemas.microsoft.com/office/drawing/2014/main" id="{65F2826A-DE21-A235-FBB1-42DE2CDFE0F0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15" name="84 Rectángulo">
              <a:extLst>
                <a:ext uri="{FF2B5EF4-FFF2-40B4-BE49-F238E27FC236}">
                  <a16:creationId xmlns:a16="http://schemas.microsoft.com/office/drawing/2014/main" id="{1A1971E5-932F-FB0C-26C6-8A5925266CDA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16" name="17 Rectángulo">
              <a:extLst>
                <a:ext uri="{FF2B5EF4-FFF2-40B4-BE49-F238E27FC236}">
                  <a16:creationId xmlns:a16="http://schemas.microsoft.com/office/drawing/2014/main" id="{F61D9550-0762-31A8-F321-4156CAAA65A8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22" name="Conector angular 25">
            <a:extLst>
              <a:ext uri="{FF2B5EF4-FFF2-40B4-BE49-F238E27FC236}">
                <a16:creationId xmlns:a16="http://schemas.microsoft.com/office/drawing/2014/main" id="{947105F6-39C6-0163-DC07-9D67B2075579}"/>
              </a:ext>
            </a:extLst>
          </p:cNvPr>
          <p:cNvCxnSpPr>
            <a:cxnSpLocks/>
            <a:stCxn id="39" idx="3"/>
            <a:endCxn id="35" idx="2"/>
          </p:cNvCxnSpPr>
          <p:nvPr/>
        </p:nvCxnSpPr>
        <p:spPr bwMode="auto">
          <a:xfrm flipV="1">
            <a:off x="3525047" y="310301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3" name="Conector angular 25">
            <a:extLst>
              <a:ext uri="{FF2B5EF4-FFF2-40B4-BE49-F238E27FC236}">
                <a16:creationId xmlns:a16="http://schemas.microsoft.com/office/drawing/2014/main" id="{21CCED4A-C32C-CA86-4ACA-8FB5D0E7631B}"/>
              </a:ext>
            </a:extLst>
          </p:cNvPr>
          <p:cNvCxnSpPr>
            <a:cxnSpLocks/>
            <a:stCxn id="39" idx="1"/>
            <a:endCxn id="32" idx="0"/>
          </p:cNvCxnSpPr>
          <p:nvPr/>
        </p:nvCxnSpPr>
        <p:spPr bwMode="auto">
          <a:xfrm rot="10800000" flipV="1">
            <a:off x="725089" y="420698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4" name="Conector angular 25">
            <a:extLst>
              <a:ext uri="{FF2B5EF4-FFF2-40B4-BE49-F238E27FC236}">
                <a16:creationId xmlns:a16="http://schemas.microsoft.com/office/drawing/2014/main" id="{4E604A81-4E7F-E19E-9C2B-5F0D927369CA}"/>
              </a:ext>
            </a:extLst>
          </p:cNvPr>
          <p:cNvCxnSpPr>
            <a:cxnSpLocks/>
            <a:stCxn id="28" idx="2"/>
          </p:cNvCxnSpPr>
          <p:nvPr/>
        </p:nvCxnSpPr>
        <p:spPr bwMode="auto">
          <a:xfrm rot="16200000" flipH="1">
            <a:off x="993684" y="284338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pic>
        <p:nvPicPr>
          <p:cNvPr id="27" name="Imagen 32">
            <a:hlinkClick r:id="rId3" action="ppaction://hlinksldjump"/>
            <a:extLst>
              <a:ext uri="{FF2B5EF4-FFF2-40B4-BE49-F238E27FC236}">
                <a16:creationId xmlns:a16="http://schemas.microsoft.com/office/drawing/2014/main" id="{B5980974-18D9-75FE-10DB-89A5165CCA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6" y="1189514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" name="25 CuadroTexto">
            <a:extLst>
              <a:ext uri="{FF2B5EF4-FFF2-40B4-BE49-F238E27FC236}">
                <a16:creationId xmlns:a16="http://schemas.microsoft.com/office/drawing/2014/main" id="{D6D27353-9722-D2E0-E11E-0DBDC22BA12F}"/>
              </a:ext>
            </a:extLst>
          </p:cNvPr>
          <p:cNvSpPr txBox="1"/>
          <p:nvPr/>
        </p:nvSpPr>
        <p:spPr>
          <a:xfrm>
            <a:off x="10081785" y="7296429"/>
            <a:ext cx="315623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s-MX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Kanit" pitchFamily="2" charset="-34"/>
              </a:rPr>
              <a:t>*Sin muestra suficiente para calcular IPN</a:t>
            </a:r>
          </a:p>
        </p:txBody>
      </p:sp>
      <p:grpSp>
        <p:nvGrpSpPr>
          <p:cNvPr id="48" name="Grupo 47">
            <a:extLst>
              <a:ext uri="{FF2B5EF4-FFF2-40B4-BE49-F238E27FC236}">
                <a16:creationId xmlns:a16="http://schemas.microsoft.com/office/drawing/2014/main" id="{0C035C10-955D-156A-A11D-792DA8A7F5A9}"/>
              </a:ext>
            </a:extLst>
          </p:cNvPr>
          <p:cNvGrpSpPr/>
          <p:nvPr/>
        </p:nvGrpSpPr>
        <p:grpSpPr>
          <a:xfrm>
            <a:off x="543878" y="21121"/>
            <a:ext cx="8094662" cy="1165225"/>
            <a:chOff x="543878" y="21121"/>
            <a:chExt cx="8094662" cy="1165225"/>
          </a:xfrm>
        </p:grpSpPr>
        <p:pic>
          <p:nvPicPr>
            <p:cNvPr id="36" name="Imagen 28">
              <a:extLst>
                <a:ext uri="{FF2B5EF4-FFF2-40B4-BE49-F238E27FC236}">
                  <a16:creationId xmlns:a16="http://schemas.microsoft.com/office/drawing/2014/main" id="{7E87D7C4-0355-69DB-6A16-231CCA92F8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9" name="Título 2">
              <a:extLst>
                <a:ext uri="{FF2B5EF4-FFF2-40B4-BE49-F238E27FC236}">
                  <a16:creationId xmlns:a16="http://schemas.microsoft.com/office/drawing/2014/main" id="{DB33A613-9492-F6DD-5F59-ACE8E0763B16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5503863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UPAX 1Q 2026</a:t>
              </a:r>
            </a:p>
          </p:txBody>
        </p:sp>
        <p:pic>
          <p:nvPicPr>
            <p:cNvPr id="30" name="Imagen 3">
              <a:extLst>
                <a:ext uri="{FF2B5EF4-FFF2-40B4-BE49-F238E27FC236}">
                  <a16:creationId xmlns:a16="http://schemas.microsoft.com/office/drawing/2014/main" id="{CC0EA8B2-C47D-4EED-9E8D-D99285BE543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933" y="248132"/>
              <a:ext cx="700087" cy="612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33" name="Imagen 32">
            <a:extLst>
              <a:ext uri="{FF2B5EF4-FFF2-40B4-BE49-F238E27FC236}">
                <a16:creationId xmlns:a16="http://schemas.microsoft.com/office/drawing/2014/main" id="{4D4D9260-12F2-3032-BCAD-FF21220DD8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45866" y="369733"/>
            <a:ext cx="3234936" cy="468000"/>
          </a:xfrm>
          <a:prstGeom prst="rect">
            <a:avLst/>
          </a:prstGeom>
        </p:spPr>
      </p:pic>
      <p:pic>
        <p:nvPicPr>
          <p:cNvPr id="2" name="Gráfico 1">
            <a:extLst>
              <a:ext uri="{FF2B5EF4-FFF2-40B4-BE49-F238E27FC236}">
                <a16:creationId xmlns:a16="http://schemas.microsoft.com/office/drawing/2014/main" id="{C09DFF6E-70F6-1147-DF45-95AE383047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990419" y="1199867"/>
            <a:ext cx="1780312" cy="565915"/>
          </a:xfrm>
          <a:prstGeom prst="rect">
            <a:avLst/>
          </a:prstGeom>
        </p:spPr>
      </p:pic>
      <p:pic>
        <p:nvPicPr>
          <p:cNvPr id="4" name="Picture 4" descr="eenfoque fiscal – Reforma Fiscal">
            <a:hlinkClick r:id="rId3" action="ppaction://hlinksldjump"/>
            <a:extLst>
              <a:ext uri="{FF2B5EF4-FFF2-40B4-BE49-F238E27FC236}">
                <a16:creationId xmlns:a16="http://schemas.microsoft.com/office/drawing/2014/main" id="{3819A076-5D97-5FED-B7A1-4D56C9362F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2129" y="3225779"/>
            <a:ext cx="334721" cy="3347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28" name="Tabla_DET_UPAX">
            <a:extLst>
              <a:ext uri="{FF2B5EF4-FFF2-40B4-BE49-F238E27FC236}">
                <a16:creationId xmlns:a16="http://schemas.microsoft.com/office/drawing/2014/main" id="{0E7856D2-E11C-4A35-826E-D5DD86F372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6002741"/>
              </p:ext>
            </p:extLst>
          </p:nvPr>
        </p:nvGraphicFramePr>
        <p:xfrm>
          <a:off x="77089" y="243380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33.3%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(33)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2" name="Tabla_PAS_UPAX">
            <a:extLst>
              <a:ext uri="{FF2B5EF4-FFF2-40B4-BE49-F238E27FC236}">
                <a16:creationId xmlns:a16="http://schemas.microsoft.com/office/drawing/2014/main" id="{DCFEE42F-CC95-72EB-414F-ADB4648CDC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225667"/>
              </p:ext>
            </p:extLst>
          </p:nvPr>
        </p:nvGraphicFramePr>
        <p:xfrm>
          <a:off x="77089" y="531428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33.3%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(3)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5" name="Tabla_PRO_UPAX">
            <a:extLst>
              <a:ext uri="{FF2B5EF4-FFF2-40B4-BE49-F238E27FC236}">
                <a16:creationId xmlns:a16="http://schemas.microsoft.com/office/drawing/2014/main" id="{6DCBFCFE-B547-7970-7503-AF925CEFA2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5688934"/>
              </p:ext>
            </p:extLst>
          </p:nvPr>
        </p:nvGraphicFramePr>
        <p:xfrm>
          <a:off x="3659024" y="242483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33.3%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(33)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sp>
        <p:nvSpPr>
          <p:cNvPr id="49" name="CuadroTexto 28">
            <a:extLst>
              <a:ext uri="{FF2B5EF4-FFF2-40B4-BE49-F238E27FC236}">
                <a16:creationId xmlns:a16="http://schemas.microsoft.com/office/drawing/2014/main" id="{67FB6FF4-4211-74FA-37A6-EDE458DEAD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2801" y="7889717"/>
            <a:ext cx="314449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10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0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0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graphicFrame>
        <p:nvGraphicFramePr>
          <p:cNvPr id="25" name="Grafico _don_UPAX">
            <a:extLst>
              <a:ext uri="{FF2B5EF4-FFF2-40B4-BE49-F238E27FC236}">
                <a16:creationId xmlns:a16="http://schemas.microsoft.com/office/drawing/2014/main" id="{D52ACE91-17E6-5427-EB57-C1232C3D7CF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2539223"/>
              </p:ext>
            </p:extLst>
          </p:nvPr>
        </p:nvGraphicFramePr>
        <p:xfrm>
          <a:off x="375047" y="276698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</p:spTree>
    <p:extLst>
      <p:ext uri="{BB962C8B-B14F-4D97-AF65-F5344CB8AC3E}">
        <p14:creationId xmlns:p14="http://schemas.microsoft.com/office/powerpoint/2010/main" val="4630751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0" name="Tabla_IPN_RL">
            <a:extLst>
              <a:ext uri="{FF2B5EF4-FFF2-40B4-BE49-F238E27FC236}">
                <a16:creationId xmlns:a16="http://schemas.microsoft.com/office/drawing/2014/main" id="{2332B663-A374-E714-A89E-C9CC15A127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1546819"/>
              </p:ext>
            </p:extLst>
          </p:nvPr>
        </p:nvGraphicFramePr>
        <p:xfrm>
          <a:off x="1545047" y="363993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44.2%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6970604"/>
                  </a:ext>
                </a:extLst>
              </a:tr>
            </a:tbl>
          </a:graphicData>
        </a:graphic>
      </p:graphicFrame>
      <p:sp>
        <p:nvSpPr>
          <p:cNvPr id="64" name="CuadroTexto 28">
            <a:extLst>
              <a:ext uri="{FF2B5EF4-FFF2-40B4-BE49-F238E27FC236}">
                <a16:creationId xmlns:a16="http://schemas.microsoft.com/office/drawing/2014/main" id="{5B1F612E-42F7-0A72-97A4-CC5331BE40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2801" y="7889717"/>
            <a:ext cx="314449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10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0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0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sp>
        <p:nvSpPr>
          <p:cNvPr id="62" name="25 CuadroTexto">
            <a:extLst>
              <a:ext uri="{FF2B5EF4-FFF2-40B4-BE49-F238E27FC236}">
                <a16:creationId xmlns:a16="http://schemas.microsoft.com/office/drawing/2014/main" id="{E58232FE-7F22-B8C4-580B-68BFCAFDC2C8}"/>
              </a:ext>
            </a:extLst>
          </p:cNvPr>
          <p:cNvSpPr txBox="1"/>
          <p:nvPr/>
        </p:nvSpPr>
        <p:spPr>
          <a:xfrm>
            <a:off x="10081785" y="7163887"/>
            <a:ext cx="315623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s-MX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Kanit" pitchFamily="2" charset="-34"/>
              </a:rPr>
              <a:t>*Sin muestra suficiente para calcular IPN</a:t>
            </a:r>
          </a:p>
        </p:txBody>
      </p:sp>
      <p:grpSp>
        <p:nvGrpSpPr>
          <p:cNvPr id="46" name="Agrupar 49">
            <a:extLst>
              <a:ext uri="{FF2B5EF4-FFF2-40B4-BE49-F238E27FC236}">
                <a16:creationId xmlns:a16="http://schemas.microsoft.com/office/drawing/2014/main" id="{9E26E00D-AA33-ADE6-9C7A-FD09B6454434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293172"/>
            <a:ext cx="3738563" cy="147637"/>
            <a:chOff x="2553895" y="6539475"/>
            <a:chExt cx="2803936" cy="161793"/>
          </a:xfrm>
        </p:grpSpPr>
        <p:sp>
          <p:nvSpPr>
            <p:cNvPr id="47" name="CuadroTexto 33">
              <a:extLst>
                <a:ext uri="{FF2B5EF4-FFF2-40B4-BE49-F238E27FC236}">
                  <a16:creationId xmlns:a16="http://schemas.microsoft.com/office/drawing/2014/main" id="{C8563105-A71E-74BD-7F0C-7A918A752F02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48" name="CuadroTexto 34">
              <a:extLst>
                <a:ext uri="{FF2B5EF4-FFF2-40B4-BE49-F238E27FC236}">
                  <a16:creationId xmlns:a16="http://schemas.microsoft.com/office/drawing/2014/main" id="{F005D02C-5100-BC42-254F-6D8751B1D2BB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49" name="CuadroTexto 35">
              <a:extLst>
                <a:ext uri="{FF2B5EF4-FFF2-40B4-BE49-F238E27FC236}">
                  <a16:creationId xmlns:a16="http://schemas.microsoft.com/office/drawing/2014/main" id="{2EDAD54F-2D00-1AEB-F0C5-C4FB2F619DF4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50" name="83 Rectángulo">
              <a:extLst>
                <a:ext uri="{FF2B5EF4-FFF2-40B4-BE49-F238E27FC236}">
                  <a16:creationId xmlns:a16="http://schemas.microsoft.com/office/drawing/2014/main" id="{651512EE-C57C-0A8E-79EC-5816E136C15E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51" name="84 Rectángulo">
              <a:extLst>
                <a:ext uri="{FF2B5EF4-FFF2-40B4-BE49-F238E27FC236}">
                  <a16:creationId xmlns:a16="http://schemas.microsoft.com/office/drawing/2014/main" id="{08EBBC87-44FE-C12C-0C07-B0F129F187BA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52" name="17 Rectángulo">
              <a:extLst>
                <a:ext uri="{FF2B5EF4-FFF2-40B4-BE49-F238E27FC236}">
                  <a16:creationId xmlns:a16="http://schemas.microsoft.com/office/drawing/2014/main" id="{147C9A28-050F-9653-18AF-B2F615F90B9D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grpSp>
        <p:nvGrpSpPr>
          <p:cNvPr id="7" name="Grupo 6">
            <a:extLst>
              <a:ext uri="{FF2B5EF4-FFF2-40B4-BE49-F238E27FC236}">
                <a16:creationId xmlns:a16="http://schemas.microsoft.com/office/drawing/2014/main" id="{3A7D890D-484C-A385-3970-1F3F826658D2}"/>
              </a:ext>
            </a:extLst>
          </p:cNvPr>
          <p:cNvGrpSpPr/>
          <p:nvPr/>
        </p:nvGrpSpPr>
        <p:grpSpPr>
          <a:xfrm>
            <a:off x="543878" y="21121"/>
            <a:ext cx="8094662" cy="1165225"/>
            <a:chOff x="543878" y="21121"/>
            <a:chExt cx="8094662" cy="1165225"/>
          </a:xfrm>
        </p:grpSpPr>
        <p:pic>
          <p:nvPicPr>
            <p:cNvPr id="8" name="Imagen 28">
              <a:extLst>
                <a:ext uri="{FF2B5EF4-FFF2-40B4-BE49-F238E27FC236}">
                  <a16:creationId xmlns:a16="http://schemas.microsoft.com/office/drawing/2014/main" id="{09470544-90F1-9D88-8316-118799ED65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" name="Título 2">
              <a:extLst>
                <a:ext uri="{FF2B5EF4-FFF2-40B4-BE49-F238E27FC236}">
                  <a16:creationId xmlns:a16="http://schemas.microsoft.com/office/drawing/2014/main" id="{C1832FE5-A724-90CE-47A2-7E474C413170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5503863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RESEARCHLAND 1Q 2026</a:t>
              </a:r>
            </a:p>
          </p:txBody>
        </p:sp>
        <p:pic>
          <p:nvPicPr>
            <p:cNvPr id="37" name="Imagen 3">
              <a:extLst>
                <a:ext uri="{FF2B5EF4-FFF2-40B4-BE49-F238E27FC236}">
                  <a16:creationId xmlns:a16="http://schemas.microsoft.com/office/drawing/2014/main" id="{A235BA66-363F-B73E-4376-BC5A0520FB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933" y="248132"/>
              <a:ext cx="700087" cy="612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25" name="Imagen 24">
            <a:extLst>
              <a:ext uri="{FF2B5EF4-FFF2-40B4-BE49-F238E27FC236}">
                <a16:creationId xmlns:a16="http://schemas.microsoft.com/office/drawing/2014/main" id="{759B56F1-63AD-F987-3CFD-3CD4CA6662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3462" y="1298750"/>
            <a:ext cx="2544734" cy="368148"/>
          </a:xfrm>
          <a:prstGeom prst="rect">
            <a:avLst/>
          </a:prstGeom>
        </p:spPr>
      </p:pic>
      <p:pic>
        <p:nvPicPr>
          <p:cNvPr id="27" name="Imagen 26" descr="Icono&#10;&#10;Descripción generada automáticamente">
            <a:hlinkClick r:id="rId5" action="ppaction://hlinksldjump"/>
            <a:extLst>
              <a:ext uri="{FF2B5EF4-FFF2-40B4-BE49-F238E27FC236}">
                <a16:creationId xmlns:a16="http://schemas.microsoft.com/office/drawing/2014/main" id="{F7610F53-5AE1-906C-105D-9FB627F495C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76" t="35392" r="34713" b="32709"/>
          <a:stretch/>
        </p:blipFill>
        <p:spPr>
          <a:xfrm>
            <a:off x="443646" y="1219860"/>
            <a:ext cx="506341" cy="525928"/>
          </a:xfrm>
          <a:prstGeom prst="flowChartConnector">
            <a:avLst/>
          </a:prstGeom>
        </p:spPr>
      </p:pic>
      <p:pic>
        <p:nvPicPr>
          <p:cNvPr id="38" name="Imagen 37">
            <a:extLst>
              <a:ext uri="{FF2B5EF4-FFF2-40B4-BE49-F238E27FC236}">
                <a16:creationId xmlns:a16="http://schemas.microsoft.com/office/drawing/2014/main" id="{8B43D1BF-B670-2E91-A2B0-FAA81EFEA4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5866" y="369733"/>
            <a:ext cx="3234936" cy="468000"/>
          </a:xfrm>
          <a:prstGeom prst="rect">
            <a:avLst/>
          </a:prstGeom>
        </p:spPr>
      </p:pic>
      <p:cxnSp>
        <p:nvCxnSpPr>
          <p:cNvPr id="53" name="Conector angular 25">
            <a:extLst>
              <a:ext uri="{FF2B5EF4-FFF2-40B4-BE49-F238E27FC236}">
                <a16:creationId xmlns:a16="http://schemas.microsoft.com/office/drawing/2014/main" id="{5959C111-99CF-71F9-A832-2AA8BEED8EED}"/>
              </a:ext>
            </a:extLst>
          </p:cNvPr>
          <p:cNvCxnSpPr>
            <a:cxnSpLocks/>
            <a:stCxn id="60" idx="3"/>
            <a:endCxn id="59" idx="2"/>
          </p:cNvCxnSpPr>
          <p:nvPr/>
        </p:nvCxnSpPr>
        <p:spPr bwMode="auto">
          <a:xfrm flipV="1">
            <a:off x="3525047" y="310301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54" name="Conector angular 25">
            <a:extLst>
              <a:ext uri="{FF2B5EF4-FFF2-40B4-BE49-F238E27FC236}">
                <a16:creationId xmlns:a16="http://schemas.microsoft.com/office/drawing/2014/main" id="{689ECC08-2015-D8F3-27EA-969D3890FB77}"/>
              </a:ext>
            </a:extLst>
          </p:cNvPr>
          <p:cNvCxnSpPr>
            <a:cxnSpLocks/>
            <a:stCxn id="60" idx="1"/>
            <a:endCxn id="58" idx="0"/>
          </p:cNvCxnSpPr>
          <p:nvPr/>
        </p:nvCxnSpPr>
        <p:spPr bwMode="auto">
          <a:xfrm rot="10800000" flipV="1">
            <a:off x="725089" y="420698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55" name="Conector angular 25">
            <a:extLst>
              <a:ext uri="{FF2B5EF4-FFF2-40B4-BE49-F238E27FC236}">
                <a16:creationId xmlns:a16="http://schemas.microsoft.com/office/drawing/2014/main" id="{30407928-5825-F17C-B992-84CB4718B500}"/>
              </a:ext>
            </a:extLst>
          </p:cNvPr>
          <p:cNvCxnSpPr>
            <a:cxnSpLocks/>
            <a:stCxn id="57" idx="2"/>
          </p:cNvCxnSpPr>
          <p:nvPr/>
        </p:nvCxnSpPr>
        <p:spPr bwMode="auto">
          <a:xfrm rot="16200000" flipH="1">
            <a:off x="993684" y="284338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6" name="Grafico_bar_RL">
            <a:extLst>
              <a:ext uri="{FF2B5EF4-FFF2-40B4-BE49-F238E27FC236}">
                <a16:creationId xmlns:a16="http://schemas.microsoft.com/office/drawing/2014/main" id="{195CAC42-85CE-A86B-AF88-8D67814A121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12372112"/>
              </p:ext>
            </p:extLst>
          </p:nvPr>
        </p:nvGraphicFramePr>
        <p:xfrm>
          <a:off x="5034928" y="2536173"/>
          <a:ext cx="6878813" cy="44101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32" name="Tabla_DIF_RL">
            <a:extLst>
              <a:ext uri="{FF2B5EF4-FFF2-40B4-BE49-F238E27FC236}">
                <a16:creationId xmlns:a16="http://schemas.microsoft.com/office/drawing/2014/main" id="{4116488A-5EED-B016-191C-DC70257936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9107462"/>
              </p:ext>
            </p:extLst>
          </p:nvPr>
        </p:nvGraphicFramePr>
        <p:xfrm>
          <a:off x="11911605" y="2091350"/>
          <a:ext cx="2461281" cy="4900630"/>
        </p:xfrm>
        <a:graphic>
          <a:graphicData uri="http://schemas.openxmlformats.org/drawingml/2006/table">
            <a:tbl>
              <a:tblPr/>
              <a:tblGrid>
                <a:gridCol w="6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4427">
                  <a:extLst>
                    <a:ext uri="{9D8B030D-6E8A-4147-A177-3AD203B41FA5}">
                      <a16:colId xmlns:a16="http://schemas.microsoft.com/office/drawing/2014/main" val="182502293"/>
                    </a:ext>
                  </a:extLst>
                </a:gridCol>
                <a:gridCol w="604427">
                  <a:extLst>
                    <a:ext uri="{9D8B030D-6E8A-4147-A177-3AD203B41FA5}">
                      <a16:colId xmlns:a16="http://schemas.microsoft.com/office/drawing/2014/main" val="1266030957"/>
                    </a:ext>
                  </a:extLst>
                </a:gridCol>
                <a:gridCol w="604427">
                  <a:extLst>
                    <a:ext uri="{9D8B030D-6E8A-4147-A177-3AD203B41FA5}">
                      <a16:colId xmlns:a16="http://schemas.microsoft.com/office/drawing/2014/main" val="1509798509"/>
                    </a:ext>
                  </a:extLst>
                </a:gridCol>
              </a:tblGrid>
              <a:tr h="490063">
                <a:tc>
                  <a:txBody>
                    <a:bodyPr/>
                    <a:lstStyle/>
                    <a:p>
                      <a:pPr algn="ctr" rtl="0" fontAlgn="ctr"/>
                      <a:r>
                        <a:rPr lang="es-ES_tradnl" sz="800" b="0" i="0" u="none" strike="noStrike" baseline="0" dirty="0"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Calibri" panose="020F0502020204030204" pitchFamily="34" charset="0"/>
                        </a:rPr>
                        <a:t>#</a:t>
                      </a:r>
                      <a:br>
                        <a:rPr lang="es-ES_tradnl" sz="800" b="0" i="0" u="none" strike="noStrike" baseline="0" dirty="0"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Calibri" panose="020F0502020204030204" pitchFamily="34" charset="0"/>
                        </a:rPr>
                      </a:br>
                      <a:r>
                        <a:rPr lang="es-ES_tradnl" sz="600" b="0" i="0" u="none" strike="noStrike" baseline="0" dirty="0"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Calibri" panose="020F0502020204030204" pitchFamily="34" charset="0"/>
                        </a:rPr>
                        <a:t>colaboradores</a:t>
                      </a:r>
                      <a:endParaRPr lang="es-ES_tradnl" sz="800" b="0" i="0" u="none" strike="noStrike" dirty="0">
                        <a:solidFill>
                          <a:srgbClr val="7F7F7F"/>
                        </a:solidFill>
                        <a:effectLst/>
                        <a:latin typeface="Montserrat" panose="00000500000000000000" pitchFamily="2" charset="0"/>
                        <a:cs typeface="Calibri" panose="020F0502020204030204" pitchFamily="34" charset="0"/>
                      </a:endParaRPr>
                    </a:p>
                  </a:txBody>
                  <a:tcPr marL="16939" marR="16939" marT="16881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IPN</a:t>
                      </a:r>
                      <a:br>
                        <a:rPr lang="es-ES_tradnl" sz="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s-ES_tradnl" sz="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1Q 2026</a:t>
                      </a:r>
                    </a:p>
                  </a:txBody>
                  <a:tcPr marL="16939" marR="16939" marT="16881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IPN</a:t>
                      </a:r>
                      <a:br>
                        <a:rPr lang="es-ES_tradnl" sz="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s-ES_tradnl" sz="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4Q 2025</a:t>
                      </a:r>
                    </a:p>
                  </a:txBody>
                  <a:tcPr marL="16939" marR="16939" marT="16881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Dif </a:t>
                      </a:r>
                    </a:p>
                    <a:p>
                      <a:pPr marL="0" marR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1Q vs 4Q</a:t>
                      </a:r>
                    </a:p>
                  </a:txBody>
                  <a:tcPr marL="16939" marR="16939" marT="16881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6081704"/>
                  </a:ext>
                </a:extLst>
              </a:tr>
              <a:tr h="4900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28001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 pp</a:t>
                      </a:r>
                      <a:endParaRPr kumimoji="0" lang="es-MX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00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1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28001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 pp</a:t>
                      </a:r>
                      <a:endParaRPr kumimoji="0" lang="es-MX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5376670"/>
                  </a:ext>
                </a:extLst>
              </a:tr>
              <a:tr h="4900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1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28001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 pp</a:t>
                      </a:r>
                      <a:endParaRPr kumimoji="0" lang="es-MX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7772133"/>
                  </a:ext>
                </a:extLst>
              </a:tr>
              <a:tr h="4900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1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28001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 pp</a:t>
                      </a:r>
                      <a:endParaRPr kumimoji="0" lang="es-MX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3592670"/>
                  </a:ext>
                </a:extLst>
              </a:tr>
              <a:tr h="4900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1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28001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 pp</a:t>
                      </a:r>
                      <a:endParaRPr kumimoji="0" lang="es-MX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8081063"/>
                  </a:ext>
                </a:extLst>
              </a:tr>
              <a:tr h="4900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1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28001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 pp</a:t>
                      </a:r>
                      <a:endParaRPr kumimoji="0" lang="es-MX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480933"/>
                  </a:ext>
                </a:extLst>
              </a:tr>
              <a:tr h="4900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1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28001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 pp</a:t>
                      </a:r>
                      <a:endParaRPr kumimoji="0" lang="es-MX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9267090"/>
                  </a:ext>
                </a:extLst>
              </a:tr>
              <a:tr h="4900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8058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es-MX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28001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 pp</a:t>
                      </a:r>
                      <a:endParaRPr kumimoji="0" lang="es-MX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2889118"/>
                  </a:ext>
                </a:extLst>
              </a:tr>
              <a:tr h="4900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8058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es-MX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  <a:endParaRPr lang="es-MX" sz="10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28001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 </a:t>
                      </a:r>
                      <a:r>
                        <a:rPr kumimoji="0" lang="es-MX" sz="10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pp</a:t>
                      </a:r>
                      <a:endParaRPr kumimoji="0" lang="es-MX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2671043"/>
                  </a:ext>
                </a:extLst>
              </a:tr>
            </a:tbl>
          </a:graphicData>
        </a:graphic>
      </p:graphicFrame>
      <p:graphicFrame>
        <p:nvGraphicFramePr>
          <p:cNvPr id="56" name="Tabla_ANTERIO_RL">
            <a:extLst>
              <a:ext uri="{FF2B5EF4-FFF2-40B4-BE49-F238E27FC236}">
                <a16:creationId xmlns:a16="http://schemas.microsoft.com/office/drawing/2014/main" id="{FAF53BFA-4814-EF94-C1C3-1329CA7536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9496259"/>
              </p:ext>
            </p:extLst>
          </p:nvPr>
        </p:nvGraphicFramePr>
        <p:xfrm>
          <a:off x="661736" y="6831349"/>
          <a:ext cx="3746623" cy="384764"/>
        </p:xfrm>
        <a:graphic>
          <a:graphicData uri="http://schemas.openxmlformats.org/drawingml/2006/table">
            <a:tbl>
              <a:tblPr/>
              <a:tblGrid>
                <a:gridCol w="2609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1429">
                <a:tc>
                  <a:txBody>
                    <a:bodyPr/>
                    <a:lstStyle/>
                    <a:p>
                      <a:pPr algn="l" fontAlgn="b"/>
                      <a:r>
                        <a:rPr kumimoji="0" lang="es-MX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PARTICIPACI</a:t>
                      </a:r>
                      <a:r>
                        <a:rPr kumimoji="0" lang="es-E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ÓN ANTERIOR</a:t>
                      </a:r>
                      <a:endParaRPr kumimoji="0" lang="es-MX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7F7F7F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622" marR="7622" marT="7620" marB="0" anchor="ctr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20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80</a:t>
                      </a:r>
                    </a:p>
                  </a:txBody>
                  <a:tcPr marL="7622" marR="7622" marT="7620" marB="0" anchor="ctr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335">
                <a:tc>
                  <a:txBody>
                    <a:bodyPr/>
                    <a:lstStyle/>
                    <a:p>
                      <a:pPr algn="l" fontAlgn="b"/>
                      <a:r>
                        <a:rPr kumimoji="0" lang="es-MX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 ANTERIOR</a:t>
                      </a:r>
                    </a:p>
                  </a:txBody>
                  <a:tcPr marL="7622" marR="7622" marT="7620" marB="0" anchor="ctr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20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46.2%</a:t>
                      </a:r>
                    </a:p>
                  </a:txBody>
                  <a:tcPr marL="7622" marR="7622" marT="7620" marB="0" anchor="ctr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7" name="Tabla_DET_RL">
            <a:extLst>
              <a:ext uri="{FF2B5EF4-FFF2-40B4-BE49-F238E27FC236}">
                <a16:creationId xmlns:a16="http://schemas.microsoft.com/office/drawing/2014/main" id="{8BD4E7AA-629C-2138-F005-3922718387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502941"/>
              </p:ext>
            </p:extLst>
          </p:nvPr>
        </p:nvGraphicFramePr>
        <p:xfrm>
          <a:off x="77089" y="243380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11.7%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(9)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58" name="Tabla_PAS_RL">
            <a:extLst>
              <a:ext uri="{FF2B5EF4-FFF2-40B4-BE49-F238E27FC236}">
                <a16:creationId xmlns:a16="http://schemas.microsoft.com/office/drawing/2014/main" id="{D068A4C4-E543-C85F-581D-C9E4BFA50C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5853064"/>
              </p:ext>
            </p:extLst>
          </p:nvPr>
        </p:nvGraphicFramePr>
        <p:xfrm>
          <a:off x="77089" y="531428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32.5%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(25)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59" name="Tabla_PRO_RL">
            <a:extLst>
              <a:ext uri="{FF2B5EF4-FFF2-40B4-BE49-F238E27FC236}">
                <a16:creationId xmlns:a16="http://schemas.microsoft.com/office/drawing/2014/main" id="{C3AAF094-DE49-F902-53F8-DDFB1C5C94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7131600"/>
              </p:ext>
            </p:extLst>
          </p:nvPr>
        </p:nvGraphicFramePr>
        <p:xfrm>
          <a:off x="3659024" y="242483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55.7%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(43)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pic>
        <p:nvPicPr>
          <p:cNvPr id="3" name="Picture 4" descr="eenfoque fiscal – Reforma Fiscal">
            <a:hlinkClick r:id="rId8" action="ppaction://hlinksldjump"/>
            <a:extLst>
              <a:ext uri="{FF2B5EF4-FFF2-40B4-BE49-F238E27FC236}">
                <a16:creationId xmlns:a16="http://schemas.microsoft.com/office/drawing/2014/main" id="{969C51A4-56FA-A80C-E1C4-4863D7AC29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1691" y="3104871"/>
            <a:ext cx="334721" cy="3347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45" name="Grafico_don_RL">
            <a:extLst>
              <a:ext uri="{FF2B5EF4-FFF2-40B4-BE49-F238E27FC236}">
                <a16:creationId xmlns:a16="http://schemas.microsoft.com/office/drawing/2014/main" id="{664915DA-FA62-7846-7E07-C5FD61951ED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72588988"/>
              </p:ext>
            </p:extLst>
          </p:nvPr>
        </p:nvGraphicFramePr>
        <p:xfrm>
          <a:off x="375047" y="276698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</p:spTree>
    <p:extLst>
      <p:ext uri="{BB962C8B-B14F-4D97-AF65-F5344CB8AC3E}">
        <p14:creationId xmlns:p14="http://schemas.microsoft.com/office/powerpoint/2010/main" val="121924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A9067-3164-30CB-DEC0-B7F7A813F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5" name="Tabla_IPN_CI">
            <a:extLst>
              <a:ext uri="{FF2B5EF4-FFF2-40B4-BE49-F238E27FC236}">
                <a16:creationId xmlns:a16="http://schemas.microsoft.com/office/drawing/2014/main" id="{4EFF114B-F4F0-CD11-D3FE-D631B89B47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4542"/>
              </p:ext>
            </p:extLst>
          </p:nvPr>
        </p:nvGraphicFramePr>
        <p:xfrm>
          <a:off x="1545047" y="363993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39.1%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23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665897"/>
                  </a:ext>
                </a:extLst>
              </a:tr>
            </a:tbl>
          </a:graphicData>
        </a:graphic>
      </p:graphicFrame>
      <p:sp>
        <p:nvSpPr>
          <p:cNvPr id="64" name="CuadroTexto 28">
            <a:extLst>
              <a:ext uri="{FF2B5EF4-FFF2-40B4-BE49-F238E27FC236}">
                <a16:creationId xmlns:a16="http://schemas.microsoft.com/office/drawing/2014/main" id="{C2D9CB5F-2420-1FBC-E3D4-CEB67029B2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2801" y="7889717"/>
            <a:ext cx="314449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10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0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0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sp>
        <p:nvSpPr>
          <p:cNvPr id="63" name="25 CuadroTexto">
            <a:extLst>
              <a:ext uri="{FF2B5EF4-FFF2-40B4-BE49-F238E27FC236}">
                <a16:creationId xmlns:a16="http://schemas.microsoft.com/office/drawing/2014/main" id="{923DDDC3-B6A9-55DF-95D1-3F218352528B}"/>
              </a:ext>
            </a:extLst>
          </p:cNvPr>
          <p:cNvSpPr txBox="1"/>
          <p:nvPr/>
        </p:nvSpPr>
        <p:spPr>
          <a:xfrm>
            <a:off x="10081785" y="7163887"/>
            <a:ext cx="315623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s-MX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Kanit" pitchFamily="2" charset="-34"/>
              </a:rPr>
              <a:t>*Sin muestra suficiente para calcular IPN</a:t>
            </a:r>
          </a:p>
        </p:txBody>
      </p:sp>
      <p:graphicFrame>
        <p:nvGraphicFramePr>
          <p:cNvPr id="6" name="Grafico_bar_CI">
            <a:extLst>
              <a:ext uri="{FF2B5EF4-FFF2-40B4-BE49-F238E27FC236}">
                <a16:creationId xmlns:a16="http://schemas.microsoft.com/office/drawing/2014/main" id="{D01CF781-02D5-55C5-0DE1-897D40F0B17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75583908"/>
              </p:ext>
            </p:extLst>
          </p:nvPr>
        </p:nvGraphicFramePr>
        <p:xfrm>
          <a:off x="5034929" y="2626203"/>
          <a:ext cx="6878812" cy="44101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7" name="CuadroTexto 16">
            <a:extLst>
              <a:ext uri="{FF2B5EF4-FFF2-40B4-BE49-F238E27FC236}">
                <a16:creationId xmlns:a16="http://schemas.microsoft.com/office/drawing/2014/main" id="{BFA54F59-743E-0E3B-CE52-738ED801DA30}"/>
              </a:ext>
            </a:extLst>
          </p:cNvPr>
          <p:cNvSpPr txBox="1"/>
          <p:nvPr/>
        </p:nvSpPr>
        <p:spPr>
          <a:xfrm>
            <a:off x="5472981" y="1920433"/>
            <a:ext cx="3454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2000" b="1" dirty="0">
                <a:latin typeface="Montserrat Black" panose="00000A00000000000000" pitchFamily="2" charset="0"/>
              </a:rPr>
              <a:t>CONSUMER INSIGHTS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74277DD-B073-4F6A-EE3F-DF229A1D28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3462" y="1298750"/>
            <a:ext cx="2544734" cy="368148"/>
          </a:xfrm>
          <a:prstGeom prst="rect">
            <a:avLst/>
          </a:prstGeom>
        </p:spPr>
      </p:pic>
      <p:pic>
        <p:nvPicPr>
          <p:cNvPr id="7" name="Imagen 6" descr="Icono&#10;&#10;Descripción generada automáticamente">
            <a:hlinkClick r:id="rId4" action="ppaction://hlinksldjump"/>
            <a:extLst>
              <a:ext uri="{FF2B5EF4-FFF2-40B4-BE49-F238E27FC236}">
                <a16:creationId xmlns:a16="http://schemas.microsoft.com/office/drawing/2014/main" id="{E5E401B5-169A-F91F-27A3-9A4E6F8528C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76" t="35392" r="34713" b="32709"/>
          <a:stretch/>
        </p:blipFill>
        <p:spPr>
          <a:xfrm>
            <a:off x="443646" y="1219860"/>
            <a:ext cx="506341" cy="525928"/>
          </a:xfrm>
          <a:prstGeom prst="flowChartConnector">
            <a:avLst/>
          </a:prstGeom>
        </p:spPr>
      </p:pic>
      <p:grpSp>
        <p:nvGrpSpPr>
          <p:cNvPr id="8" name="Grupo 7">
            <a:extLst>
              <a:ext uri="{FF2B5EF4-FFF2-40B4-BE49-F238E27FC236}">
                <a16:creationId xmlns:a16="http://schemas.microsoft.com/office/drawing/2014/main" id="{85480C34-1CE2-7BEC-F163-3C3260309167}"/>
              </a:ext>
            </a:extLst>
          </p:cNvPr>
          <p:cNvGrpSpPr/>
          <p:nvPr/>
        </p:nvGrpSpPr>
        <p:grpSpPr>
          <a:xfrm>
            <a:off x="543878" y="21121"/>
            <a:ext cx="8094662" cy="1165225"/>
            <a:chOff x="543878" y="21121"/>
            <a:chExt cx="8094662" cy="1165225"/>
          </a:xfrm>
        </p:grpSpPr>
        <p:pic>
          <p:nvPicPr>
            <p:cNvPr id="27" name="Imagen 28">
              <a:extLst>
                <a:ext uri="{FF2B5EF4-FFF2-40B4-BE49-F238E27FC236}">
                  <a16:creationId xmlns:a16="http://schemas.microsoft.com/office/drawing/2014/main" id="{592F37DB-2FF0-7917-F95F-E35E4497D9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" name="Título 2">
              <a:extLst>
                <a:ext uri="{FF2B5EF4-FFF2-40B4-BE49-F238E27FC236}">
                  <a16:creationId xmlns:a16="http://schemas.microsoft.com/office/drawing/2014/main" id="{1D93DE11-8AFB-D7C6-2891-78D80E1D16FB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5503863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RESEARCHLAND 1Q 2026</a:t>
              </a:r>
            </a:p>
          </p:txBody>
        </p:sp>
        <p:pic>
          <p:nvPicPr>
            <p:cNvPr id="38" name="Imagen 3">
              <a:extLst>
                <a:ext uri="{FF2B5EF4-FFF2-40B4-BE49-F238E27FC236}">
                  <a16:creationId xmlns:a16="http://schemas.microsoft.com/office/drawing/2014/main" id="{B7BB2F65-A26E-F15B-F9F8-DA45C2494D4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933" y="248132"/>
              <a:ext cx="700087" cy="612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39" name="Imagen 38">
            <a:extLst>
              <a:ext uri="{FF2B5EF4-FFF2-40B4-BE49-F238E27FC236}">
                <a16:creationId xmlns:a16="http://schemas.microsoft.com/office/drawing/2014/main" id="{11BB9FA3-A47B-7396-5BFB-45395A7328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866" y="369733"/>
            <a:ext cx="3234936" cy="468000"/>
          </a:xfrm>
          <a:prstGeom prst="rect">
            <a:avLst/>
          </a:prstGeom>
        </p:spPr>
      </p:pic>
      <p:grpSp>
        <p:nvGrpSpPr>
          <p:cNvPr id="41" name="Agrupar 49">
            <a:extLst>
              <a:ext uri="{FF2B5EF4-FFF2-40B4-BE49-F238E27FC236}">
                <a16:creationId xmlns:a16="http://schemas.microsoft.com/office/drawing/2014/main" id="{4A770356-A2B2-97BB-0D72-02CA226836F5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293172"/>
            <a:ext cx="3738563" cy="147637"/>
            <a:chOff x="2553895" y="6539475"/>
            <a:chExt cx="2803936" cy="161793"/>
          </a:xfrm>
        </p:grpSpPr>
        <p:sp>
          <p:nvSpPr>
            <p:cNvPr id="42" name="CuadroTexto 33">
              <a:extLst>
                <a:ext uri="{FF2B5EF4-FFF2-40B4-BE49-F238E27FC236}">
                  <a16:creationId xmlns:a16="http://schemas.microsoft.com/office/drawing/2014/main" id="{B33E7329-380C-0930-36E4-00907D2A14AC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43" name="CuadroTexto 34">
              <a:extLst>
                <a:ext uri="{FF2B5EF4-FFF2-40B4-BE49-F238E27FC236}">
                  <a16:creationId xmlns:a16="http://schemas.microsoft.com/office/drawing/2014/main" id="{559A9CEA-EDC3-C64E-86C2-CC72AD2C5DEA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44" name="CuadroTexto 35">
              <a:extLst>
                <a:ext uri="{FF2B5EF4-FFF2-40B4-BE49-F238E27FC236}">
                  <a16:creationId xmlns:a16="http://schemas.microsoft.com/office/drawing/2014/main" id="{3803B91E-8E1D-1628-4480-78FAF190DBA9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45" name="83 Rectángulo">
              <a:extLst>
                <a:ext uri="{FF2B5EF4-FFF2-40B4-BE49-F238E27FC236}">
                  <a16:creationId xmlns:a16="http://schemas.microsoft.com/office/drawing/2014/main" id="{526E50EA-103A-5A1D-2C28-E5997BB22233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46" name="84 Rectángulo">
              <a:extLst>
                <a:ext uri="{FF2B5EF4-FFF2-40B4-BE49-F238E27FC236}">
                  <a16:creationId xmlns:a16="http://schemas.microsoft.com/office/drawing/2014/main" id="{4C1E77B8-F6DB-D37A-870E-29DC2CDE4EF0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47" name="17 Rectángulo">
              <a:extLst>
                <a:ext uri="{FF2B5EF4-FFF2-40B4-BE49-F238E27FC236}">
                  <a16:creationId xmlns:a16="http://schemas.microsoft.com/office/drawing/2014/main" id="{3AC578B7-989A-CD0F-92CE-08C8B42066AB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48" name="Conector angular 25">
            <a:extLst>
              <a:ext uri="{FF2B5EF4-FFF2-40B4-BE49-F238E27FC236}">
                <a16:creationId xmlns:a16="http://schemas.microsoft.com/office/drawing/2014/main" id="{2CCE6617-E3EF-3584-D7AA-047534257CA8}"/>
              </a:ext>
            </a:extLst>
          </p:cNvPr>
          <p:cNvCxnSpPr>
            <a:cxnSpLocks/>
            <a:stCxn id="55" idx="3"/>
            <a:endCxn id="54" idx="2"/>
          </p:cNvCxnSpPr>
          <p:nvPr/>
        </p:nvCxnSpPr>
        <p:spPr bwMode="auto">
          <a:xfrm flipV="1">
            <a:off x="3525047" y="3103011"/>
            <a:ext cx="902162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49" name="Conector angular 25">
            <a:extLst>
              <a:ext uri="{FF2B5EF4-FFF2-40B4-BE49-F238E27FC236}">
                <a16:creationId xmlns:a16="http://schemas.microsoft.com/office/drawing/2014/main" id="{B445B677-3FFB-FAC6-DEFC-834F3FD433B7}"/>
              </a:ext>
            </a:extLst>
          </p:cNvPr>
          <p:cNvCxnSpPr>
            <a:cxnSpLocks/>
            <a:stCxn id="55" idx="1"/>
            <a:endCxn id="53" idx="0"/>
          </p:cNvCxnSpPr>
          <p:nvPr/>
        </p:nvCxnSpPr>
        <p:spPr bwMode="auto">
          <a:xfrm rot="10800000" flipV="1">
            <a:off x="845275" y="4206985"/>
            <a:ext cx="699773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50" name="Conector angular 25">
            <a:extLst>
              <a:ext uri="{FF2B5EF4-FFF2-40B4-BE49-F238E27FC236}">
                <a16:creationId xmlns:a16="http://schemas.microsoft.com/office/drawing/2014/main" id="{FC134416-BAA8-4EA9-028F-B5E5FE0B499F}"/>
              </a:ext>
            </a:extLst>
          </p:cNvPr>
          <p:cNvCxnSpPr>
            <a:cxnSpLocks/>
            <a:stCxn id="52" idx="2"/>
          </p:cNvCxnSpPr>
          <p:nvPr/>
        </p:nvCxnSpPr>
        <p:spPr bwMode="auto">
          <a:xfrm rot="16200000" flipH="1">
            <a:off x="1053776" y="2903479"/>
            <a:ext cx="341896" cy="758900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51" name="Tabla_ANTERIO_CI">
            <a:extLst>
              <a:ext uri="{FF2B5EF4-FFF2-40B4-BE49-F238E27FC236}">
                <a16:creationId xmlns:a16="http://schemas.microsoft.com/office/drawing/2014/main" id="{30FD81AD-14C9-F269-C5E1-B4514BAAD2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3368567"/>
              </p:ext>
            </p:extLst>
          </p:nvPr>
        </p:nvGraphicFramePr>
        <p:xfrm>
          <a:off x="661736" y="6831349"/>
          <a:ext cx="3746623" cy="384764"/>
        </p:xfrm>
        <a:graphic>
          <a:graphicData uri="http://schemas.openxmlformats.org/drawingml/2006/table">
            <a:tbl>
              <a:tblPr/>
              <a:tblGrid>
                <a:gridCol w="2609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1429">
                <a:tc>
                  <a:txBody>
                    <a:bodyPr/>
                    <a:lstStyle/>
                    <a:p>
                      <a:pPr algn="l" fontAlgn="b"/>
                      <a:r>
                        <a:rPr kumimoji="0" lang="es-MX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PARTICIPACI</a:t>
                      </a:r>
                      <a:r>
                        <a:rPr kumimoji="0" lang="es-E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ÓN ANTERIOR</a:t>
                      </a:r>
                      <a:endParaRPr kumimoji="0" lang="es-MX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7F7F7F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622" marR="7622" marT="7620" marB="0" anchor="ctr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20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39</a:t>
                      </a:r>
                    </a:p>
                  </a:txBody>
                  <a:tcPr marL="7622" marR="7622" marT="7620" marB="0" anchor="ctr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335">
                <a:tc>
                  <a:txBody>
                    <a:bodyPr/>
                    <a:lstStyle/>
                    <a:p>
                      <a:pPr algn="l" fontAlgn="b"/>
                      <a:r>
                        <a:rPr kumimoji="0" lang="es-MX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 ANTERIOR</a:t>
                      </a:r>
                    </a:p>
                  </a:txBody>
                  <a:tcPr marL="7622" marR="7622" marT="7620" marB="0" anchor="ctr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20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33.3%</a:t>
                      </a:r>
                    </a:p>
                  </a:txBody>
                  <a:tcPr marL="7622" marR="7622" marT="7620" marB="0" anchor="ctr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1" name="Tabla_DIF_CI">
            <a:extLst>
              <a:ext uri="{FF2B5EF4-FFF2-40B4-BE49-F238E27FC236}">
                <a16:creationId xmlns:a16="http://schemas.microsoft.com/office/drawing/2014/main" id="{778125CE-069B-1127-489F-725329DFF7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9604434"/>
              </p:ext>
            </p:extLst>
          </p:nvPr>
        </p:nvGraphicFramePr>
        <p:xfrm>
          <a:off x="11938091" y="2181974"/>
          <a:ext cx="2417708" cy="4854383"/>
        </p:xfrm>
        <a:graphic>
          <a:graphicData uri="http://schemas.openxmlformats.org/drawingml/2006/table">
            <a:tbl>
              <a:tblPr/>
              <a:tblGrid>
                <a:gridCol w="6044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4427">
                  <a:extLst>
                    <a:ext uri="{9D8B030D-6E8A-4147-A177-3AD203B41FA5}">
                      <a16:colId xmlns:a16="http://schemas.microsoft.com/office/drawing/2014/main" val="182502293"/>
                    </a:ext>
                  </a:extLst>
                </a:gridCol>
                <a:gridCol w="604427">
                  <a:extLst>
                    <a:ext uri="{9D8B030D-6E8A-4147-A177-3AD203B41FA5}">
                      <a16:colId xmlns:a16="http://schemas.microsoft.com/office/drawing/2014/main" val="1266030957"/>
                    </a:ext>
                  </a:extLst>
                </a:gridCol>
                <a:gridCol w="604427">
                  <a:extLst>
                    <a:ext uri="{9D8B030D-6E8A-4147-A177-3AD203B41FA5}">
                      <a16:colId xmlns:a16="http://schemas.microsoft.com/office/drawing/2014/main" val="1509798509"/>
                    </a:ext>
                  </a:extLst>
                </a:gridCol>
              </a:tblGrid>
              <a:tr h="445928">
                <a:tc>
                  <a:txBody>
                    <a:bodyPr/>
                    <a:lstStyle/>
                    <a:p>
                      <a:pPr algn="ctr" rtl="0" fontAlgn="ctr"/>
                      <a:r>
                        <a:rPr lang="es-ES_tradnl" sz="800" b="0" i="0" u="none" strike="noStrike" baseline="0" dirty="0"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Calibri" panose="020F0502020204030204" pitchFamily="34" charset="0"/>
                        </a:rPr>
                        <a:t>#</a:t>
                      </a:r>
                      <a:br>
                        <a:rPr lang="es-ES_tradnl" sz="800" b="0" i="0" u="none" strike="noStrike" baseline="0" dirty="0"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Calibri" panose="020F0502020204030204" pitchFamily="34" charset="0"/>
                        </a:rPr>
                      </a:br>
                      <a:r>
                        <a:rPr lang="es-ES_tradnl" sz="600" b="0" i="0" u="none" strike="noStrike" baseline="0" dirty="0"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Calibri" panose="020F0502020204030204" pitchFamily="34" charset="0"/>
                        </a:rPr>
                        <a:t>colaboradores</a:t>
                      </a:r>
                      <a:endParaRPr lang="es-ES_tradnl" sz="800" b="0" i="0" u="none" strike="noStrike" dirty="0">
                        <a:solidFill>
                          <a:srgbClr val="7F7F7F"/>
                        </a:solidFill>
                        <a:effectLst/>
                        <a:latin typeface="Montserrat" panose="00000500000000000000" pitchFamily="2" charset="0"/>
                        <a:cs typeface="Calibri" panose="020F0502020204030204" pitchFamily="34" charset="0"/>
                      </a:endParaRPr>
                    </a:p>
                  </a:txBody>
                  <a:tcPr marL="16939" marR="16939" marT="16881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IPN</a:t>
                      </a:r>
                      <a:br>
                        <a:rPr lang="es-ES_tradnl" sz="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s-ES_tradnl" sz="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1Q 2026</a:t>
                      </a:r>
                    </a:p>
                  </a:txBody>
                  <a:tcPr marL="16939" marR="16939" marT="16881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IPN</a:t>
                      </a:r>
                      <a:br>
                        <a:rPr lang="es-ES_tradnl" sz="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s-ES_tradnl" sz="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4Q 2025</a:t>
                      </a:r>
                    </a:p>
                  </a:txBody>
                  <a:tcPr marL="16939" marR="16939" marT="16881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Dif </a:t>
                      </a:r>
                    </a:p>
                    <a:p>
                      <a:pPr marL="0" marR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1Q vs 4Q</a:t>
                      </a:r>
                    </a:p>
                  </a:txBody>
                  <a:tcPr marL="16939" marR="16939" marT="16881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831115"/>
                  </a:ext>
                </a:extLst>
              </a:tr>
              <a:tr h="88169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169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5376670"/>
                  </a:ext>
                </a:extLst>
              </a:tr>
              <a:tr h="88169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7772133"/>
                  </a:ext>
                </a:extLst>
              </a:tr>
              <a:tr h="88169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3592670"/>
                  </a:ext>
                </a:extLst>
              </a:tr>
              <a:tr h="88169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8081063"/>
                  </a:ext>
                </a:extLst>
              </a:tr>
            </a:tbl>
          </a:graphicData>
        </a:graphic>
      </p:graphicFrame>
      <p:graphicFrame>
        <p:nvGraphicFramePr>
          <p:cNvPr id="52" name="Tabla_DET_CI">
            <a:extLst>
              <a:ext uri="{FF2B5EF4-FFF2-40B4-BE49-F238E27FC236}">
                <a16:creationId xmlns:a16="http://schemas.microsoft.com/office/drawing/2014/main" id="{9B5FB713-C8A1-9275-B0A4-7B6631B831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728067"/>
              </p:ext>
            </p:extLst>
          </p:nvPr>
        </p:nvGraphicFramePr>
        <p:xfrm>
          <a:off x="77088" y="2433801"/>
          <a:ext cx="1536373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6373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8.7%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53" name="Tabla_PAS_CI">
            <a:extLst>
              <a:ext uri="{FF2B5EF4-FFF2-40B4-BE49-F238E27FC236}">
                <a16:creationId xmlns:a16="http://schemas.microsoft.com/office/drawing/2014/main" id="{AA7EE7CC-DAA8-8C90-AF45-50D9912C00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958268"/>
              </p:ext>
            </p:extLst>
          </p:nvPr>
        </p:nvGraphicFramePr>
        <p:xfrm>
          <a:off x="77088" y="5314283"/>
          <a:ext cx="1536373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6373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43.5%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(10)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54" name="Tabla_PRO_CI">
            <a:extLst>
              <a:ext uri="{FF2B5EF4-FFF2-40B4-BE49-F238E27FC236}">
                <a16:creationId xmlns:a16="http://schemas.microsoft.com/office/drawing/2014/main" id="{643A136C-E299-383C-25A4-681594DB41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3883347"/>
              </p:ext>
            </p:extLst>
          </p:nvPr>
        </p:nvGraphicFramePr>
        <p:xfrm>
          <a:off x="3659023" y="2424831"/>
          <a:ext cx="1536373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6373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47.8%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(11)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0" name="Grafico_don_CI">
            <a:extLst>
              <a:ext uri="{FF2B5EF4-FFF2-40B4-BE49-F238E27FC236}">
                <a16:creationId xmlns:a16="http://schemas.microsoft.com/office/drawing/2014/main" id="{780F46F2-6589-878A-D79E-E04003B9F8A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91910800"/>
              </p:ext>
            </p:extLst>
          </p:nvPr>
        </p:nvGraphicFramePr>
        <p:xfrm>
          <a:off x="375047" y="276698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</p:spTree>
    <p:extLst>
      <p:ext uri="{BB962C8B-B14F-4D97-AF65-F5344CB8AC3E}">
        <p14:creationId xmlns:p14="http://schemas.microsoft.com/office/powerpoint/2010/main" val="13945704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" name="Grafico_historico_RL">
            <a:extLst>
              <a:ext uri="{FF2B5EF4-FFF2-40B4-BE49-F238E27FC236}">
                <a16:creationId xmlns:a16="http://schemas.microsoft.com/office/drawing/2014/main" id="{4AACB9DE-575A-3A33-B927-DC1E907DBCD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93733425"/>
              </p:ext>
            </p:extLst>
          </p:nvPr>
        </p:nvGraphicFramePr>
        <p:xfrm>
          <a:off x="1341120" y="1514157"/>
          <a:ext cx="12888806" cy="61464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5" name="CuadroTexto 44">
            <a:extLst>
              <a:ext uri="{FF2B5EF4-FFF2-40B4-BE49-F238E27FC236}">
                <a16:creationId xmlns:a16="http://schemas.microsoft.com/office/drawing/2014/main" id="{9DC42385-7387-D36F-5095-9FCC5FA3D100}"/>
              </a:ext>
            </a:extLst>
          </p:cNvPr>
          <p:cNvSpPr txBox="1"/>
          <p:nvPr/>
        </p:nvSpPr>
        <p:spPr>
          <a:xfrm>
            <a:off x="795715" y="4561287"/>
            <a:ext cx="644851" cy="307777"/>
          </a:xfrm>
          <a:prstGeom prst="rect">
            <a:avLst/>
          </a:prstGeom>
          <a:noFill/>
          <a:ln w="12700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1400" dirty="0">
                <a:solidFill>
                  <a:srgbClr val="7030A0"/>
                </a:solidFill>
                <a:latin typeface="Montserrat" panose="00000500000000000000" pitchFamily="2" charset="0"/>
              </a:rPr>
              <a:t>IPN</a:t>
            </a: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185B8E3E-86B5-7462-3BA8-A83EB5106B19}"/>
              </a:ext>
            </a:extLst>
          </p:cNvPr>
          <p:cNvSpPr txBox="1"/>
          <p:nvPr/>
        </p:nvSpPr>
        <p:spPr>
          <a:xfrm>
            <a:off x="58620" y="3253025"/>
            <a:ext cx="1381946" cy="246221"/>
          </a:xfrm>
          <a:prstGeom prst="rect">
            <a:avLst/>
          </a:prstGeom>
          <a:noFill/>
          <a:ln w="12700">
            <a:solidFill>
              <a:srgbClr val="00B05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1000" dirty="0">
                <a:solidFill>
                  <a:srgbClr val="00B050"/>
                </a:solidFill>
                <a:latin typeface="Montserrat" panose="00000500000000000000" pitchFamily="2" charset="0"/>
              </a:rPr>
              <a:t>Promotores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15414DB1-9320-E77E-69AE-3F419751F17B}"/>
              </a:ext>
            </a:extLst>
          </p:cNvPr>
          <p:cNvSpPr txBox="1"/>
          <p:nvPr/>
        </p:nvSpPr>
        <p:spPr>
          <a:xfrm>
            <a:off x="58620" y="5246907"/>
            <a:ext cx="1381946" cy="246221"/>
          </a:xfrm>
          <a:prstGeom prst="rect">
            <a:avLst/>
          </a:prstGeom>
          <a:noFill/>
          <a:ln w="12700">
            <a:solidFill>
              <a:srgbClr val="FFC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1000" dirty="0">
                <a:solidFill>
                  <a:srgbClr val="FFC000"/>
                </a:solidFill>
                <a:latin typeface="Montserrat" panose="00000500000000000000" pitchFamily="2" charset="0"/>
              </a:rPr>
              <a:t>Pasivos</a:t>
            </a: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3E8B8158-11E5-7350-6675-D47A89E5A1B7}"/>
              </a:ext>
            </a:extLst>
          </p:cNvPr>
          <p:cNvSpPr txBox="1"/>
          <p:nvPr/>
        </p:nvSpPr>
        <p:spPr>
          <a:xfrm>
            <a:off x="58620" y="5920718"/>
            <a:ext cx="1381946" cy="246221"/>
          </a:xfrm>
          <a:prstGeom prst="rect">
            <a:avLst/>
          </a:prstGeom>
          <a:noFill/>
          <a:ln w="127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1000" dirty="0">
                <a:solidFill>
                  <a:srgbClr val="FF0000"/>
                </a:solidFill>
                <a:latin typeface="Montserrat" panose="00000500000000000000" pitchFamily="2" charset="0"/>
              </a:rPr>
              <a:t>Detractores</a:t>
            </a:r>
          </a:p>
        </p:txBody>
      </p:sp>
      <p:pic>
        <p:nvPicPr>
          <p:cNvPr id="4" name="Imagen 3" descr="Icono&#10;&#10;Descripción generada automáticamente">
            <a:hlinkClick r:id="rId3" action="ppaction://hlinksldjump"/>
            <a:extLst>
              <a:ext uri="{FF2B5EF4-FFF2-40B4-BE49-F238E27FC236}">
                <a16:creationId xmlns:a16="http://schemas.microsoft.com/office/drawing/2014/main" id="{078B1CEF-7F4D-EBA2-0543-1DBD4B5B552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76" t="35392" r="34713" b="32709"/>
          <a:stretch/>
        </p:blipFill>
        <p:spPr>
          <a:xfrm>
            <a:off x="443646" y="1219860"/>
            <a:ext cx="506341" cy="525928"/>
          </a:xfrm>
          <a:prstGeom prst="flowChartConnector">
            <a:avLst/>
          </a:prstGeom>
        </p:spPr>
      </p:pic>
      <p:grpSp>
        <p:nvGrpSpPr>
          <p:cNvPr id="10" name="Grupo 9">
            <a:extLst>
              <a:ext uri="{FF2B5EF4-FFF2-40B4-BE49-F238E27FC236}">
                <a16:creationId xmlns:a16="http://schemas.microsoft.com/office/drawing/2014/main" id="{C260E596-9D85-2C8A-2A96-4636F2085187}"/>
              </a:ext>
            </a:extLst>
          </p:cNvPr>
          <p:cNvGrpSpPr/>
          <p:nvPr/>
        </p:nvGrpSpPr>
        <p:grpSpPr>
          <a:xfrm>
            <a:off x="543878" y="21121"/>
            <a:ext cx="9599114" cy="1258888"/>
            <a:chOff x="543878" y="21121"/>
            <a:chExt cx="9599114" cy="1258888"/>
          </a:xfrm>
        </p:grpSpPr>
        <p:pic>
          <p:nvPicPr>
            <p:cNvPr id="35" name="Imagen 29">
              <a:extLst>
                <a:ext uri="{FF2B5EF4-FFF2-40B4-BE49-F238E27FC236}">
                  <a16:creationId xmlns:a16="http://schemas.microsoft.com/office/drawing/2014/main" id="{16084696-332D-5296-602D-F13C9BA83E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9599114" cy="1258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Título 2">
              <a:extLst>
                <a:ext uri="{FF2B5EF4-FFF2-40B4-BE49-F238E27FC236}">
                  <a16:creationId xmlns:a16="http://schemas.microsoft.com/office/drawing/2014/main" id="{17309B87-17B9-3387-8A7D-D1C191F11AE9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292404"/>
              <a:ext cx="5503863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RESEARCHLAND 1Q 2026</a:t>
              </a:r>
            </a:p>
            <a:p>
              <a:pPr>
                <a:spcBef>
                  <a:spcPct val="0"/>
                </a:spcBef>
                <a:buNone/>
              </a:pPr>
              <a:r>
                <a:rPr lang="es-ES" altLang="es-MX" sz="27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Histórico</a:t>
              </a:r>
            </a:p>
          </p:txBody>
        </p:sp>
        <p:pic>
          <p:nvPicPr>
            <p:cNvPr id="9" name="Imagen 3">
              <a:extLst>
                <a:ext uri="{FF2B5EF4-FFF2-40B4-BE49-F238E27FC236}">
                  <a16:creationId xmlns:a16="http://schemas.microsoft.com/office/drawing/2014/main" id="{A1DDD892-25A1-AC35-40FF-6213EA4246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933" y="248132"/>
              <a:ext cx="700087" cy="612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11" name="Imagen 10">
            <a:extLst>
              <a:ext uri="{FF2B5EF4-FFF2-40B4-BE49-F238E27FC236}">
                <a16:creationId xmlns:a16="http://schemas.microsoft.com/office/drawing/2014/main" id="{D12A33FD-FFF5-8D1C-384A-278B4B24C46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45866" y="369733"/>
            <a:ext cx="3234936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7075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Elipse 16">
            <a:extLst>
              <a:ext uri="{FF2B5EF4-FFF2-40B4-BE49-F238E27FC236}">
                <a16:creationId xmlns:a16="http://schemas.microsoft.com/office/drawing/2014/main" id="{F049830E-1E71-AD80-E826-01F6EAD3E272}"/>
              </a:ext>
            </a:extLst>
          </p:cNvPr>
          <p:cNvSpPr/>
          <p:nvPr/>
        </p:nvSpPr>
        <p:spPr bwMode="auto">
          <a:xfrm>
            <a:off x="1156372" y="3063166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1</a:t>
            </a:r>
            <a:endParaRPr lang="es-MX" sz="1600" b="1" dirty="0">
              <a:latin typeface="Montserrat" panose="00000500000000000000" pitchFamily="2" charset="0"/>
            </a:endParaRPr>
          </a:p>
        </p:txBody>
      </p:sp>
      <p:grpSp>
        <p:nvGrpSpPr>
          <p:cNvPr id="56" name="Grupo 55">
            <a:extLst>
              <a:ext uri="{FF2B5EF4-FFF2-40B4-BE49-F238E27FC236}">
                <a16:creationId xmlns:a16="http://schemas.microsoft.com/office/drawing/2014/main" id="{5D725209-A655-A1CC-D7E4-6C5D1AB1F9E8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6" name="Cinta curvada hacia arriba 3">
              <a:extLst>
                <a:ext uri="{FF2B5EF4-FFF2-40B4-BE49-F238E27FC236}">
                  <a16:creationId xmlns:a16="http://schemas.microsoft.com/office/drawing/2014/main" id="{DE0C937B-E2CB-7424-5809-840127D4B5D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2ED03C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7" name="CuadroTexto 5">
              <a:extLst>
                <a:ext uri="{FF2B5EF4-FFF2-40B4-BE49-F238E27FC236}">
                  <a16:creationId xmlns:a16="http://schemas.microsoft.com/office/drawing/2014/main" id="{A4CADBB8-354B-790B-AC85-8F2C9CD78D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Promotores</a:t>
              </a:r>
            </a:p>
          </p:txBody>
        </p:sp>
      </p:grpSp>
      <p:pic>
        <p:nvPicPr>
          <p:cNvPr id="10" name="Imagen 46">
            <a:extLst>
              <a:ext uri="{FF2B5EF4-FFF2-40B4-BE49-F238E27FC236}">
                <a16:creationId xmlns:a16="http://schemas.microsoft.com/office/drawing/2014/main" id="{A90E1718-A045-7F49-AF0C-51F89AE064D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017" t="33687" r="4427" b="38496"/>
          <a:stretch>
            <a:fillRect/>
          </a:stretch>
        </p:blipFill>
        <p:spPr bwMode="auto">
          <a:xfrm>
            <a:off x="3467107" y="1547191"/>
            <a:ext cx="931863" cy="906462"/>
          </a:xfrm>
          <a:prstGeom prst="ellipse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7" name="Imagen 46" descr="Icono&#10;&#10;Descripción generada automáticamente">
            <a:hlinkClick r:id="rId3" action="ppaction://hlinksldjump"/>
            <a:extLst>
              <a:ext uri="{FF2B5EF4-FFF2-40B4-BE49-F238E27FC236}">
                <a16:creationId xmlns:a16="http://schemas.microsoft.com/office/drawing/2014/main" id="{E3A0C5AB-7C30-4F5A-B553-54D2FEDE4EA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76" t="35392" r="34713" b="32709"/>
          <a:stretch/>
        </p:blipFill>
        <p:spPr>
          <a:xfrm>
            <a:off x="443646" y="1219860"/>
            <a:ext cx="506341" cy="525928"/>
          </a:xfrm>
          <a:prstGeom prst="flowChartConnector">
            <a:avLst/>
          </a:prstGeom>
        </p:spPr>
      </p:pic>
      <p:pic>
        <p:nvPicPr>
          <p:cNvPr id="52" name="Imagen 51">
            <a:extLst>
              <a:ext uri="{FF2B5EF4-FFF2-40B4-BE49-F238E27FC236}">
                <a16:creationId xmlns:a16="http://schemas.microsoft.com/office/drawing/2014/main" id="{EC1E9842-6CB7-06F0-EC94-A4CC0632C8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5866" y="369733"/>
            <a:ext cx="3234936" cy="468000"/>
          </a:xfrm>
          <a:prstGeom prst="rect">
            <a:avLst/>
          </a:prstGeom>
        </p:spPr>
      </p:pic>
      <p:grpSp>
        <p:nvGrpSpPr>
          <p:cNvPr id="54" name="Grupo 53">
            <a:extLst>
              <a:ext uri="{FF2B5EF4-FFF2-40B4-BE49-F238E27FC236}">
                <a16:creationId xmlns:a16="http://schemas.microsoft.com/office/drawing/2014/main" id="{B55C3FD7-BAC4-8A37-A498-E096E41ADEA7}"/>
              </a:ext>
            </a:extLst>
          </p:cNvPr>
          <p:cNvGrpSpPr/>
          <p:nvPr/>
        </p:nvGrpSpPr>
        <p:grpSpPr>
          <a:xfrm>
            <a:off x="543878" y="21121"/>
            <a:ext cx="9599114" cy="1258888"/>
            <a:chOff x="543878" y="21121"/>
            <a:chExt cx="9599114" cy="1258888"/>
          </a:xfrm>
        </p:grpSpPr>
        <p:pic>
          <p:nvPicPr>
            <p:cNvPr id="49" name="Imagen 29">
              <a:extLst>
                <a:ext uri="{FF2B5EF4-FFF2-40B4-BE49-F238E27FC236}">
                  <a16:creationId xmlns:a16="http://schemas.microsoft.com/office/drawing/2014/main" id="{A618ACF1-62B3-2B53-8D06-B0B11026133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9599114" cy="1258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0" name="Título 2">
              <a:extLst>
                <a:ext uri="{FF2B5EF4-FFF2-40B4-BE49-F238E27FC236}">
                  <a16:creationId xmlns:a16="http://schemas.microsoft.com/office/drawing/2014/main" id="{2EC6701F-D140-F84D-91B1-B284A56B76F1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292404"/>
              <a:ext cx="5503863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s-MX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Orden de importancia</a:t>
              </a:r>
            </a:p>
            <a:p>
              <a:pPr>
                <a:spcBef>
                  <a:spcPct val="0"/>
                </a:spcBef>
                <a:buNone/>
              </a:pPr>
              <a:r>
                <a:rPr lang="es-MX" altLang="es-MX" sz="27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RESEARCHLAND</a:t>
              </a:r>
            </a:p>
          </p:txBody>
        </p:sp>
        <p:pic>
          <p:nvPicPr>
            <p:cNvPr id="53" name="Imagen 3">
              <a:extLst>
                <a:ext uri="{FF2B5EF4-FFF2-40B4-BE49-F238E27FC236}">
                  <a16:creationId xmlns:a16="http://schemas.microsoft.com/office/drawing/2014/main" id="{D9205760-C009-15BF-BEE1-63516068027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5672" y="192568"/>
              <a:ext cx="833437" cy="769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58" name="Elipse 57">
            <a:extLst>
              <a:ext uri="{FF2B5EF4-FFF2-40B4-BE49-F238E27FC236}">
                <a16:creationId xmlns:a16="http://schemas.microsoft.com/office/drawing/2014/main" id="{91AFD9F3-7F30-2290-C8B0-F7423256D8CD}"/>
              </a:ext>
            </a:extLst>
          </p:cNvPr>
          <p:cNvSpPr/>
          <p:nvPr/>
        </p:nvSpPr>
        <p:spPr bwMode="auto">
          <a:xfrm>
            <a:off x="1156372" y="3505211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59" name="Elipse 58">
            <a:extLst>
              <a:ext uri="{FF2B5EF4-FFF2-40B4-BE49-F238E27FC236}">
                <a16:creationId xmlns:a16="http://schemas.microsoft.com/office/drawing/2014/main" id="{FABF5085-75D5-DB7E-1CF1-2B9B4C2307C3}"/>
              </a:ext>
            </a:extLst>
          </p:cNvPr>
          <p:cNvSpPr/>
          <p:nvPr/>
        </p:nvSpPr>
        <p:spPr bwMode="auto">
          <a:xfrm>
            <a:off x="1156372" y="3939330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63" name="Elipse 62">
            <a:extLst>
              <a:ext uri="{FF2B5EF4-FFF2-40B4-BE49-F238E27FC236}">
                <a16:creationId xmlns:a16="http://schemas.microsoft.com/office/drawing/2014/main" id="{236E43C2-3CA1-FDEC-5755-8F8F45062B23}"/>
              </a:ext>
            </a:extLst>
          </p:cNvPr>
          <p:cNvSpPr/>
          <p:nvPr/>
        </p:nvSpPr>
        <p:spPr bwMode="auto">
          <a:xfrm>
            <a:off x="1156372" y="4361939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64" name="Elipse 63">
            <a:extLst>
              <a:ext uri="{FF2B5EF4-FFF2-40B4-BE49-F238E27FC236}">
                <a16:creationId xmlns:a16="http://schemas.microsoft.com/office/drawing/2014/main" id="{70C544AD-9EC6-02C5-E37F-D59646B96F67}"/>
              </a:ext>
            </a:extLst>
          </p:cNvPr>
          <p:cNvSpPr/>
          <p:nvPr/>
        </p:nvSpPr>
        <p:spPr bwMode="auto">
          <a:xfrm>
            <a:off x="1156372" y="4796197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65" name="Elipse 64">
            <a:extLst>
              <a:ext uri="{FF2B5EF4-FFF2-40B4-BE49-F238E27FC236}">
                <a16:creationId xmlns:a16="http://schemas.microsoft.com/office/drawing/2014/main" id="{485621F2-E012-C6A9-CC1E-8F77BA3DD2F6}"/>
              </a:ext>
            </a:extLst>
          </p:cNvPr>
          <p:cNvSpPr/>
          <p:nvPr/>
        </p:nvSpPr>
        <p:spPr bwMode="auto">
          <a:xfrm>
            <a:off x="1156372" y="5231072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66" name="Elipse 65">
            <a:extLst>
              <a:ext uri="{FF2B5EF4-FFF2-40B4-BE49-F238E27FC236}">
                <a16:creationId xmlns:a16="http://schemas.microsoft.com/office/drawing/2014/main" id="{BFBFB2E7-D1C2-053C-927D-489EBDF89A92}"/>
              </a:ext>
            </a:extLst>
          </p:cNvPr>
          <p:cNvSpPr/>
          <p:nvPr/>
        </p:nvSpPr>
        <p:spPr bwMode="auto">
          <a:xfrm>
            <a:off x="1156372" y="5661388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7</a:t>
            </a:r>
          </a:p>
        </p:txBody>
      </p:sp>
      <p:sp>
        <p:nvSpPr>
          <p:cNvPr id="67" name="Elipse 66">
            <a:extLst>
              <a:ext uri="{FF2B5EF4-FFF2-40B4-BE49-F238E27FC236}">
                <a16:creationId xmlns:a16="http://schemas.microsoft.com/office/drawing/2014/main" id="{C81D2FB8-5380-216D-A798-7E273456D08D}"/>
              </a:ext>
            </a:extLst>
          </p:cNvPr>
          <p:cNvSpPr/>
          <p:nvPr/>
        </p:nvSpPr>
        <p:spPr bwMode="auto">
          <a:xfrm>
            <a:off x="1156372" y="6092711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8</a:t>
            </a:r>
          </a:p>
        </p:txBody>
      </p:sp>
      <p:sp>
        <p:nvSpPr>
          <p:cNvPr id="68" name="Elipse 67">
            <a:extLst>
              <a:ext uri="{FF2B5EF4-FFF2-40B4-BE49-F238E27FC236}">
                <a16:creationId xmlns:a16="http://schemas.microsoft.com/office/drawing/2014/main" id="{A08BB842-B5DA-1643-69E7-3D72CE9D8CC4}"/>
              </a:ext>
            </a:extLst>
          </p:cNvPr>
          <p:cNvSpPr/>
          <p:nvPr/>
        </p:nvSpPr>
        <p:spPr bwMode="auto">
          <a:xfrm>
            <a:off x="1156372" y="6518876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9</a:t>
            </a:r>
          </a:p>
        </p:txBody>
      </p:sp>
      <p:grpSp>
        <p:nvGrpSpPr>
          <p:cNvPr id="71" name="Grupo 70">
            <a:extLst>
              <a:ext uri="{FF2B5EF4-FFF2-40B4-BE49-F238E27FC236}">
                <a16:creationId xmlns:a16="http://schemas.microsoft.com/office/drawing/2014/main" id="{DBF14649-8840-B974-977C-2722E6901C8D}"/>
              </a:ext>
            </a:extLst>
          </p:cNvPr>
          <p:cNvGrpSpPr/>
          <p:nvPr/>
        </p:nvGrpSpPr>
        <p:grpSpPr>
          <a:xfrm>
            <a:off x="1084297" y="6963788"/>
            <a:ext cx="468000" cy="325438"/>
            <a:chOff x="1278735" y="7006654"/>
            <a:chExt cx="468000" cy="325438"/>
          </a:xfrm>
        </p:grpSpPr>
        <p:sp>
          <p:nvSpPr>
            <p:cNvPr id="69" name="Elipse 68">
              <a:extLst>
                <a:ext uri="{FF2B5EF4-FFF2-40B4-BE49-F238E27FC236}">
                  <a16:creationId xmlns:a16="http://schemas.microsoft.com/office/drawing/2014/main" id="{42776BDC-D9A9-3D31-565A-419A5740F5D4}"/>
                </a:ext>
              </a:extLst>
            </p:cNvPr>
            <p:cNvSpPr/>
            <p:nvPr/>
          </p:nvSpPr>
          <p:spPr bwMode="auto">
            <a:xfrm>
              <a:off x="1350810" y="7006654"/>
              <a:ext cx="323850" cy="325438"/>
            </a:xfrm>
            <a:prstGeom prst="ellipse">
              <a:avLst/>
            </a:prstGeom>
            <a:solidFill>
              <a:srgbClr val="2ED03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 sz="1400" b="1" dirty="0">
                <a:latin typeface="Montserrat" panose="00000500000000000000" pitchFamily="2" charset="0"/>
              </a:endParaRPr>
            </a:p>
          </p:txBody>
        </p:sp>
        <p:sp>
          <p:nvSpPr>
            <p:cNvPr id="70" name="CuadroTexto 69">
              <a:extLst>
                <a:ext uri="{FF2B5EF4-FFF2-40B4-BE49-F238E27FC236}">
                  <a16:creationId xmlns:a16="http://schemas.microsoft.com/office/drawing/2014/main" id="{73473EA2-62C6-1985-55D1-476B42CE4D96}"/>
                </a:ext>
              </a:extLst>
            </p:cNvPr>
            <p:cNvSpPr txBox="1"/>
            <p:nvPr/>
          </p:nvSpPr>
          <p:spPr>
            <a:xfrm>
              <a:off x="1278735" y="7015485"/>
              <a:ext cx="468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400" b="1" dirty="0">
                  <a:solidFill>
                    <a:schemeClr val="lt1"/>
                  </a:solidFill>
                  <a:latin typeface="Montserrat" panose="00000500000000000000" pitchFamily="2" charset="0"/>
                </a:rPr>
                <a:t>10</a:t>
              </a:r>
            </a:p>
          </p:txBody>
        </p:sp>
      </p:grpSp>
      <p:sp>
        <p:nvSpPr>
          <p:cNvPr id="72" name="CuadroTexto 28">
            <a:extLst>
              <a:ext uri="{FF2B5EF4-FFF2-40B4-BE49-F238E27FC236}">
                <a16:creationId xmlns:a16="http://schemas.microsoft.com/office/drawing/2014/main" id="{09B12B7D-1863-B1C1-2DDB-B670A13855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graphicFrame>
        <p:nvGraphicFramePr>
          <p:cNvPr id="5" name="Tabla_PRO_MENS_RL">
            <a:extLst>
              <a:ext uri="{FF2B5EF4-FFF2-40B4-BE49-F238E27FC236}">
                <a16:creationId xmlns:a16="http://schemas.microsoft.com/office/drawing/2014/main" id="{7BB5AEB5-D19C-0679-4158-57907B0FFF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560135"/>
              </p:ext>
            </p:extLst>
          </p:nvPr>
        </p:nvGraphicFramePr>
        <p:xfrm>
          <a:off x="1640898" y="2627029"/>
          <a:ext cx="11118417" cy="4713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008037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permite aprender y crecer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Estoy orgulloso de pertenecer al grupo /Es una buena empresa /recomendable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da estabilidad (laboral/económica)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Hay buen ambiente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está a la vanguardia / Cambios positivos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Organización Estructural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Buen salario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te brinda su apoyo en todo momento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Apoyo al personal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Líderes te apoyan/ Te escuchan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Liderazgo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Horario de trabajo extenso / no veo a mi familia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Condiciones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tiene buenas prestaciones y 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79703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45">
            <a:extLst>
              <a:ext uri="{FF2B5EF4-FFF2-40B4-BE49-F238E27FC236}">
                <a16:creationId xmlns:a16="http://schemas.microsoft.com/office/drawing/2014/main" id="{56ECFDD0-242C-EFE5-A769-1FF6EEB82783}"/>
              </a:ext>
            </a:extLst>
          </p:cNvPr>
          <p:cNvPicPr preferRelativeResize="0"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44" t="33391" r="35352" b="38200"/>
          <a:stretch>
            <a:fillRect/>
          </a:stretch>
        </p:blipFill>
        <p:spPr bwMode="auto">
          <a:xfrm>
            <a:off x="3466570" y="1547191"/>
            <a:ext cx="932400" cy="90805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Imagen 1" descr="Icono&#10;&#10;Descripción generada automáticamente">
            <a:hlinkClick r:id="rId3" action="ppaction://hlinksldjump"/>
            <a:extLst>
              <a:ext uri="{FF2B5EF4-FFF2-40B4-BE49-F238E27FC236}">
                <a16:creationId xmlns:a16="http://schemas.microsoft.com/office/drawing/2014/main" id="{F00B9DBA-44CC-23E4-BEBD-BBBE9CAD92C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76" t="35392" r="34713" b="32709"/>
          <a:stretch/>
        </p:blipFill>
        <p:spPr>
          <a:xfrm>
            <a:off x="443646" y="1219860"/>
            <a:ext cx="506341" cy="525928"/>
          </a:xfrm>
          <a:prstGeom prst="flowChartConnector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4BE8EDDF-BB50-9E6E-A937-A60BC41443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5866" y="369733"/>
            <a:ext cx="3234936" cy="468000"/>
          </a:xfrm>
          <a:prstGeom prst="rect">
            <a:avLst/>
          </a:prstGeom>
        </p:spPr>
      </p:pic>
      <p:grpSp>
        <p:nvGrpSpPr>
          <p:cNvPr id="44" name="Grupo 43">
            <a:extLst>
              <a:ext uri="{FF2B5EF4-FFF2-40B4-BE49-F238E27FC236}">
                <a16:creationId xmlns:a16="http://schemas.microsoft.com/office/drawing/2014/main" id="{5A06E4CD-0D1A-6EDA-B9EE-55C56D6BEF7B}"/>
              </a:ext>
            </a:extLst>
          </p:cNvPr>
          <p:cNvGrpSpPr/>
          <p:nvPr/>
        </p:nvGrpSpPr>
        <p:grpSpPr>
          <a:xfrm>
            <a:off x="543878" y="21121"/>
            <a:ext cx="9599114" cy="1258888"/>
            <a:chOff x="543878" y="21121"/>
            <a:chExt cx="9599114" cy="1258888"/>
          </a:xfrm>
        </p:grpSpPr>
        <p:pic>
          <p:nvPicPr>
            <p:cNvPr id="47" name="Imagen 29">
              <a:extLst>
                <a:ext uri="{FF2B5EF4-FFF2-40B4-BE49-F238E27FC236}">
                  <a16:creationId xmlns:a16="http://schemas.microsoft.com/office/drawing/2014/main" id="{97C6DF78-3CE5-EB9F-A36D-7E97C80BA6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9599114" cy="1258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" name="Título 2">
              <a:extLst>
                <a:ext uri="{FF2B5EF4-FFF2-40B4-BE49-F238E27FC236}">
                  <a16:creationId xmlns:a16="http://schemas.microsoft.com/office/drawing/2014/main" id="{177450C1-AC54-9BF7-D354-28CE2DBAE12B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292404"/>
              <a:ext cx="5503863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s-MX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Orden de importancia</a:t>
              </a:r>
            </a:p>
            <a:p>
              <a:pPr>
                <a:spcBef>
                  <a:spcPct val="0"/>
                </a:spcBef>
                <a:buNone/>
              </a:pPr>
              <a:r>
                <a:rPr lang="es-MX" altLang="es-MX" sz="27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RESEARCHLAND</a:t>
              </a:r>
            </a:p>
          </p:txBody>
        </p:sp>
        <p:pic>
          <p:nvPicPr>
            <p:cNvPr id="49" name="Imagen 3">
              <a:extLst>
                <a:ext uri="{FF2B5EF4-FFF2-40B4-BE49-F238E27FC236}">
                  <a16:creationId xmlns:a16="http://schemas.microsoft.com/office/drawing/2014/main" id="{206FC155-27F4-DC26-D085-666DE361D2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5672" y="192568"/>
              <a:ext cx="833437" cy="769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54" name="Grupo 53">
            <a:extLst>
              <a:ext uri="{FF2B5EF4-FFF2-40B4-BE49-F238E27FC236}">
                <a16:creationId xmlns:a16="http://schemas.microsoft.com/office/drawing/2014/main" id="{DAA263A0-E430-4A54-316A-27660626974E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55" name="Cinta curvada hacia arriba 3">
              <a:extLst>
                <a:ext uri="{FF2B5EF4-FFF2-40B4-BE49-F238E27FC236}">
                  <a16:creationId xmlns:a16="http://schemas.microsoft.com/office/drawing/2014/main" id="{D7A2ACC0-6F09-EEAD-B148-2979CCD23D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FEE912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56" name="CuadroTexto 5">
              <a:extLst>
                <a:ext uri="{FF2B5EF4-FFF2-40B4-BE49-F238E27FC236}">
                  <a16:creationId xmlns:a16="http://schemas.microsoft.com/office/drawing/2014/main" id="{EFA31385-54DE-46E9-D55D-4B89975EA42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Pasivos</a:t>
              </a:r>
            </a:p>
          </p:txBody>
        </p:sp>
      </p:grpSp>
      <p:sp>
        <p:nvSpPr>
          <p:cNvPr id="75" name="CuadroTexto 28">
            <a:extLst>
              <a:ext uri="{FF2B5EF4-FFF2-40B4-BE49-F238E27FC236}">
                <a16:creationId xmlns:a16="http://schemas.microsoft.com/office/drawing/2014/main" id="{C75AAD1E-7666-5735-D8AC-6CAEF8CBFC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9A06A097-DF6A-4871-71B0-F74D0801CF6B}"/>
              </a:ext>
            </a:extLst>
          </p:cNvPr>
          <p:cNvSpPr/>
          <p:nvPr/>
        </p:nvSpPr>
        <p:spPr bwMode="auto">
          <a:xfrm>
            <a:off x="1156372" y="3063166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1</a:t>
            </a:r>
            <a:endParaRPr lang="es-MX" sz="1600" b="1" dirty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</a:endParaRPr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1E9CD9CC-5AD8-E831-D4BA-7789FC58AD33}"/>
              </a:ext>
            </a:extLst>
          </p:cNvPr>
          <p:cNvSpPr/>
          <p:nvPr/>
        </p:nvSpPr>
        <p:spPr bwMode="auto">
          <a:xfrm>
            <a:off x="1156372" y="3505211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E168527A-E272-DBD5-F5A7-37025C8583EB}"/>
              </a:ext>
            </a:extLst>
          </p:cNvPr>
          <p:cNvSpPr/>
          <p:nvPr/>
        </p:nvSpPr>
        <p:spPr bwMode="auto">
          <a:xfrm>
            <a:off x="1156372" y="3939330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03C12CE3-F92D-2856-6278-513FB22EAE73}"/>
              </a:ext>
            </a:extLst>
          </p:cNvPr>
          <p:cNvSpPr/>
          <p:nvPr/>
        </p:nvSpPr>
        <p:spPr bwMode="auto">
          <a:xfrm>
            <a:off x="1156372" y="4361939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8C56478B-EE67-3503-061A-CC8BB143CCD0}"/>
              </a:ext>
            </a:extLst>
          </p:cNvPr>
          <p:cNvSpPr/>
          <p:nvPr/>
        </p:nvSpPr>
        <p:spPr bwMode="auto">
          <a:xfrm>
            <a:off x="1156372" y="4796197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A0B91443-B650-4CF0-1180-CC40294F6A19}"/>
              </a:ext>
            </a:extLst>
          </p:cNvPr>
          <p:cNvSpPr/>
          <p:nvPr/>
        </p:nvSpPr>
        <p:spPr bwMode="auto">
          <a:xfrm>
            <a:off x="1156372" y="5231072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AD879B03-367C-6488-73D9-FD7AA52A2FB8}"/>
              </a:ext>
            </a:extLst>
          </p:cNvPr>
          <p:cNvSpPr/>
          <p:nvPr/>
        </p:nvSpPr>
        <p:spPr bwMode="auto">
          <a:xfrm>
            <a:off x="1156372" y="5661388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7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20716B1D-9419-5E79-6A2A-43D0EDEC8E57}"/>
              </a:ext>
            </a:extLst>
          </p:cNvPr>
          <p:cNvSpPr/>
          <p:nvPr/>
        </p:nvSpPr>
        <p:spPr bwMode="auto">
          <a:xfrm>
            <a:off x="1156372" y="6092711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8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A778157D-0951-877C-EC2F-778C99E67160}"/>
              </a:ext>
            </a:extLst>
          </p:cNvPr>
          <p:cNvSpPr/>
          <p:nvPr/>
        </p:nvSpPr>
        <p:spPr bwMode="auto">
          <a:xfrm>
            <a:off x="1156372" y="6518876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9</a:t>
            </a:r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E10336B3-12B7-C4D4-A8D9-0A92A22CCD0D}"/>
              </a:ext>
            </a:extLst>
          </p:cNvPr>
          <p:cNvGrpSpPr/>
          <p:nvPr/>
        </p:nvGrpSpPr>
        <p:grpSpPr>
          <a:xfrm>
            <a:off x="1084297" y="6963788"/>
            <a:ext cx="468000" cy="325438"/>
            <a:chOff x="1084297" y="6963788"/>
            <a:chExt cx="468000" cy="325438"/>
          </a:xfrm>
        </p:grpSpPr>
        <p:sp>
          <p:nvSpPr>
            <p:cNvPr id="15" name="Elipse 14">
              <a:extLst>
                <a:ext uri="{FF2B5EF4-FFF2-40B4-BE49-F238E27FC236}">
                  <a16:creationId xmlns:a16="http://schemas.microsoft.com/office/drawing/2014/main" id="{151DE702-4CD6-5166-7234-8A2C4364B818}"/>
                </a:ext>
              </a:extLst>
            </p:cNvPr>
            <p:cNvSpPr/>
            <p:nvPr/>
          </p:nvSpPr>
          <p:spPr bwMode="auto">
            <a:xfrm>
              <a:off x="1156372" y="6963788"/>
              <a:ext cx="323850" cy="325438"/>
            </a:xfrm>
            <a:prstGeom prst="ellipse">
              <a:avLst/>
            </a:prstGeom>
            <a:solidFill>
              <a:srgbClr val="FEE91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 sz="1400" b="1" dirty="0">
                <a:latin typeface="Montserrat" panose="00000500000000000000" pitchFamily="2" charset="0"/>
              </a:endParaRPr>
            </a:p>
          </p:txBody>
        </p:sp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A827E9DB-8864-4568-AB61-BC7B984B2D04}"/>
                </a:ext>
              </a:extLst>
            </p:cNvPr>
            <p:cNvSpPr txBox="1"/>
            <p:nvPr/>
          </p:nvSpPr>
          <p:spPr>
            <a:xfrm>
              <a:off x="1084297" y="6972619"/>
              <a:ext cx="468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</a:rPr>
                <a:t>10</a:t>
              </a:r>
            </a:p>
          </p:txBody>
        </p:sp>
      </p:grpSp>
      <p:graphicFrame>
        <p:nvGraphicFramePr>
          <p:cNvPr id="61" name="Tabla_PAS_MENS_RL">
            <a:extLst>
              <a:ext uri="{FF2B5EF4-FFF2-40B4-BE49-F238E27FC236}">
                <a16:creationId xmlns:a16="http://schemas.microsoft.com/office/drawing/2014/main" id="{75FB35C7-D68D-8880-D1F9-2B676678FF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4337381"/>
              </p:ext>
            </p:extLst>
          </p:nvPr>
        </p:nvGraphicFramePr>
        <p:xfrm>
          <a:off x="1640898" y="2627029"/>
          <a:ext cx="11118417" cy="4713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FEE912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Inestabilidad laboral / amenazas de despido / alta rotación de personal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Buen salario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Estoy orgulloso de pertenecer al grupo /Es una buena empresa /recomendable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suficientes prestaciones/beneficios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Buena organización / definición de actividades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Organización Estructural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está a la vanguardia / Cambios positivos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Organización Estructural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da estabilidad (laboral/económica)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tiene buenas prestaciones y 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home office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Condiciones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Distribución injusta de cargas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Liderazgo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49439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1">
            <a:extLst>
              <a:ext uri="{FF2B5EF4-FFF2-40B4-BE49-F238E27FC236}">
                <a16:creationId xmlns:a16="http://schemas.microsoft.com/office/drawing/2014/main" id="{5E31C9E1-742C-E031-9ECD-147159899635}"/>
              </a:ext>
            </a:extLst>
          </p:cNvPr>
          <p:cNvPicPr preferRelativeResize="0"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3" t="33426" r="67165" b="38184"/>
          <a:stretch>
            <a:fillRect/>
          </a:stretch>
        </p:blipFill>
        <p:spPr bwMode="auto">
          <a:xfrm>
            <a:off x="3466570" y="1547191"/>
            <a:ext cx="932400" cy="90805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7" name="Imagen 46" descr="Icono&#10;&#10;Descripción generada automáticamente">
            <a:hlinkClick r:id="rId3" action="ppaction://hlinksldjump"/>
            <a:extLst>
              <a:ext uri="{FF2B5EF4-FFF2-40B4-BE49-F238E27FC236}">
                <a16:creationId xmlns:a16="http://schemas.microsoft.com/office/drawing/2014/main" id="{49E5A5A1-8BF5-E05D-9309-F00AD8F8ACB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76" t="35392" r="34713" b="32709"/>
          <a:stretch/>
        </p:blipFill>
        <p:spPr>
          <a:xfrm>
            <a:off x="443646" y="1219860"/>
            <a:ext cx="506341" cy="525928"/>
          </a:xfrm>
          <a:prstGeom prst="flowChartConnector">
            <a:avLst/>
          </a:prstGeom>
        </p:spPr>
      </p:pic>
      <p:pic>
        <p:nvPicPr>
          <p:cNvPr id="48" name="Imagen 47">
            <a:extLst>
              <a:ext uri="{FF2B5EF4-FFF2-40B4-BE49-F238E27FC236}">
                <a16:creationId xmlns:a16="http://schemas.microsoft.com/office/drawing/2014/main" id="{1528563D-A10E-93CB-26B1-7C6D656067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5866" y="369733"/>
            <a:ext cx="3234936" cy="468000"/>
          </a:xfrm>
          <a:prstGeom prst="rect">
            <a:avLst/>
          </a:prstGeom>
        </p:spPr>
      </p:pic>
      <p:grpSp>
        <p:nvGrpSpPr>
          <p:cNvPr id="49" name="Grupo 48">
            <a:extLst>
              <a:ext uri="{FF2B5EF4-FFF2-40B4-BE49-F238E27FC236}">
                <a16:creationId xmlns:a16="http://schemas.microsoft.com/office/drawing/2014/main" id="{124AA0F4-CCC3-476F-07F0-FCC6FD746FD5}"/>
              </a:ext>
            </a:extLst>
          </p:cNvPr>
          <p:cNvGrpSpPr/>
          <p:nvPr/>
        </p:nvGrpSpPr>
        <p:grpSpPr>
          <a:xfrm>
            <a:off x="543878" y="21121"/>
            <a:ext cx="9599114" cy="1258888"/>
            <a:chOff x="543878" y="21121"/>
            <a:chExt cx="9599114" cy="1258888"/>
          </a:xfrm>
        </p:grpSpPr>
        <p:pic>
          <p:nvPicPr>
            <p:cNvPr id="50" name="Imagen 29">
              <a:extLst>
                <a:ext uri="{FF2B5EF4-FFF2-40B4-BE49-F238E27FC236}">
                  <a16:creationId xmlns:a16="http://schemas.microsoft.com/office/drawing/2014/main" id="{070B4CBB-65E8-9645-4CF5-F68F5BB0ED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9599114" cy="1258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1" name="Título 2">
              <a:extLst>
                <a:ext uri="{FF2B5EF4-FFF2-40B4-BE49-F238E27FC236}">
                  <a16:creationId xmlns:a16="http://schemas.microsoft.com/office/drawing/2014/main" id="{E3B1E251-C6F4-D51E-E277-7CA50CA1314A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292404"/>
              <a:ext cx="5503863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s-MX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Orden de importancia</a:t>
              </a:r>
            </a:p>
            <a:p>
              <a:pPr>
                <a:spcBef>
                  <a:spcPct val="0"/>
                </a:spcBef>
                <a:buNone/>
              </a:pPr>
              <a:r>
                <a:rPr lang="es-MX" altLang="es-MX" sz="27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RESEARCHLAND</a:t>
              </a:r>
            </a:p>
          </p:txBody>
        </p:sp>
        <p:pic>
          <p:nvPicPr>
            <p:cNvPr id="52" name="Imagen 3">
              <a:extLst>
                <a:ext uri="{FF2B5EF4-FFF2-40B4-BE49-F238E27FC236}">
                  <a16:creationId xmlns:a16="http://schemas.microsoft.com/office/drawing/2014/main" id="{0A57BAEE-8A30-97D9-3A3D-1B9BB0FB59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5672" y="192568"/>
              <a:ext cx="833437" cy="769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53" name="Grupo 52">
            <a:extLst>
              <a:ext uri="{FF2B5EF4-FFF2-40B4-BE49-F238E27FC236}">
                <a16:creationId xmlns:a16="http://schemas.microsoft.com/office/drawing/2014/main" id="{B6C7646F-3FA9-2A97-EC8B-E971BA42174E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54" name="Cinta curvada hacia arriba 3">
              <a:extLst>
                <a:ext uri="{FF2B5EF4-FFF2-40B4-BE49-F238E27FC236}">
                  <a16:creationId xmlns:a16="http://schemas.microsoft.com/office/drawing/2014/main" id="{1E099D32-48BC-F84F-EE5B-92594403659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FD4F58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55" name="CuadroTexto 5">
              <a:extLst>
                <a:ext uri="{FF2B5EF4-FFF2-40B4-BE49-F238E27FC236}">
                  <a16:creationId xmlns:a16="http://schemas.microsoft.com/office/drawing/2014/main" id="{CAD02BF1-C652-C651-6812-4614D07452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Detractores</a:t>
              </a:r>
            </a:p>
          </p:txBody>
        </p:sp>
      </p:grpSp>
      <p:sp>
        <p:nvSpPr>
          <p:cNvPr id="70" name="CuadroTexto 28">
            <a:extLst>
              <a:ext uri="{FF2B5EF4-FFF2-40B4-BE49-F238E27FC236}">
                <a16:creationId xmlns:a16="http://schemas.microsoft.com/office/drawing/2014/main" id="{F348EE44-AB24-2E36-0687-CF52C3E98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sp>
        <p:nvSpPr>
          <p:cNvPr id="2" name="Elipse 1">
            <a:extLst>
              <a:ext uri="{FF2B5EF4-FFF2-40B4-BE49-F238E27FC236}">
                <a16:creationId xmlns:a16="http://schemas.microsoft.com/office/drawing/2014/main" id="{F3DF71DF-322F-D470-D75F-74A880EF9632}"/>
              </a:ext>
            </a:extLst>
          </p:cNvPr>
          <p:cNvSpPr/>
          <p:nvPr/>
        </p:nvSpPr>
        <p:spPr bwMode="auto">
          <a:xfrm>
            <a:off x="1156372" y="3063166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1</a:t>
            </a:r>
            <a:endParaRPr lang="es-MX" sz="16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2275D451-7D6A-3F8E-B329-3E410670B255}"/>
              </a:ext>
            </a:extLst>
          </p:cNvPr>
          <p:cNvSpPr/>
          <p:nvPr/>
        </p:nvSpPr>
        <p:spPr bwMode="auto">
          <a:xfrm>
            <a:off x="1156372" y="3505211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3F3BF26B-719E-E63B-E7B3-5651F7159299}"/>
              </a:ext>
            </a:extLst>
          </p:cNvPr>
          <p:cNvSpPr/>
          <p:nvPr/>
        </p:nvSpPr>
        <p:spPr bwMode="auto">
          <a:xfrm>
            <a:off x="1156372" y="3939330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9A1E0C68-C335-0270-8480-00C43732CAE2}"/>
              </a:ext>
            </a:extLst>
          </p:cNvPr>
          <p:cNvSpPr/>
          <p:nvPr/>
        </p:nvSpPr>
        <p:spPr bwMode="auto">
          <a:xfrm>
            <a:off x="1156372" y="4361939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44C60419-A66E-147A-91FF-919F029AF5F9}"/>
              </a:ext>
            </a:extLst>
          </p:cNvPr>
          <p:cNvSpPr/>
          <p:nvPr/>
        </p:nvSpPr>
        <p:spPr bwMode="auto">
          <a:xfrm>
            <a:off x="1156372" y="4796197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EA871080-2C8E-47FF-AF5F-BFA688ECA03D}"/>
              </a:ext>
            </a:extLst>
          </p:cNvPr>
          <p:cNvSpPr/>
          <p:nvPr/>
        </p:nvSpPr>
        <p:spPr bwMode="auto">
          <a:xfrm>
            <a:off x="1156372" y="5231072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4FB4D31C-FB65-4CDF-B943-B5AE087EDB50}"/>
              </a:ext>
            </a:extLst>
          </p:cNvPr>
          <p:cNvSpPr/>
          <p:nvPr/>
        </p:nvSpPr>
        <p:spPr bwMode="auto">
          <a:xfrm>
            <a:off x="1156372" y="5661388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7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2919E8C5-6366-2099-E754-FCC287AA48D1}"/>
              </a:ext>
            </a:extLst>
          </p:cNvPr>
          <p:cNvSpPr/>
          <p:nvPr/>
        </p:nvSpPr>
        <p:spPr bwMode="auto">
          <a:xfrm>
            <a:off x="1156372" y="6092711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8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7CC14494-A8E3-B22D-F311-EE0254BBA03E}"/>
              </a:ext>
            </a:extLst>
          </p:cNvPr>
          <p:cNvSpPr/>
          <p:nvPr/>
        </p:nvSpPr>
        <p:spPr bwMode="auto">
          <a:xfrm>
            <a:off x="1156372" y="6518876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9</a:t>
            </a:r>
          </a:p>
        </p:txBody>
      </p:sp>
      <p:graphicFrame>
        <p:nvGraphicFramePr>
          <p:cNvPr id="57" name="Tabla_DET_MENS_RL">
            <a:extLst>
              <a:ext uri="{FF2B5EF4-FFF2-40B4-BE49-F238E27FC236}">
                <a16:creationId xmlns:a16="http://schemas.microsoft.com/office/drawing/2014/main" id="{EF30C7AE-AA3A-22A3-3E5F-33E9176E8C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7315748"/>
              </p:ext>
            </p:extLst>
          </p:nvPr>
        </p:nvGraphicFramePr>
        <p:xfrm>
          <a:off x="1640898" y="2627029"/>
          <a:ext cx="11118417" cy="4713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FD4F58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El sueldo es poco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Estoy orgulloso de pertenecer al grupo /Es una buena empresa /recomendable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Inestabilidad laboral / amenazas de despido / alta rotación de personal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no da utilidades / pocas utilidades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cumplen lo que promete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Políticas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home office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Condiciones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oportunidades de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suficientes prestaciones/beneficios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se preocupan por sus colaboradores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Apoyo al personal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endParaRPr lang="es-MX" sz="1400" b="1" i="0" u="none" strike="noStrike" kern="1200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MX" sz="1400" b="1" i="0" u="none" strike="noStrike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4811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70044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46A8F6D7-062C-C740-B506-550D5798212F}" vid="{0E6D6A99-6957-7549-A8BF-442E27D975B0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4456</TotalTime>
  <Words>944</Words>
  <Application>Microsoft Office PowerPoint</Application>
  <PresentationFormat>Personalizado</PresentationFormat>
  <Paragraphs>377</Paragraphs>
  <Slides>9</Slides>
  <Notes>0</Notes>
  <HiddenSlides>0</HiddenSlides>
  <MMClips>0</MMClips>
  <ScaleCrop>false</ScaleCrop>
  <HeadingPairs>
    <vt:vector size="8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0</vt:i4>
      </vt:variant>
      <vt:variant>
        <vt:lpstr>Títulos de diapositiva</vt:lpstr>
      </vt:variant>
      <vt:variant>
        <vt:i4>9</vt:i4>
      </vt:variant>
    </vt:vector>
  </HeadingPairs>
  <TitlesOfParts>
    <vt:vector size="15" baseType="lpstr">
      <vt:lpstr>Arial</vt:lpstr>
      <vt:lpstr>Calibri</vt:lpstr>
      <vt:lpstr>Kanit</vt:lpstr>
      <vt:lpstr>Montserrat</vt:lpstr>
      <vt:lpstr>Montserrat Black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EKT_BAZ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nsanchezgo</dc:creator>
  <cp:lastModifiedBy>Jesus Noel De Jesus Guerrero</cp:lastModifiedBy>
  <cp:revision>318</cp:revision>
  <dcterms:created xsi:type="dcterms:W3CDTF">2022-08-08T19:17:56Z</dcterms:created>
  <dcterms:modified xsi:type="dcterms:W3CDTF">2026-07-31T19:15:54Z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e3a633-3d5f-462b-ba19-31157bb9a57b_Enabled">
    <vt:lpwstr>true</vt:lpwstr>
  </property>
  <property fmtid="{D5CDD505-2E9C-101B-9397-08002B2CF9AE}" pid="3" name="MSIP_Label_8ae3a633-3d5f-462b-ba19-31157bb9a57b_SetDate">
    <vt:lpwstr>2023-05-02T23:57:49Z</vt:lpwstr>
  </property>
  <property fmtid="{D5CDD505-2E9C-101B-9397-08002B2CF9AE}" pid="4" name="MSIP_Label_8ae3a633-3d5f-462b-ba19-31157bb9a57b_Method">
    <vt:lpwstr>Standard</vt:lpwstr>
  </property>
  <property fmtid="{D5CDD505-2E9C-101B-9397-08002B2CF9AE}" pid="5" name="MSIP_Label_8ae3a633-3d5f-462b-ba19-31157bb9a57b_Name">
    <vt:lpwstr>Uso interno</vt:lpwstr>
  </property>
  <property fmtid="{D5CDD505-2E9C-101B-9397-08002B2CF9AE}" pid="6" name="MSIP_Label_8ae3a633-3d5f-462b-ba19-31157bb9a57b_SiteId">
    <vt:lpwstr>5448d52d-fbb8-4285-8d6f-aa67453bc50c</vt:lpwstr>
  </property>
  <property fmtid="{D5CDD505-2E9C-101B-9397-08002B2CF9AE}" pid="7" name="MSIP_Label_8ae3a633-3d5f-462b-ba19-31157bb9a57b_ActionId">
    <vt:lpwstr>a7b805a7-66c3-4c85-a875-bbad85febbac</vt:lpwstr>
  </property>
  <property fmtid="{D5CDD505-2E9C-101B-9397-08002B2CF9AE}" pid="8" name="MSIP_Label_8ae3a633-3d5f-462b-ba19-31157bb9a57b_ContentBits">
    <vt:lpwstr>0</vt:lpwstr>
  </property>
</Properties>
</file>